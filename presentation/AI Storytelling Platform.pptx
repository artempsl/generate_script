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微软雅黑" panose="020B0503020204020204" pitchFamily="34" charset="-122"/>
      <p:regular r:id="rId11"/>
      <p:bold r:id="rId12"/>
    </p:embeddedFont>
    <p:embeddedFont>
      <p:font typeface="Liter" panose="020B0604020202020204" charset="0"/>
      <p:regular r:id="rId13"/>
    </p:embeddedFont>
    <p:embeddedFont>
      <p:font typeface="Quattrocento Sans" panose="020B0502050000020003" pitchFamily="34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538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fea93430d0438a95dc4b0023de4edb882d38b49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784" b="778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1"/>
          <p:cNvSpPr/>
          <p:nvPr/>
        </p:nvSpPr>
        <p:spPr>
          <a:xfrm>
            <a:off x="384810" y="1052036"/>
            <a:ext cx="2741295" cy="388620"/>
          </a:xfrm>
          <a:custGeom>
            <a:avLst/>
            <a:gdLst/>
            <a:ahLst/>
            <a:cxnLst/>
            <a:rect l="l" t="t" r="r" b="b"/>
            <a:pathLst>
              <a:path w="2741295" h="388620">
                <a:moveTo>
                  <a:pt x="194310" y="0"/>
                </a:moveTo>
                <a:lnTo>
                  <a:pt x="2546985" y="0"/>
                </a:lnTo>
                <a:cubicBezTo>
                  <a:pt x="2654299" y="0"/>
                  <a:pt x="2741295" y="86996"/>
                  <a:pt x="2741295" y="194310"/>
                </a:cubicBezTo>
                <a:lnTo>
                  <a:pt x="2741295" y="194310"/>
                </a:lnTo>
                <a:cubicBezTo>
                  <a:pt x="2741295" y="301624"/>
                  <a:pt x="2654299" y="388620"/>
                  <a:pt x="254698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 w="10160">
            <a:solidFill>
              <a:srgbClr val="2563E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541020" y="1177766"/>
            <a:ext cx="2496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2563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B2C SaaS — AI Video Creation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73066"/>
            <a:ext cx="509587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Storytelling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2563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616166"/>
            <a:ext cx="48958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Solving the #1 AI Video Pain Point: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 Consistency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4813" y="489727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671513" y="4849654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POC Complete (April 1, 2026)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078480" y="489727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3345180" y="4849654"/>
            <a:ext cx="1876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Launch (May 2026)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57873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4748B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381000" y="6019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502444" y="61531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23812"/>
                </a:moveTo>
                <a:cubicBezTo>
                  <a:pt x="22585" y="23812"/>
                  <a:pt x="11906" y="34491"/>
                  <a:pt x="11906" y="47625"/>
                </a:cubicBezTo>
                <a:lnTo>
                  <a:pt x="11906" y="142875"/>
                </a:lnTo>
                <a:cubicBezTo>
                  <a:pt x="11906" y="156009"/>
                  <a:pt x="22585" y="166688"/>
                  <a:pt x="35719" y="166688"/>
                </a:cubicBezTo>
                <a:lnTo>
                  <a:pt x="130969" y="166688"/>
                </a:lnTo>
                <a:cubicBezTo>
                  <a:pt x="144103" y="166688"/>
                  <a:pt x="154781" y="156009"/>
                  <a:pt x="154781" y="142875"/>
                </a:cubicBezTo>
                <a:lnTo>
                  <a:pt x="154781" y="47625"/>
                </a:lnTo>
                <a:cubicBezTo>
                  <a:pt x="154781" y="34491"/>
                  <a:pt x="144103" y="23812"/>
                  <a:pt x="130969" y="23812"/>
                </a:cubicBezTo>
                <a:lnTo>
                  <a:pt x="35719" y="23812"/>
                </a:lnTo>
                <a:close/>
                <a:moveTo>
                  <a:pt x="172641" y="125016"/>
                </a:moveTo>
                <a:lnTo>
                  <a:pt x="199988" y="146893"/>
                </a:lnTo>
                <a:cubicBezTo>
                  <a:pt x="201550" y="148158"/>
                  <a:pt x="203485" y="148828"/>
                  <a:pt x="205494" y="148828"/>
                </a:cubicBezTo>
                <a:cubicBezTo>
                  <a:pt x="210369" y="148828"/>
                  <a:pt x="214313" y="144884"/>
                  <a:pt x="214313" y="140010"/>
                </a:cubicBezTo>
                <a:lnTo>
                  <a:pt x="214313" y="50490"/>
                </a:lnTo>
                <a:cubicBezTo>
                  <a:pt x="214313" y="45616"/>
                  <a:pt x="210369" y="41672"/>
                  <a:pt x="205494" y="41672"/>
                </a:cubicBezTo>
                <a:cubicBezTo>
                  <a:pt x="203485" y="41672"/>
                  <a:pt x="201550" y="42342"/>
                  <a:pt x="199988" y="43607"/>
                </a:cubicBezTo>
                <a:lnTo>
                  <a:pt x="172641" y="65484"/>
                </a:lnTo>
                <a:lnTo>
                  <a:pt x="172641" y="12501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990600" y="6019800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EdTech + Creator Economy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90600" y="6286500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Content Creation SaaS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143933" y="615315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Crisis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$3,000 Character Consistency Crisis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33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interlocking failures destroying user trust and wasting millions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8620" y="1836420"/>
            <a:ext cx="3663315" cy="3720465"/>
          </a:xfrm>
          <a:custGeom>
            <a:avLst/>
            <a:gdLst/>
            <a:ahLst/>
            <a:cxnLst/>
            <a:rect l="l" t="t" r="r" b="b"/>
            <a:pathLst>
              <a:path w="3663315" h="3720465">
                <a:moveTo>
                  <a:pt x="152394" y="0"/>
                </a:moveTo>
                <a:lnTo>
                  <a:pt x="3510921" y="0"/>
                </a:lnTo>
                <a:cubicBezTo>
                  <a:pt x="3595086" y="0"/>
                  <a:pt x="3663315" y="68229"/>
                  <a:pt x="3663315" y="152394"/>
                </a:cubicBezTo>
                <a:lnTo>
                  <a:pt x="3663315" y="3568071"/>
                </a:lnTo>
                <a:cubicBezTo>
                  <a:pt x="3663315" y="3652236"/>
                  <a:pt x="3595086" y="3720465"/>
                  <a:pt x="3510921" y="3720465"/>
                </a:cubicBezTo>
                <a:lnTo>
                  <a:pt x="152394" y="3720465"/>
                </a:lnTo>
                <a:cubicBezTo>
                  <a:pt x="68229" y="3720465"/>
                  <a:pt x="0" y="3652236"/>
                  <a:pt x="0" y="356807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EF4444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032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86740" y="203454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710565" y="218694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900" y="57150"/>
                </a:moveTo>
                <a:cubicBezTo>
                  <a:pt x="60900" y="38008"/>
                  <a:pt x="71112" y="20321"/>
                  <a:pt x="87690" y="10750"/>
                </a:cubicBezTo>
                <a:cubicBezTo>
                  <a:pt x="104267" y="1179"/>
                  <a:pt x="124691" y="1179"/>
                  <a:pt x="141268" y="10750"/>
                </a:cubicBezTo>
                <a:cubicBezTo>
                  <a:pt x="157845" y="20321"/>
                  <a:pt x="168057" y="38008"/>
                  <a:pt x="168057" y="57150"/>
                </a:cubicBezTo>
                <a:cubicBezTo>
                  <a:pt x="168057" y="86721"/>
                  <a:pt x="144049" y="110728"/>
                  <a:pt x="114479" y="110728"/>
                </a:cubicBezTo>
                <a:cubicBezTo>
                  <a:pt x="84908" y="110728"/>
                  <a:pt x="60900" y="86721"/>
                  <a:pt x="60900" y="57150"/>
                </a:cubicBezTo>
                <a:close/>
                <a:moveTo>
                  <a:pt x="21610" y="215339"/>
                </a:moveTo>
                <a:cubicBezTo>
                  <a:pt x="21610" y="171361"/>
                  <a:pt x="57239" y="135731"/>
                  <a:pt x="101218" y="135731"/>
                </a:cubicBezTo>
                <a:lnTo>
                  <a:pt x="127739" y="135731"/>
                </a:lnTo>
                <a:cubicBezTo>
                  <a:pt x="171718" y="135731"/>
                  <a:pt x="207347" y="171361"/>
                  <a:pt x="207347" y="215339"/>
                </a:cubicBezTo>
                <a:cubicBezTo>
                  <a:pt x="207347" y="222662"/>
                  <a:pt x="201409" y="228600"/>
                  <a:pt x="194087" y="228600"/>
                </a:cubicBezTo>
                <a:lnTo>
                  <a:pt x="34870" y="228600"/>
                </a:lnTo>
                <a:cubicBezTo>
                  <a:pt x="27548" y="228600"/>
                  <a:pt x="21610" y="222662"/>
                  <a:pt x="21610" y="215339"/>
                </a:cubicBezTo>
                <a:close/>
                <a:moveTo>
                  <a:pt x="273382" y="55409"/>
                </a:moveTo>
                <a:cubicBezTo>
                  <a:pt x="277579" y="59606"/>
                  <a:pt x="277579" y="66392"/>
                  <a:pt x="273382" y="70545"/>
                </a:cubicBezTo>
                <a:lnTo>
                  <a:pt x="258247" y="85680"/>
                </a:lnTo>
                <a:lnTo>
                  <a:pt x="273382" y="100816"/>
                </a:lnTo>
                <a:cubicBezTo>
                  <a:pt x="277579" y="105013"/>
                  <a:pt x="277579" y="111800"/>
                  <a:pt x="273382" y="115952"/>
                </a:cubicBezTo>
                <a:cubicBezTo>
                  <a:pt x="269185" y="120104"/>
                  <a:pt x="262399" y="120149"/>
                  <a:pt x="258247" y="115952"/>
                </a:cubicBezTo>
                <a:lnTo>
                  <a:pt x="243111" y="100816"/>
                </a:lnTo>
                <a:lnTo>
                  <a:pt x="227975" y="115952"/>
                </a:lnTo>
                <a:cubicBezTo>
                  <a:pt x="223778" y="120149"/>
                  <a:pt x="216991" y="120149"/>
                  <a:pt x="212839" y="115952"/>
                </a:cubicBezTo>
                <a:cubicBezTo>
                  <a:pt x="208687" y="111755"/>
                  <a:pt x="208642" y="104968"/>
                  <a:pt x="212839" y="100816"/>
                </a:cubicBezTo>
                <a:lnTo>
                  <a:pt x="227975" y="85680"/>
                </a:lnTo>
                <a:lnTo>
                  <a:pt x="212839" y="70545"/>
                </a:lnTo>
                <a:cubicBezTo>
                  <a:pt x="208642" y="66348"/>
                  <a:pt x="208642" y="59561"/>
                  <a:pt x="212839" y="55409"/>
                </a:cubicBezTo>
                <a:cubicBezTo>
                  <a:pt x="217036" y="51256"/>
                  <a:pt x="223823" y="51212"/>
                  <a:pt x="227975" y="55409"/>
                </a:cubicBezTo>
                <a:lnTo>
                  <a:pt x="243111" y="70545"/>
                </a:lnTo>
                <a:lnTo>
                  <a:pt x="258247" y="55409"/>
                </a:lnTo>
                <a:cubicBezTo>
                  <a:pt x="262444" y="51212"/>
                  <a:pt x="269230" y="51212"/>
                  <a:pt x="273382" y="554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1234440" y="2034540"/>
            <a:ext cx="115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TRIAD-1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33934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 Drift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550" y="2724150"/>
            <a:ext cx="3265170" cy="807720"/>
          </a:xfrm>
          <a:custGeom>
            <a:avLst/>
            <a:gdLst/>
            <a:ahLst/>
            <a:cxnLst/>
            <a:rect l="l" t="t" r="r" b="b"/>
            <a:pathLst>
              <a:path w="3265170" h="807720">
                <a:moveTo>
                  <a:pt x="114300" y="0"/>
                </a:moveTo>
                <a:lnTo>
                  <a:pt x="3150870" y="0"/>
                </a:lnTo>
                <a:cubicBezTo>
                  <a:pt x="3213996" y="0"/>
                  <a:pt x="3265170" y="51174"/>
                  <a:pt x="3265170" y="114300"/>
                </a:cubicBezTo>
                <a:lnTo>
                  <a:pt x="3265170" y="693420"/>
                </a:lnTo>
                <a:cubicBezTo>
                  <a:pt x="3265170" y="756546"/>
                  <a:pt x="3213996" y="807720"/>
                  <a:pt x="3150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46760" y="288036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≤2 Scenes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6760" y="3185160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Characters change appearance after just 2 scenes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0550" y="3653790"/>
            <a:ext cx="3265170" cy="807720"/>
          </a:xfrm>
          <a:custGeom>
            <a:avLst/>
            <a:gdLst/>
            <a:ahLst/>
            <a:cxnLst/>
            <a:rect l="l" t="t" r="r" b="b"/>
            <a:pathLst>
              <a:path w="3265170" h="807720">
                <a:moveTo>
                  <a:pt x="114300" y="0"/>
                </a:moveTo>
                <a:lnTo>
                  <a:pt x="3150870" y="0"/>
                </a:lnTo>
                <a:cubicBezTo>
                  <a:pt x="3213996" y="0"/>
                  <a:pt x="3265170" y="51174"/>
                  <a:pt x="3265170" y="114300"/>
                </a:cubicBezTo>
                <a:lnTo>
                  <a:pt x="3265170" y="693420"/>
                </a:lnTo>
                <a:cubicBezTo>
                  <a:pt x="3265170" y="756546"/>
                  <a:pt x="3213996" y="807720"/>
                  <a:pt x="3150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746760" y="381000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Sources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6760" y="4114800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Documented evidence across industry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6740" y="4819650"/>
            <a:ext cx="3267075" cy="7620"/>
          </a:xfrm>
          <a:custGeom>
            <a:avLst/>
            <a:gdLst/>
            <a:ahLst/>
            <a:cxnLst/>
            <a:rect l="l" t="t" r="r" b="b"/>
            <a:pathLst>
              <a:path w="3267075" h="7620">
                <a:moveTo>
                  <a:pt x="0" y="0"/>
                </a:moveTo>
                <a:lnTo>
                  <a:pt x="3267075" y="0"/>
                </a:lnTo>
                <a:lnTo>
                  <a:pt x="3267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86740" y="4975860"/>
            <a:ext cx="333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"We understand the frustration" — Midjourney, Feb 18, 2026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62120" y="1836420"/>
            <a:ext cx="3663315" cy="3720465"/>
          </a:xfrm>
          <a:custGeom>
            <a:avLst/>
            <a:gdLst/>
            <a:ahLst/>
            <a:cxnLst/>
            <a:rect l="l" t="t" r="r" b="b"/>
            <a:pathLst>
              <a:path w="3663315" h="3720465">
                <a:moveTo>
                  <a:pt x="152394" y="0"/>
                </a:moveTo>
                <a:lnTo>
                  <a:pt x="3510921" y="0"/>
                </a:lnTo>
                <a:cubicBezTo>
                  <a:pt x="3595086" y="0"/>
                  <a:pt x="3663315" y="68229"/>
                  <a:pt x="3663315" y="152394"/>
                </a:cubicBezTo>
                <a:lnTo>
                  <a:pt x="3663315" y="3568071"/>
                </a:lnTo>
                <a:cubicBezTo>
                  <a:pt x="3663315" y="3652236"/>
                  <a:pt x="3595086" y="3720465"/>
                  <a:pt x="3510921" y="3720465"/>
                </a:cubicBezTo>
                <a:lnTo>
                  <a:pt x="152394" y="3720465"/>
                </a:lnTo>
                <a:cubicBezTo>
                  <a:pt x="68229" y="3720465"/>
                  <a:pt x="0" y="3652236"/>
                  <a:pt x="0" y="356807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032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460240" y="203454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4655502" y="218694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107940" y="2034540"/>
            <a:ext cx="1209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TRIAD-2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07940" y="233934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 For Failures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64050" y="2724150"/>
            <a:ext cx="3265170" cy="807720"/>
          </a:xfrm>
          <a:custGeom>
            <a:avLst/>
            <a:gdLst/>
            <a:ahLst/>
            <a:cxnLst/>
            <a:rect l="l" t="t" r="r" b="b"/>
            <a:pathLst>
              <a:path w="3265170" h="807720">
                <a:moveTo>
                  <a:pt x="114300" y="0"/>
                </a:moveTo>
                <a:lnTo>
                  <a:pt x="3150870" y="0"/>
                </a:lnTo>
                <a:cubicBezTo>
                  <a:pt x="3213996" y="0"/>
                  <a:pt x="3265170" y="51174"/>
                  <a:pt x="3265170" y="114300"/>
                </a:cubicBezTo>
                <a:lnTo>
                  <a:pt x="3265170" y="693420"/>
                </a:lnTo>
                <a:cubicBezTo>
                  <a:pt x="3265170" y="756546"/>
                  <a:pt x="3213996" y="807720"/>
                  <a:pt x="3150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4620260" y="288036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$3,000 Average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20260" y="3185160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Wasted testing tools with zero results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64050" y="3653790"/>
            <a:ext cx="3265170" cy="807720"/>
          </a:xfrm>
          <a:custGeom>
            <a:avLst/>
            <a:gdLst/>
            <a:ahLst/>
            <a:cxnLst/>
            <a:rect l="l" t="t" r="r" b="b"/>
            <a:pathLst>
              <a:path w="3265170" h="807720">
                <a:moveTo>
                  <a:pt x="114300" y="0"/>
                </a:moveTo>
                <a:lnTo>
                  <a:pt x="3150870" y="0"/>
                </a:lnTo>
                <a:cubicBezTo>
                  <a:pt x="3213996" y="0"/>
                  <a:pt x="3265170" y="51174"/>
                  <a:pt x="3265170" y="114300"/>
                </a:cubicBezTo>
                <a:lnTo>
                  <a:pt x="3265170" y="693420"/>
                </a:lnTo>
                <a:cubicBezTo>
                  <a:pt x="3265170" y="756546"/>
                  <a:pt x="3213996" y="807720"/>
                  <a:pt x="3150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4620260" y="381000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$1,400 Burned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20260" y="4114800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tool (Arcads) — no usable output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60240" y="5010150"/>
            <a:ext cx="3267075" cy="7620"/>
          </a:xfrm>
          <a:custGeom>
            <a:avLst/>
            <a:gdLst/>
            <a:ahLst/>
            <a:cxnLst/>
            <a:rect l="l" t="t" r="r" b="b"/>
            <a:pathLst>
              <a:path w="3267075" h="7620">
                <a:moveTo>
                  <a:pt x="0" y="0"/>
                </a:moveTo>
                <a:lnTo>
                  <a:pt x="3267075" y="0"/>
                </a:lnTo>
                <a:lnTo>
                  <a:pt x="3267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460240" y="5166360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charged per attempt, not per usable output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35620" y="1836420"/>
            <a:ext cx="3663315" cy="3720465"/>
          </a:xfrm>
          <a:custGeom>
            <a:avLst/>
            <a:gdLst/>
            <a:ahLst/>
            <a:cxnLst/>
            <a:rect l="l" t="t" r="r" b="b"/>
            <a:pathLst>
              <a:path w="3663315" h="3720465">
                <a:moveTo>
                  <a:pt x="152394" y="0"/>
                </a:moveTo>
                <a:lnTo>
                  <a:pt x="3510921" y="0"/>
                </a:lnTo>
                <a:cubicBezTo>
                  <a:pt x="3595086" y="0"/>
                  <a:pt x="3663315" y="68229"/>
                  <a:pt x="3663315" y="152394"/>
                </a:cubicBezTo>
                <a:lnTo>
                  <a:pt x="3663315" y="3568071"/>
                </a:lnTo>
                <a:cubicBezTo>
                  <a:pt x="3663315" y="3652236"/>
                  <a:pt x="3595086" y="3720465"/>
                  <a:pt x="3510921" y="3720465"/>
                </a:cubicBezTo>
                <a:lnTo>
                  <a:pt x="152394" y="3720465"/>
                </a:lnTo>
                <a:cubicBezTo>
                  <a:pt x="68229" y="3720465"/>
                  <a:pt x="0" y="3652236"/>
                  <a:pt x="0" y="356807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032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8333740" y="203454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8486140" y="21869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57150"/>
                </a:moveTo>
                <a:lnTo>
                  <a:pt x="0" y="71438"/>
                </a:lnTo>
                <a:lnTo>
                  <a:pt x="228600" y="71438"/>
                </a:ln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ubicBezTo>
                  <a:pt x="12814" y="28575"/>
                  <a:pt x="0" y="41389"/>
                  <a:pt x="0" y="57150"/>
                </a:cubicBezTo>
                <a:close/>
                <a:moveTo>
                  <a:pt x="0" y="92869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92869"/>
                </a:lnTo>
                <a:lnTo>
                  <a:pt x="0" y="92869"/>
                </a:lnTo>
                <a:close/>
                <a:moveTo>
                  <a:pt x="28575" y="160734"/>
                </a:moveTo>
                <a:cubicBezTo>
                  <a:pt x="28575" y="154796"/>
                  <a:pt x="33352" y="150019"/>
                  <a:pt x="39291" y="150019"/>
                </a:cubicBezTo>
                <a:lnTo>
                  <a:pt x="60722" y="150019"/>
                </a:lnTo>
                <a:cubicBezTo>
                  <a:pt x="66660" y="150019"/>
                  <a:pt x="71438" y="154796"/>
                  <a:pt x="71438" y="160734"/>
                </a:cubicBezTo>
                <a:cubicBezTo>
                  <a:pt x="71438" y="166673"/>
                  <a:pt x="66660" y="171450"/>
                  <a:pt x="60722" y="171450"/>
                </a:cubicBezTo>
                <a:lnTo>
                  <a:pt x="39291" y="171450"/>
                </a:lnTo>
                <a:cubicBezTo>
                  <a:pt x="33352" y="171450"/>
                  <a:pt x="28575" y="166673"/>
                  <a:pt x="28575" y="160734"/>
                </a:cubicBezTo>
                <a:close/>
                <a:moveTo>
                  <a:pt x="92869" y="160734"/>
                </a:moveTo>
                <a:cubicBezTo>
                  <a:pt x="92869" y="154796"/>
                  <a:pt x="97646" y="150019"/>
                  <a:pt x="103584" y="150019"/>
                </a:cubicBez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103584" y="171450"/>
                </a:lnTo>
                <a:cubicBezTo>
                  <a:pt x="97646" y="171450"/>
                  <a:pt x="92869" y="166673"/>
                  <a:pt x="92869" y="16073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8981440" y="2034540"/>
            <a:ext cx="1152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TRIAD-3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81440" y="233934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Billing Hostility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37550" y="2724150"/>
            <a:ext cx="3265170" cy="807720"/>
          </a:xfrm>
          <a:custGeom>
            <a:avLst/>
            <a:gdLst/>
            <a:ahLst/>
            <a:cxnLst/>
            <a:rect l="l" t="t" r="r" b="b"/>
            <a:pathLst>
              <a:path w="3265170" h="807720">
                <a:moveTo>
                  <a:pt x="114300" y="0"/>
                </a:moveTo>
                <a:lnTo>
                  <a:pt x="3150870" y="0"/>
                </a:lnTo>
                <a:cubicBezTo>
                  <a:pt x="3213996" y="0"/>
                  <a:pt x="3265170" y="51174"/>
                  <a:pt x="3265170" y="114300"/>
                </a:cubicBezTo>
                <a:lnTo>
                  <a:pt x="3265170" y="693420"/>
                </a:lnTo>
                <a:cubicBezTo>
                  <a:pt x="3265170" y="756546"/>
                  <a:pt x="3213996" y="807720"/>
                  <a:pt x="3150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8493760" y="288036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$129-588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93760" y="3185160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Unauthorized charges reported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37550" y="3653790"/>
            <a:ext cx="3265170" cy="807720"/>
          </a:xfrm>
          <a:custGeom>
            <a:avLst/>
            <a:gdLst/>
            <a:ahLst/>
            <a:cxnLst/>
            <a:rect l="l" t="t" r="r" b="b"/>
            <a:pathLst>
              <a:path w="3265170" h="807720">
                <a:moveTo>
                  <a:pt x="114300" y="0"/>
                </a:moveTo>
                <a:lnTo>
                  <a:pt x="3150870" y="0"/>
                </a:lnTo>
                <a:cubicBezTo>
                  <a:pt x="3213996" y="0"/>
                  <a:pt x="3265170" y="51174"/>
                  <a:pt x="3265170" y="114300"/>
                </a:cubicBezTo>
                <a:lnTo>
                  <a:pt x="3265170" y="693420"/>
                </a:lnTo>
                <a:cubicBezTo>
                  <a:pt x="3265170" y="756546"/>
                  <a:pt x="3213996" y="807720"/>
                  <a:pt x="3150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8493760" y="381000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Sources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93760" y="4114800"/>
            <a:ext cx="3019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Expiring credits, broken cancel buttons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33740" y="5010150"/>
            <a:ext cx="3267075" cy="7620"/>
          </a:xfrm>
          <a:custGeom>
            <a:avLst/>
            <a:gdLst/>
            <a:ahLst/>
            <a:cxnLst/>
            <a:rect l="l" t="t" r="r" b="b"/>
            <a:pathLst>
              <a:path w="3267075" h="7620">
                <a:moveTo>
                  <a:pt x="0" y="0"/>
                </a:moveTo>
                <a:lnTo>
                  <a:pt x="3267075" y="0"/>
                </a:lnTo>
                <a:lnTo>
                  <a:pt x="32670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8333740" y="5166360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Surprise charges destroying user trust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1000" y="5753100"/>
            <a:ext cx="11430000" cy="723900"/>
          </a:xfrm>
          <a:custGeom>
            <a:avLst/>
            <a:gdLst/>
            <a:ahLst/>
            <a:cxnLst/>
            <a:rect l="l" t="t" r="r" b="b"/>
            <a:pathLst>
              <a:path w="11430000" h="7239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609603"/>
                </a:lnTo>
                <a:cubicBezTo>
                  <a:pt x="11430000" y="672728"/>
                  <a:pt x="11378828" y="723900"/>
                  <a:pt x="11315703" y="723900"/>
                </a:cubicBezTo>
                <a:lnTo>
                  <a:pt x="114297" y="723900"/>
                </a:lnTo>
                <a:cubicBezTo>
                  <a:pt x="51172" y="723900"/>
                  <a:pt x="0" y="672728"/>
                  <a:pt x="0" y="6096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7" name="Shape 45"/>
          <p:cNvSpPr/>
          <p:nvPr/>
        </p:nvSpPr>
        <p:spPr>
          <a:xfrm>
            <a:off x="533400" y="60198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885825" y="5905500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Users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85825" y="6134100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YouTube/TikTok Creators (60%)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965132" y="5924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4748B">
              <a:alpha val="3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1" name="Shape 49"/>
          <p:cNvSpPr/>
          <p:nvPr/>
        </p:nvSpPr>
        <p:spPr>
          <a:xfrm>
            <a:off x="3203257" y="60198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47625" y="35719"/>
                </a:moveTo>
                <a:cubicBezTo>
                  <a:pt x="47625" y="22585"/>
                  <a:pt x="58303" y="11906"/>
                  <a:pt x="71438" y="11906"/>
                </a:cubicBezTo>
                <a:lnTo>
                  <a:pt x="202406" y="11906"/>
                </a:lnTo>
                <a:cubicBezTo>
                  <a:pt x="215540" y="11906"/>
                  <a:pt x="226219" y="22585"/>
                  <a:pt x="226219" y="35719"/>
                </a:cubicBezTo>
                <a:lnTo>
                  <a:pt x="226219" y="125016"/>
                </a:lnTo>
                <a:lnTo>
                  <a:pt x="190500" y="125016"/>
                </a:lnTo>
                <a:lnTo>
                  <a:pt x="190500" y="119063"/>
                </a:lnTo>
                <a:cubicBezTo>
                  <a:pt x="190500" y="112477"/>
                  <a:pt x="185179" y="107156"/>
                  <a:pt x="178594" y="107156"/>
                </a:cubicBezTo>
                <a:lnTo>
                  <a:pt x="154781" y="107156"/>
                </a:lnTo>
                <a:cubicBezTo>
                  <a:pt x="148196" y="107156"/>
                  <a:pt x="142875" y="112477"/>
                  <a:pt x="142875" y="119063"/>
                </a:cubicBezTo>
                <a:lnTo>
                  <a:pt x="142875" y="125016"/>
                </a:lnTo>
                <a:lnTo>
                  <a:pt x="94841" y="125016"/>
                </a:lnTo>
                <a:cubicBezTo>
                  <a:pt x="98896" y="118021"/>
                  <a:pt x="101203" y="109872"/>
                  <a:pt x="101203" y="101203"/>
                </a:cubicBezTo>
                <a:cubicBezTo>
                  <a:pt x="101203" y="74898"/>
                  <a:pt x="79883" y="53578"/>
                  <a:pt x="53578" y="53578"/>
                </a:cubicBezTo>
                <a:cubicBezTo>
                  <a:pt x="51569" y="53578"/>
                  <a:pt x="49560" y="53690"/>
                  <a:pt x="47625" y="53950"/>
                </a:cubicBezTo>
                <a:lnTo>
                  <a:pt x="47625" y="35719"/>
                </a:lnTo>
                <a:close/>
                <a:moveTo>
                  <a:pt x="123899" y="166688"/>
                </a:moveTo>
                <a:cubicBezTo>
                  <a:pt x="122002" y="157683"/>
                  <a:pt x="117835" y="149535"/>
                  <a:pt x="111956" y="142875"/>
                </a:cubicBezTo>
                <a:lnTo>
                  <a:pt x="226219" y="142875"/>
                </a:lnTo>
                <a:cubicBezTo>
                  <a:pt x="226219" y="156009"/>
                  <a:pt x="215540" y="166688"/>
                  <a:pt x="202406" y="166688"/>
                </a:cubicBezTo>
                <a:lnTo>
                  <a:pt x="123899" y="166688"/>
                </a:lnTo>
                <a:close/>
                <a:moveTo>
                  <a:pt x="23812" y="101203"/>
                </a:moveTo>
                <a:cubicBezTo>
                  <a:pt x="23812" y="84775"/>
                  <a:pt x="37150" y="71438"/>
                  <a:pt x="53578" y="71438"/>
                </a:cubicBezTo>
                <a:cubicBezTo>
                  <a:pt x="70006" y="71438"/>
                  <a:pt x="83344" y="84775"/>
                  <a:pt x="83344" y="101203"/>
                </a:cubicBezTo>
                <a:cubicBezTo>
                  <a:pt x="83344" y="117631"/>
                  <a:pt x="70006" y="130969"/>
                  <a:pt x="53578" y="130969"/>
                </a:cubicBezTo>
                <a:cubicBezTo>
                  <a:pt x="37150" y="130969"/>
                  <a:pt x="23813" y="117631"/>
                  <a:pt x="23812" y="101203"/>
                </a:cubicBezTo>
                <a:close/>
                <a:moveTo>
                  <a:pt x="0" y="178594"/>
                </a:moveTo>
                <a:cubicBezTo>
                  <a:pt x="0" y="158874"/>
                  <a:pt x="15999" y="142875"/>
                  <a:pt x="35719" y="142875"/>
                </a:cubicBezTo>
                <a:lnTo>
                  <a:pt x="71438" y="142875"/>
                </a:lnTo>
                <a:cubicBezTo>
                  <a:pt x="91157" y="142875"/>
                  <a:pt x="107156" y="158874"/>
                  <a:pt x="107156" y="178594"/>
                </a:cubicBezTo>
                <a:cubicBezTo>
                  <a:pt x="107156" y="185179"/>
                  <a:pt x="101836" y="190500"/>
                  <a:pt x="95250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3555682" y="590550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Educators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555682" y="613410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 of user base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782185" y="5924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64748B">
              <a:alpha val="3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5" name="Shape 53"/>
          <p:cNvSpPr/>
          <p:nvPr/>
        </p:nvSpPr>
        <p:spPr>
          <a:xfrm>
            <a:off x="5044122" y="6019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1599" y="7032"/>
                </a:moveTo>
                <a:cubicBezTo>
                  <a:pt x="175878" y="8930"/>
                  <a:pt x="178594" y="13171"/>
                  <a:pt x="178594" y="17859"/>
                </a:cubicBezTo>
                <a:lnTo>
                  <a:pt x="178594" y="172641"/>
                </a:lnTo>
                <a:cubicBezTo>
                  <a:pt x="178594" y="177329"/>
                  <a:pt x="175878" y="181570"/>
                  <a:pt x="171599" y="183468"/>
                </a:cubicBezTo>
                <a:cubicBezTo>
                  <a:pt x="167320" y="185365"/>
                  <a:pt x="162371" y="184658"/>
                  <a:pt x="158837" y="181570"/>
                </a:cubicBezTo>
                <a:lnTo>
                  <a:pt x="141498" y="166427"/>
                </a:lnTo>
                <a:cubicBezTo>
                  <a:pt x="125276" y="152251"/>
                  <a:pt x="104775" y="143991"/>
                  <a:pt x="83307" y="142987"/>
                </a:cubicBezTo>
                <a:lnTo>
                  <a:pt x="83307" y="178594"/>
                </a:lnTo>
                <a:cubicBezTo>
                  <a:pt x="83307" y="185179"/>
                  <a:pt x="77986" y="190500"/>
                  <a:pt x="71400" y="190500"/>
                </a:cubicBezTo>
                <a:lnTo>
                  <a:pt x="59494" y="190500"/>
                </a:lnTo>
                <a:cubicBezTo>
                  <a:pt x="52908" y="190500"/>
                  <a:pt x="47588" y="185179"/>
                  <a:pt x="47588" y="178594"/>
                </a:cubicBezTo>
                <a:lnTo>
                  <a:pt x="47588" y="142875"/>
                </a:lnTo>
                <a:cubicBezTo>
                  <a:pt x="21320" y="142875"/>
                  <a:pt x="0" y="121555"/>
                  <a:pt x="0" y="95250"/>
                </a:cubicBezTo>
                <a:cubicBezTo>
                  <a:pt x="0" y="68945"/>
                  <a:pt x="21320" y="47625"/>
                  <a:pt x="47625" y="47625"/>
                </a:cubicBezTo>
                <a:lnTo>
                  <a:pt x="79065" y="47625"/>
                </a:lnTo>
                <a:cubicBezTo>
                  <a:pt x="102059" y="47551"/>
                  <a:pt x="124234" y="39179"/>
                  <a:pt x="141536" y="24073"/>
                </a:cubicBezTo>
                <a:lnTo>
                  <a:pt x="158874" y="8930"/>
                </a:lnTo>
                <a:cubicBezTo>
                  <a:pt x="162371" y="5842"/>
                  <a:pt x="167394" y="5135"/>
                  <a:pt x="171636" y="7032"/>
                </a:cubicBezTo>
                <a:close/>
                <a:moveTo>
                  <a:pt x="83344" y="119063"/>
                </a:moveTo>
                <a:lnTo>
                  <a:pt x="83344" y="119137"/>
                </a:lnTo>
                <a:cubicBezTo>
                  <a:pt x="109500" y="120142"/>
                  <a:pt x="134615" y="129741"/>
                  <a:pt x="154781" y="146447"/>
                </a:cubicBezTo>
                <a:lnTo>
                  <a:pt x="154781" y="44016"/>
                </a:lnTo>
                <a:cubicBezTo>
                  <a:pt x="134615" y="60722"/>
                  <a:pt x="109500" y="70321"/>
                  <a:pt x="83344" y="71326"/>
                </a:cubicBezTo>
                <a:lnTo>
                  <a:pt x="83344" y="119063"/>
                </a:ln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6" name="Text 54"/>
          <p:cNvSpPr/>
          <p:nvPr/>
        </p:nvSpPr>
        <p:spPr>
          <a:xfrm>
            <a:off x="5372735" y="590550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 Teams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372735" y="613410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10% of user base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509587" y="4857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Innovation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Entity Extraction Technology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71600"/>
            <a:ext cx="115252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GPT-4o-mini identifies characters → creates visual "fingerprint" → same fingerprint injected into ALL image prompts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871663"/>
            <a:ext cx="4572000" cy="4800600"/>
          </a:xfrm>
          <a:custGeom>
            <a:avLst/>
            <a:gdLst/>
            <a:ahLst/>
            <a:cxnLst/>
            <a:rect l="l" t="t" r="r" b="b"/>
            <a:pathLst>
              <a:path w="4572000" h="4800600">
                <a:moveTo>
                  <a:pt x="152385" y="0"/>
                </a:moveTo>
                <a:lnTo>
                  <a:pt x="4419615" y="0"/>
                </a:lnTo>
                <a:cubicBezTo>
                  <a:pt x="4503775" y="0"/>
                  <a:pt x="4572000" y="68225"/>
                  <a:pt x="4572000" y="152385"/>
                </a:cubicBezTo>
                <a:lnTo>
                  <a:pt x="4572000" y="4648215"/>
                </a:lnTo>
                <a:cubicBezTo>
                  <a:pt x="4572000" y="4732375"/>
                  <a:pt x="4503775" y="4800600"/>
                  <a:pt x="4419615" y="4800600"/>
                </a:cubicBezTo>
                <a:lnTo>
                  <a:pt x="152385" y="4800600"/>
                </a:lnTo>
                <a:cubicBezTo>
                  <a:pt x="68225" y="4800600"/>
                  <a:pt x="0" y="4732375"/>
                  <a:pt x="0" y="4648215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2209800" y="210026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2438400" y="23288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228600"/>
                </a:moveTo>
                <a:cubicBezTo>
                  <a:pt x="42863" y="125998"/>
                  <a:pt x="125998" y="42863"/>
                  <a:pt x="228600" y="42863"/>
                </a:cubicBezTo>
                <a:cubicBezTo>
                  <a:pt x="284946" y="42863"/>
                  <a:pt x="335399" y="67955"/>
                  <a:pt x="369510" y="107603"/>
                </a:cubicBezTo>
                <a:cubicBezTo>
                  <a:pt x="377190" y="116622"/>
                  <a:pt x="390763" y="117604"/>
                  <a:pt x="399693" y="109924"/>
                </a:cubicBezTo>
                <a:cubicBezTo>
                  <a:pt x="408623" y="102245"/>
                  <a:pt x="409694" y="88672"/>
                  <a:pt x="402015" y="79742"/>
                </a:cubicBezTo>
                <a:cubicBezTo>
                  <a:pt x="360134" y="30897"/>
                  <a:pt x="297984" y="0"/>
                  <a:pt x="228600" y="0"/>
                </a:cubicBezTo>
                <a:cubicBezTo>
                  <a:pt x="102334" y="0"/>
                  <a:pt x="0" y="102334"/>
                  <a:pt x="0" y="228600"/>
                </a:cubicBezTo>
                <a:lnTo>
                  <a:pt x="0" y="264319"/>
                </a:lnTo>
                <a:cubicBezTo>
                  <a:pt x="0" y="276195"/>
                  <a:pt x="9555" y="285750"/>
                  <a:pt x="21431" y="285750"/>
                </a:cubicBezTo>
                <a:cubicBezTo>
                  <a:pt x="33308" y="285750"/>
                  <a:pt x="42863" y="276195"/>
                  <a:pt x="42863" y="264319"/>
                </a:cubicBezTo>
                <a:lnTo>
                  <a:pt x="42863" y="228600"/>
                </a:lnTo>
                <a:close/>
                <a:moveTo>
                  <a:pt x="452289" y="181362"/>
                </a:moveTo>
                <a:cubicBezTo>
                  <a:pt x="449878" y="169753"/>
                  <a:pt x="438448" y="162342"/>
                  <a:pt x="426928" y="164842"/>
                </a:cubicBezTo>
                <a:cubicBezTo>
                  <a:pt x="415409" y="167342"/>
                  <a:pt x="407908" y="178683"/>
                  <a:pt x="410408" y="190202"/>
                </a:cubicBezTo>
                <a:cubicBezTo>
                  <a:pt x="412998" y="202615"/>
                  <a:pt x="414427" y="215473"/>
                  <a:pt x="414427" y="228689"/>
                </a:cubicBezTo>
                <a:lnTo>
                  <a:pt x="414427" y="264408"/>
                </a:lnTo>
                <a:cubicBezTo>
                  <a:pt x="414427" y="276285"/>
                  <a:pt x="423982" y="285839"/>
                  <a:pt x="435858" y="285839"/>
                </a:cubicBezTo>
                <a:cubicBezTo>
                  <a:pt x="447735" y="285839"/>
                  <a:pt x="457289" y="276285"/>
                  <a:pt x="457289" y="264408"/>
                </a:cubicBezTo>
                <a:lnTo>
                  <a:pt x="457289" y="228689"/>
                </a:lnTo>
                <a:cubicBezTo>
                  <a:pt x="457289" y="212527"/>
                  <a:pt x="455593" y="196721"/>
                  <a:pt x="452378" y="181451"/>
                </a:cubicBezTo>
                <a:close/>
                <a:moveTo>
                  <a:pt x="228600" y="71438"/>
                </a:moveTo>
                <a:cubicBezTo>
                  <a:pt x="211634" y="71438"/>
                  <a:pt x="195203" y="74116"/>
                  <a:pt x="179933" y="79117"/>
                </a:cubicBezTo>
                <a:cubicBezTo>
                  <a:pt x="166360" y="83582"/>
                  <a:pt x="163235" y="100280"/>
                  <a:pt x="172522" y="111175"/>
                </a:cubicBezTo>
                <a:cubicBezTo>
                  <a:pt x="178862" y="118586"/>
                  <a:pt x="189309" y="120819"/>
                  <a:pt x="198775" y="118229"/>
                </a:cubicBezTo>
                <a:cubicBezTo>
                  <a:pt x="208240" y="115639"/>
                  <a:pt x="218242" y="114300"/>
                  <a:pt x="228600" y="114300"/>
                </a:cubicBezTo>
                <a:cubicBezTo>
                  <a:pt x="291733" y="114300"/>
                  <a:pt x="342900" y="165467"/>
                  <a:pt x="342900" y="228600"/>
                </a:cubicBezTo>
                <a:lnTo>
                  <a:pt x="342900" y="250835"/>
                </a:lnTo>
                <a:cubicBezTo>
                  <a:pt x="342900" y="273338"/>
                  <a:pt x="341561" y="295751"/>
                  <a:pt x="338971" y="318075"/>
                </a:cubicBezTo>
                <a:cubicBezTo>
                  <a:pt x="337453" y="331113"/>
                  <a:pt x="347365" y="342900"/>
                  <a:pt x="360581" y="342900"/>
                </a:cubicBezTo>
                <a:cubicBezTo>
                  <a:pt x="371118" y="342900"/>
                  <a:pt x="380137" y="335220"/>
                  <a:pt x="381387" y="324773"/>
                </a:cubicBezTo>
                <a:cubicBezTo>
                  <a:pt x="384334" y="300305"/>
                  <a:pt x="385852" y="275659"/>
                  <a:pt x="385852" y="250924"/>
                </a:cubicBezTo>
                <a:lnTo>
                  <a:pt x="385852" y="228689"/>
                </a:lnTo>
                <a:cubicBezTo>
                  <a:pt x="385852" y="141893"/>
                  <a:pt x="315486" y="71527"/>
                  <a:pt x="228689" y="71527"/>
                </a:cubicBezTo>
                <a:close/>
                <a:moveTo>
                  <a:pt x="134570" y="132784"/>
                </a:moveTo>
                <a:cubicBezTo>
                  <a:pt x="126444" y="123319"/>
                  <a:pt x="111978" y="122605"/>
                  <a:pt x="104299" y="132427"/>
                </a:cubicBezTo>
                <a:cubicBezTo>
                  <a:pt x="83671" y="159038"/>
                  <a:pt x="71437" y="192345"/>
                  <a:pt x="71437" y="228600"/>
                </a:cubicBezTo>
                <a:lnTo>
                  <a:pt x="71437" y="250835"/>
                </a:lnTo>
                <a:cubicBezTo>
                  <a:pt x="71437" y="272445"/>
                  <a:pt x="69116" y="294055"/>
                  <a:pt x="64472" y="315039"/>
                </a:cubicBezTo>
                <a:cubicBezTo>
                  <a:pt x="61436" y="328970"/>
                  <a:pt x="71527" y="342811"/>
                  <a:pt x="85814" y="342811"/>
                </a:cubicBezTo>
                <a:cubicBezTo>
                  <a:pt x="95190" y="342811"/>
                  <a:pt x="103584" y="336560"/>
                  <a:pt x="105638" y="327362"/>
                </a:cubicBezTo>
                <a:cubicBezTo>
                  <a:pt x="111353" y="302270"/>
                  <a:pt x="114300" y="276642"/>
                  <a:pt x="114300" y="250746"/>
                </a:cubicBezTo>
                <a:lnTo>
                  <a:pt x="114300" y="228511"/>
                </a:lnTo>
                <a:cubicBezTo>
                  <a:pt x="114300" y="204222"/>
                  <a:pt x="121890" y="181719"/>
                  <a:pt x="134749" y="163235"/>
                </a:cubicBezTo>
                <a:cubicBezTo>
                  <a:pt x="141178" y="153948"/>
                  <a:pt x="141893" y="141268"/>
                  <a:pt x="134570" y="132695"/>
                </a:cubicBezTo>
                <a:close/>
                <a:moveTo>
                  <a:pt x="228600" y="142875"/>
                </a:moveTo>
                <a:cubicBezTo>
                  <a:pt x="181273" y="142875"/>
                  <a:pt x="142875" y="181273"/>
                  <a:pt x="142875" y="228600"/>
                </a:cubicBezTo>
                <a:lnTo>
                  <a:pt x="142875" y="250835"/>
                </a:lnTo>
                <a:cubicBezTo>
                  <a:pt x="142875" y="282892"/>
                  <a:pt x="138767" y="314682"/>
                  <a:pt x="130552" y="345579"/>
                </a:cubicBezTo>
                <a:cubicBezTo>
                  <a:pt x="127159" y="358348"/>
                  <a:pt x="136535" y="371475"/>
                  <a:pt x="149751" y="371475"/>
                </a:cubicBezTo>
                <a:cubicBezTo>
                  <a:pt x="158234" y="371475"/>
                  <a:pt x="165735" y="365939"/>
                  <a:pt x="167967" y="357723"/>
                </a:cubicBezTo>
                <a:cubicBezTo>
                  <a:pt x="177344" y="322898"/>
                  <a:pt x="182166" y="287000"/>
                  <a:pt x="182166" y="250835"/>
                </a:cubicBezTo>
                <a:lnTo>
                  <a:pt x="182166" y="228600"/>
                </a:lnTo>
                <a:cubicBezTo>
                  <a:pt x="182166" y="202972"/>
                  <a:pt x="202972" y="182166"/>
                  <a:pt x="228600" y="182166"/>
                </a:cubicBezTo>
                <a:cubicBezTo>
                  <a:pt x="254228" y="182166"/>
                  <a:pt x="275034" y="202972"/>
                  <a:pt x="275034" y="228600"/>
                </a:cubicBezTo>
                <a:lnTo>
                  <a:pt x="275034" y="250835"/>
                </a:lnTo>
                <a:cubicBezTo>
                  <a:pt x="275034" y="283250"/>
                  <a:pt x="271909" y="315486"/>
                  <a:pt x="265748" y="347186"/>
                </a:cubicBezTo>
                <a:cubicBezTo>
                  <a:pt x="263336" y="359599"/>
                  <a:pt x="272623" y="371475"/>
                  <a:pt x="285214" y="371475"/>
                </a:cubicBezTo>
                <a:cubicBezTo>
                  <a:pt x="294323" y="371475"/>
                  <a:pt x="302181" y="365224"/>
                  <a:pt x="303967" y="356295"/>
                </a:cubicBezTo>
                <a:cubicBezTo>
                  <a:pt x="310842" y="321647"/>
                  <a:pt x="314325" y="286375"/>
                  <a:pt x="314325" y="250835"/>
                </a:cubicBezTo>
                <a:lnTo>
                  <a:pt x="314325" y="228600"/>
                </a:lnTo>
                <a:cubicBezTo>
                  <a:pt x="314325" y="181273"/>
                  <a:pt x="275927" y="142875"/>
                  <a:pt x="228600" y="142875"/>
                </a:cubicBezTo>
                <a:close/>
                <a:moveTo>
                  <a:pt x="250031" y="228600"/>
                </a:moveTo>
                <a:cubicBezTo>
                  <a:pt x="250031" y="216724"/>
                  <a:pt x="240476" y="207169"/>
                  <a:pt x="228600" y="207169"/>
                </a:cubicBezTo>
                <a:cubicBezTo>
                  <a:pt x="216724" y="207169"/>
                  <a:pt x="207169" y="216724"/>
                  <a:pt x="207169" y="228600"/>
                </a:cubicBezTo>
                <a:lnTo>
                  <a:pt x="207169" y="250835"/>
                </a:lnTo>
                <a:cubicBezTo>
                  <a:pt x="207169" y="304324"/>
                  <a:pt x="197346" y="357366"/>
                  <a:pt x="178147" y="407283"/>
                </a:cubicBezTo>
                <a:lnTo>
                  <a:pt x="172879" y="420945"/>
                </a:lnTo>
                <a:cubicBezTo>
                  <a:pt x="168592" y="432018"/>
                  <a:pt x="174129" y="444431"/>
                  <a:pt x="185202" y="448628"/>
                </a:cubicBezTo>
                <a:cubicBezTo>
                  <a:pt x="196275" y="452824"/>
                  <a:pt x="208687" y="447377"/>
                  <a:pt x="212884" y="436305"/>
                </a:cubicBezTo>
                <a:lnTo>
                  <a:pt x="218152" y="422642"/>
                </a:lnTo>
                <a:cubicBezTo>
                  <a:pt x="239226" y="367814"/>
                  <a:pt x="250031" y="309592"/>
                  <a:pt x="250031" y="250835"/>
                </a:cubicBezTo>
                <a:lnTo>
                  <a:pt x="250031" y="22860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38163" y="3167063"/>
            <a:ext cx="4257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The Breakthrough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738" y="3586163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Fingerprint Technology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4081463"/>
            <a:ext cx="4114800" cy="1104900"/>
          </a:xfrm>
          <a:custGeom>
            <a:avLst/>
            <a:gdLst/>
            <a:ahLst/>
            <a:cxnLst/>
            <a:rect l="l" t="t" r="r" b="b"/>
            <a:pathLst>
              <a:path w="4114800" h="1104900">
                <a:moveTo>
                  <a:pt x="114302" y="0"/>
                </a:moveTo>
                <a:lnTo>
                  <a:pt x="4000498" y="0"/>
                </a:lnTo>
                <a:cubicBezTo>
                  <a:pt x="4063625" y="0"/>
                  <a:pt x="4114800" y="51175"/>
                  <a:pt x="4114800" y="114302"/>
                </a:cubicBezTo>
                <a:lnTo>
                  <a:pt x="4114800" y="990598"/>
                </a:lnTo>
                <a:cubicBezTo>
                  <a:pt x="4114800" y="1053725"/>
                  <a:pt x="4063625" y="1104900"/>
                  <a:pt x="400049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62000" y="4271963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Consistency Rate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05041" y="4233863"/>
            <a:ext cx="1209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85-90%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652963"/>
            <a:ext cx="3810000" cy="114300"/>
          </a:xfrm>
          <a:custGeom>
            <a:avLst/>
            <a:gdLst/>
            <a:ahLst/>
            <a:cxnLst/>
            <a:rect l="l" t="t" r="r" b="b"/>
            <a:pathLst>
              <a:path w="3810000" h="114300">
                <a:moveTo>
                  <a:pt x="57150" y="0"/>
                </a:moveTo>
                <a:lnTo>
                  <a:pt x="3752850" y="0"/>
                </a:lnTo>
                <a:cubicBezTo>
                  <a:pt x="3784392" y="0"/>
                  <a:pt x="3810000" y="25608"/>
                  <a:pt x="3810000" y="57150"/>
                </a:cubicBezTo>
                <a:lnTo>
                  <a:pt x="3810000" y="57150"/>
                </a:lnTo>
                <a:cubicBezTo>
                  <a:pt x="3810000" y="88692"/>
                  <a:pt x="3784392" y="114300"/>
                  <a:pt x="37528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762000" y="4652963"/>
            <a:ext cx="3314700" cy="114300"/>
          </a:xfrm>
          <a:custGeom>
            <a:avLst/>
            <a:gdLst/>
            <a:ahLst/>
            <a:cxnLst/>
            <a:rect l="l" t="t" r="r" b="b"/>
            <a:pathLst>
              <a:path w="3314700" h="114300">
                <a:moveTo>
                  <a:pt x="57150" y="0"/>
                </a:moveTo>
                <a:lnTo>
                  <a:pt x="3257550" y="0"/>
                </a:lnTo>
                <a:cubicBezTo>
                  <a:pt x="3289092" y="0"/>
                  <a:pt x="3314700" y="25608"/>
                  <a:pt x="3314700" y="57150"/>
                </a:cubicBezTo>
                <a:lnTo>
                  <a:pt x="3314700" y="57150"/>
                </a:lnTo>
                <a:cubicBezTo>
                  <a:pt x="3314700" y="88692"/>
                  <a:pt x="3289092" y="114300"/>
                  <a:pt x="32575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7" name="Text 15"/>
          <p:cNvSpPr/>
          <p:nvPr/>
        </p:nvSpPr>
        <p:spPr>
          <a:xfrm>
            <a:off x="762000" y="4843463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6+ scenes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5338763"/>
            <a:ext cx="4114800" cy="1104900"/>
          </a:xfrm>
          <a:custGeom>
            <a:avLst/>
            <a:gdLst/>
            <a:ahLst/>
            <a:cxnLst/>
            <a:rect l="l" t="t" r="r" b="b"/>
            <a:pathLst>
              <a:path w="4114800" h="1104900">
                <a:moveTo>
                  <a:pt x="114302" y="0"/>
                </a:moveTo>
                <a:lnTo>
                  <a:pt x="4000498" y="0"/>
                </a:lnTo>
                <a:cubicBezTo>
                  <a:pt x="4063625" y="0"/>
                  <a:pt x="4114800" y="51175"/>
                  <a:pt x="4114800" y="114302"/>
                </a:cubicBezTo>
                <a:lnTo>
                  <a:pt x="4114800" y="990598"/>
                </a:lnTo>
                <a:cubicBezTo>
                  <a:pt x="4114800" y="1053725"/>
                  <a:pt x="4063625" y="1104900"/>
                  <a:pt x="400049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9" name="Text 17"/>
          <p:cNvSpPr/>
          <p:nvPr/>
        </p:nvSpPr>
        <p:spPr>
          <a:xfrm>
            <a:off x="762000" y="5529263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Competitors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63390" y="5491163"/>
            <a:ext cx="447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≤2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910263"/>
            <a:ext cx="3810000" cy="114300"/>
          </a:xfrm>
          <a:custGeom>
            <a:avLst/>
            <a:gdLst/>
            <a:ahLst/>
            <a:cxnLst/>
            <a:rect l="l" t="t" r="r" b="b"/>
            <a:pathLst>
              <a:path w="3810000" h="114300">
                <a:moveTo>
                  <a:pt x="57150" y="0"/>
                </a:moveTo>
                <a:lnTo>
                  <a:pt x="3752850" y="0"/>
                </a:lnTo>
                <a:cubicBezTo>
                  <a:pt x="3784392" y="0"/>
                  <a:pt x="3810000" y="25608"/>
                  <a:pt x="3810000" y="57150"/>
                </a:cubicBezTo>
                <a:lnTo>
                  <a:pt x="3810000" y="57150"/>
                </a:lnTo>
                <a:cubicBezTo>
                  <a:pt x="3810000" y="88692"/>
                  <a:pt x="3784392" y="114300"/>
                  <a:pt x="37528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762000" y="5910263"/>
            <a:ext cx="952500" cy="114300"/>
          </a:xfrm>
          <a:custGeom>
            <a:avLst/>
            <a:gdLst/>
            <a:ahLst/>
            <a:cxnLst/>
            <a:rect l="l" t="t" r="r" b="b"/>
            <a:pathLst>
              <a:path w="952500" h="114300">
                <a:moveTo>
                  <a:pt x="57150" y="0"/>
                </a:moveTo>
                <a:lnTo>
                  <a:pt x="895350" y="0"/>
                </a:lnTo>
                <a:cubicBezTo>
                  <a:pt x="926892" y="0"/>
                  <a:pt x="952500" y="25608"/>
                  <a:pt x="952500" y="57150"/>
                </a:cubicBezTo>
                <a:lnTo>
                  <a:pt x="952500" y="57150"/>
                </a:lnTo>
                <a:cubicBezTo>
                  <a:pt x="952500" y="88692"/>
                  <a:pt x="926892" y="114300"/>
                  <a:pt x="8953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762000" y="6100763"/>
            <a:ext cx="387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Scenes before drift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51120" y="1879282"/>
            <a:ext cx="3244215" cy="2310765"/>
          </a:xfrm>
          <a:custGeom>
            <a:avLst/>
            <a:gdLst/>
            <a:ahLst/>
            <a:cxnLst/>
            <a:rect l="l" t="t" r="r" b="b"/>
            <a:pathLst>
              <a:path w="3244215" h="2310765">
                <a:moveTo>
                  <a:pt x="114290" y="0"/>
                </a:moveTo>
                <a:lnTo>
                  <a:pt x="3129925" y="0"/>
                </a:lnTo>
                <a:cubicBezTo>
                  <a:pt x="3193045" y="0"/>
                  <a:pt x="3244215" y="51170"/>
                  <a:pt x="3244215" y="114290"/>
                </a:cubicBezTo>
                <a:lnTo>
                  <a:pt x="3244215" y="2196475"/>
                </a:lnTo>
                <a:cubicBezTo>
                  <a:pt x="3244215" y="2259595"/>
                  <a:pt x="3193045" y="2310765"/>
                  <a:pt x="3129925" y="2310765"/>
                </a:cubicBezTo>
                <a:lnTo>
                  <a:pt x="114290" y="2310765"/>
                </a:lnTo>
                <a:cubicBezTo>
                  <a:pt x="51170" y="2310765"/>
                  <a:pt x="0" y="2259595"/>
                  <a:pt x="0" y="219647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5349240" y="20774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5482590" y="22107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95250"/>
                </a:moveTo>
                <a:cubicBezTo>
                  <a:pt x="17859" y="52499"/>
                  <a:pt x="52499" y="17859"/>
                  <a:pt x="95250" y="17859"/>
                </a:cubicBezTo>
                <a:cubicBezTo>
                  <a:pt x="118728" y="17859"/>
                  <a:pt x="139750" y="28315"/>
                  <a:pt x="153963" y="44834"/>
                </a:cubicBezTo>
                <a:cubicBezTo>
                  <a:pt x="157163" y="48592"/>
                  <a:pt x="162818" y="49002"/>
                  <a:pt x="166539" y="45802"/>
                </a:cubicBezTo>
                <a:cubicBezTo>
                  <a:pt x="170259" y="42602"/>
                  <a:pt x="170706" y="36947"/>
                  <a:pt x="167506" y="33226"/>
                </a:cubicBezTo>
                <a:cubicBezTo>
                  <a:pt x="150056" y="12874"/>
                  <a:pt x="124160" y="0"/>
                  <a:pt x="95250" y="0"/>
                </a:cubicBezTo>
                <a:cubicBezTo>
                  <a:pt x="42639" y="0"/>
                  <a:pt x="0" y="42639"/>
                  <a:pt x="0" y="95250"/>
                </a:cubicBezTo>
                <a:lnTo>
                  <a:pt x="0" y="110133"/>
                </a:lnTo>
                <a:cubicBezTo>
                  <a:pt x="0" y="115081"/>
                  <a:pt x="3981" y="119063"/>
                  <a:pt x="8930" y="119063"/>
                </a:cubicBezTo>
                <a:cubicBezTo>
                  <a:pt x="13878" y="119063"/>
                  <a:pt x="17859" y="115081"/>
                  <a:pt x="17859" y="110133"/>
                </a:cubicBezTo>
                <a:lnTo>
                  <a:pt x="17859" y="95250"/>
                </a:lnTo>
                <a:close/>
                <a:moveTo>
                  <a:pt x="188454" y="75567"/>
                </a:moveTo>
                <a:cubicBezTo>
                  <a:pt x="187449" y="70731"/>
                  <a:pt x="182687" y="67642"/>
                  <a:pt x="177887" y="68684"/>
                </a:cubicBezTo>
                <a:cubicBezTo>
                  <a:pt x="173087" y="69726"/>
                  <a:pt x="169962" y="74451"/>
                  <a:pt x="171004" y="79251"/>
                </a:cubicBezTo>
                <a:cubicBezTo>
                  <a:pt x="172083" y="84423"/>
                  <a:pt x="172678" y="89781"/>
                  <a:pt x="172678" y="95287"/>
                </a:cubicBezTo>
                <a:lnTo>
                  <a:pt x="172678" y="110170"/>
                </a:lnTo>
                <a:cubicBezTo>
                  <a:pt x="172678" y="115119"/>
                  <a:pt x="176659" y="119100"/>
                  <a:pt x="181608" y="119100"/>
                </a:cubicBezTo>
                <a:cubicBezTo>
                  <a:pt x="186556" y="119100"/>
                  <a:pt x="190537" y="115119"/>
                  <a:pt x="190537" y="110170"/>
                </a:cubicBezTo>
                <a:lnTo>
                  <a:pt x="190537" y="95287"/>
                </a:lnTo>
                <a:cubicBezTo>
                  <a:pt x="190537" y="88553"/>
                  <a:pt x="189830" y="81967"/>
                  <a:pt x="188491" y="75605"/>
                </a:cubicBezTo>
                <a:close/>
                <a:moveTo>
                  <a:pt x="95250" y="29766"/>
                </a:moveTo>
                <a:cubicBezTo>
                  <a:pt x="88181" y="29766"/>
                  <a:pt x="81335" y="30882"/>
                  <a:pt x="74972" y="32965"/>
                </a:cubicBezTo>
                <a:cubicBezTo>
                  <a:pt x="69317" y="34826"/>
                  <a:pt x="68014" y="41783"/>
                  <a:pt x="71884" y="46323"/>
                </a:cubicBezTo>
                <a:cubicBezTo>
                  <a:pt x="74526" y="49411"/>
                  <a:pt x="78879" y="50341"/>
                  <a:pt x="82823" y="49262"/>
                </a:cubicBezTo>
                <a:cubicBezTo>
                  <a:pt x="86767" y="48183"/>
                  <a:pt x="90934" y="47625"/>
                  <a:pt x="95250" y="47625"/>
                </a:cubicBezTo>
                <a:cubicBezTo>
                  <a:pt x="121555" y="47625"/>
                  <a:pt x="142875" y="68945"/>
                  <a:pt x="142875" y="95250"/>
                </a:cubicBezTo>
                <a:lnTo>
                  <a:pt x="142875" y="104515"/>
                </a:lnTo>
                <a:cubicBezTo>
                  <a:pt x="142875" y="113891"/>
                  <a:pt x="142317" y="123230"/>
                  <a:pt x="141238" y="132531"/>
                </a:cubicBezTo>
                <a:cubicBezTo>
                  <a:pt x="140605" y="137964"/>
                  <a:pt x="144735" y="142875"/>
                  <a:pt x="150242" y="142875"/>
                </a:cubicBezTo>
                <a:cubicBezTo>
                  <a:pt x="154632" y="142875"/>
                  <a:pt x="158390" y="139675"/>
                  <a:pt x="158911" y="135322"/>
                </a:cubicBezTo>
                <a:cubicBezTo>
                  <a:pt x="160139" y="125127"/>
                  <a:pt x="160772" y="114858"/>
                  <a:pt x="160772" y="104552"/>
                </a:cubicBezTo>
                <a:lnTo>
                  <a:pt x="160772" y="95287"/>
                </a:lnTo>
                <a:cubicBezTo>
                  <a:pt x="160772" y="59122"/>
                  <a:pt x="131452" y="29803"/>
                  <a:pt x="95287" y="29803"/>
                </a:cubicBezTo>
                <a:close/>
                <a:moveTo>
                  <a:pt x="56071" y="55327"/>
                </a:moveTo>
                <a:cubicBezTo>
                  <a:pt x="52685" y="51383"/>
                  <a:pt x="46658" y="51085"/>
                  <a:pt x="43458" y="55178"/>
                </a:cubicBezTo>
                <a:cubicBezTo>
                  <a:pt x="34863" y="66266"/>
                  <a:pt x="29766" y="80144"/>
                  <a:pt x="29766" y="95250"/>
                </a:cubicBezTo>
                <a:lnTo>
                  <a:pt x="29766" y="104515"/>
                </a:lnTo>
                <a:cubicBezTo>
                  <a:pt x="29766" y="113519"/>
                  <a:pt x="28798" y="122523"/>
                  <a:pt x="26863" y="131266"/>
                </a:cubicBezTo>
                <a:cubicBezTo>
                  <a:pt x="25598" y="137071"/>
                  <a:pt x="29803" y="142838"/>
                  <a:pt x="35756" y="142838"/>
                </a:cubicBezTo>
                <a:cubicBezTo>
                  <a:pt x="39663" y="142838"/>
                  <a:pt x="43160" y="140233"/>
                  <a:pt x="44016" y="136401"/>
                </a:cubicBezTo>
                <a:cubicBezTo>
                  <a:pt x="46397" y="125946"/>
                  <a:pt x="47625" y="115267"/>
                  <a:pt x="47625" y="104477"/>
                </a:cubicBezTo>
                <a:lnTo>
                  <a:pt x="47625" y="95213"/>
                </a:lnTo>
                <a:cubicBezTo>
                  <a:pt x="47625" y="85092"/>
                  <a:pt x="50788" y="75716"/>
                  <a:pt x="56145" y="68014"/>
                </a:cubicBezTo>
                <a:cubicBezTo>
                  <a:pt x="58824" y="64145"/>
                  <a:pt x="59122" y="58862"/>
                  <a:pt x="56071" y="55290"/>
                </a:cubicBezTo>
                <a:close/>
                <a:moveTo>
                  <a:pt x="95250" y="59531"/>
                </a:moveTo>
                <a:cubicBezTo>
                  <a:pt x="75530" y="59531"/>
                  <a:pt x="59531" y="75530"/>
                  <a:pt x="59531" y="95250"/>
                </a:cubicBezTo>
                <a:lnTo>
                  <a:pt x="59531" y="104515"/>
                </a:lnTo>
                <a:cubicBezTo>
                  <a:pt x="59531" y="117872"/>
                  <a:pt x="57820" y="131118"/>
                  <a:pt x="54397" y="143991"/>
                </a:cubicBezTo>
                <a:cubicBezTo>
                  <a:pt x="52983" y="149312"/>
                  <a:pt x="56890" y="154781"/>
                  <a:pt x="62396" y="154781"/>
                </a:cubicBezTo>
                <a:cubicBezTo>
                  <a:pt x="65931" y="154781"/>
                  <a:pt x="69056" y="152474"/>
                  <a:pt x="69986" y="149051"/>
                </a:cubicBezTo>
                <a:cubicBezTo>
                  <a:pt x="73893" y="134541"/>
                  <a:pt x="75902" y="119583"/>
                  <a:pt x="75902" y="104515"/>
                </a:cubicBezTo>
                <a:lnTo>
                  <a:pt x="75902" y="95250"/>
                </a:lnTo>
                <a:cubicBezTo>
                  <a:pt x="75902" y="84572"/>
                  <a:pt x="84572" y="75902"/>
                  <a:pt x="95250" y="75902"/>
                </a:cubicBezTo>
                <a:cubicBezTo>
                  <a:pt x="105928" y="75902"/>
                  <a:pt x="114598" y="84572"/>
                  <a:pt x="114598" y="95250"/>
                </a:cubicBezTo>
                <a:lnTo>
                  <a:pt x="114598" y="104515"/>
                </a:lnTo>
                <a:cubicBezTo>
                  <a:pt x="114598" y="118021"/>
                  <a:pt x="113295" y="131452"/>
                  <a:pt x="110728" y="144661"/>
                </a:cubicBezTo>
                <a:cubicBezTo>
                  <a:pt x="109724" y="149833"/>
                  <a:pt x="113593" y="154781"/>
                  <a:pt x="118839" y="154781"/>
                </a:cubicBezTo>
                <a:cubicBezTo>
                  <a:pt x="122634" y="154781"/>
                  <a:pt x="125909" y="152177"/>
                  <a:pt x="126653" y="148456"/>
                </a:cubicBezTo>
                <a:cubicBezTo>
                  <a:pt x="129518" y="134020"/>
                  <a:pt x="130969" y="119323"/>
                  <a:pt x="130969" y="104515"/>
                </a:cubicBezTo>
                <a:lnTo>
                  <a:pt x="130969" y="95250"/>
                </a:lnTo>
                <a:cubicBezTo>
                  <a:pt x="130969" y="75530"/>
                  <a:pt x="114970" y="59531"/>
                  <a:pt x="95250" y="59531"/>
                </a:cubicBezTo>
                <a:close/>
                <a:moveTo>
                  <a:pt x="104180" y="95250"/>
                </a:moveTo>
                <a:cubicBezTo>
                  <a:pt x="104180" y="90301"/>
                  <a:pt x="100199" y="86320"/>
                  <a:pt x="95250" y="86320"/>
                </a:cubicBezTo>
                <a:cubicBezTo>
                  <a:pt x="90301" y="86320"/>
                  <a:pt x="86320" y="90301"/>
                  <a:pt x="86320" y="95250"/>
                </a:cubicBezTo>
                <a:lnTo>
                  <a:pt x="86320" y="104515"/>
                </a:lnTo>
                <a:cubicBezTo>
                  <a:pt x="86320" y="126802"/>
                  <a:pt x="82228" y="148903"/>
                  <a:pt x="74228" y="169701"/>
                </a:cubicBezTo>
                <a:lnTo>
                  <a:pt x="72033" y="175394"/>
                </a:lnTo>
                <a:cubicBezTo>
                  <a:pt x="70247" y="180008"/>
                  <a:pt x="72554" y="185179"/>
                  <a:pt x="77167" y="186928"/>
                </a:cubicBezTo>
                <a:cubicBezTo>
                  <a:pt x="81781" y="188677"/>
                  <a:pt x="86953" y="186407"/>
                  <a:pt x="88702" y="181794"/>
                </a:cubicBezTo>
                <a:lnTo>
                  <a:pt x="90897" y="176101"/>
                </a:lnTo>
                <a:cubicBezTo>
                  <a:pt x="99678" y="153256"/>
                  <a:pt x="104180" y="128997"/>
                  <a:pt x="104180" y="104515"/>
                </a:cubicBezTo>
                <a:lnTo>
                  <a:pt x="104180" y="9525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5920740" y="2172652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Entity Extraction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2648902"/>
            <a:ext cx="29146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GPT-4o-mini identifies characters and creates a unique visual fingerprint that maintains consistency across all scenes.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68290" y="344185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592127" y="3413284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Innovation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61070" y="1879282"/>
            <a:ext cx="3244215" cy="2310765"/>
          </a:xfrm>
          <a:custGeom>
            <a:avLst/>
            <a:gdLst/>
            <a:ahLst/>
            <a:cxnLst/>
            <a:rect l="l" t="t" r="r" b="b"/>
            <a:pathLst>
              <a:path w="3244215" h="2310765">
                <a:moveTo>
                  <a:pt x="114290" y="0"/>
                </a:moveTo>
                <a:lnTo>
                  <a:pt x="3129925" y="0"/>
                </a:lnTo>
                <a:cubicBezTo>
                  <a:pt x="3193045" y="0"/>
                  <a:pt x="3244215" y="51170"/>
                  <a:pt x="3244215" y="114290"/>
                </a:cubicBezTo>
                <a:lnTo>
                  <a:pt x="3244215" y="2196475"/>
                </a:lnTo>
                <a:cubicBezTo>
                  <a:pt x="3244215" y="2259595"/>
                  <a:pt x="3193045" y="2310765"/>
                  <a:pt x="3129925" y="2310765"/>
                </a:cubicBezTo>
                <a:lnTo>
                  <a:pt x="114290" y="2310765"/>
                </a:lnTo>
                <a:cubicBezTo>
                  <a:pt x="51170" y="2310765"/>
                  <a:pt x="0" y="2259595"/>
                  <a:pt x="0" y="219647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8759190" y="20774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8904446" y="22107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9766" y="38695"/>
                </a:moveTo>
                <a:cubicBezTo>
                  <a:pt x="34694" y="38695"/>
                  <a:pt x="38695" y="34694"/>
                  <a:pt x="38695" y="29766"/>
                </a:cubicBezTo>
                <a:cubicBezTo>
                  <a:pt x="38695" y="24837"/>
                  <a:pt x="34694" y="20836"/>
                  <a:pt x="29766" y="20836"/>
                </a:cubicBezTo>
                <a:cubicBezTo>
                  <a:pt x="24837" y="20836"/>
                  <a:pt x="20836" y="24837"/>
                  <a:pt x="20836" y="29766"/>
                </a:cubicBezTo>
                <a:cubicBezTo>
                  <a:pt x="20836" y="34694"/>
                  <a:pt x="24837" y="38695"/>
                  <a:pt x="29766" y="38695"/>
                </a:cubicBezTo>
                <a:close/>
                <a:moveTo>
                  <a:pt x="59531" y="29766"/>
                </a:moveTo>
                <a:cubicBezTo>
                  <a:pt x="59531" y="41970"/>
                  <a:pt x="52201" y="52462"/>
                  <a:pt x="41672" y="57038"/>
                </a:cubicBezTo>
                <a:lnTo>
                  <a:pt x="41672" y="83344"/>
                </a:lnTo>
                <a:lnTo>
                  <a:pt x="107156" y="83344"/>
                </a:lnTo>
                <a:cubicBezTo>
                  <a:pt x="117016" y="83344"/>
                  <a:pt x="125016" y="75344"/>
                  <a:pt x="125016" y="65484"/>
                </a:cubicBezTo>
                <a:lnTo>
                  <a:pt x="125016" y="57038"/>
                </a:lnTo>
                <a:cubicBezTo>
                  <a:pt x="114486" y="52462"/>
                  <a:pt x="107156" y="41970"/>
                  <a:pt x="107156" y="29766"/>
                </a:cubicBezTo>
                <a:cubicBezTo>
                  <a:pt x="107156" y="13320"/>
                  <a:pt x="120476" y="0"/>
                  <a:pt x="136922" y="0"/>
                </a:cubicBezTo>
                <a:cubicBezTo>
                  <a:pt x="153367" y="0"/>
                  <a:pt x="166688" y="13320"/>
                  <a:pt x="166688" y="29766"/>
                </a:cubicBezTo>
                <a:cubicBezTo>
                  <a:pt x="166688" y="41970"/>
                  <a:pt x="159358" y="52462"/>
                  <a:pt x="148828" y="57038"/>
                </a:cubicBezTo>
                <a:lnTo>
                  <a:pt x="148828" y="65484"/>
                </a:lnTo>
                <a:cubicBezTo>
                  <a:pt x="148828" y="88516"/>
                  <a:pt x="130187" y="107156"/>
                  <a:pt x="107156" y="107156"/>
                </a:cubicBezTo>
                <a:lnTo>
                  <a:pt x="41672" y="107156"/>
                </a:lnTo>
                <a:lnTo>
                  <a:pt x="41672" y="133462"/>
                </a:lnTo>
                <a:cubicBezTo>
                  <a:pt x="52201" y="138038"/>
                  <a:pt x="59531" y="148530"/>
                  <a:pt x="59531" y="160734"/>
                </a:cubicBezTo>
                <a:cubicBezTo>
                  <a:pt x="59531" y="177180"/>
                  <a:pt x="46211" y="190500"/>
                  <a:pt x="29766" y="190500"/>
                </a:cubicBezTo>
                <a:cubicBezTo>
                  <a:pt x="13320" y="190500"/>
                  <a:pt x="0" y="177180"/>
                  <a:pt x="0" y="160734"/>
                </a:cubicBezTo>
                <a:cubicBezTo>
                  <a:pt x="0" y="148530"/>
                  <a:pt x="7330" y="138038"/>
                  <a:pt x="17859" y="133462"/>
                </a:cubicBezTo>
                <a:lnTo>
                  <a:pt x="17859" y="57076"/>
                </a:lnTo>
                <a:cubicBezTo>
                  <a:pt x="7330" y="52462"/>
                  <a:pt x="0" y="41970"/>
                  <a:pt x="0" y="29766"/>
                </a:cubicBezTo>
                <a:cubicBezTo>
                  <a:pt x="0" y="13320"/>
                  <a:pt x="13320" y="0"/>
                  <a:pt x="29766" y="0"/>
                </a:cubicBezTo>
                <a:cubicBezTo>
                  <a:pt x="46211" y="0"/>
                  <a:pt x="59531" y="13320"/>
                  <a:pt x="59531" y="29766"/>
                </a:cubicBezTo>
                <a:close/>
                <a:moveTo>
                  <a:pt x="145852" y="29766"/>
                </a:moveTo>
                <a:cubicBezTo>
                  <a:pt x="145852" y="24837"/>
                  <a:pt x="141850" y="20836"/>
                  <a:pt x="136922" y="20836"/>
                </a:cubicBezTo>
                <a:cubicBezTo>
                  <a:pt x="131993" y="20836"/>
                  <a:pt x="127992" y="24837"/>
                  <a:pt x="127992" y="29766"/>
                </a:cubicBezTo>
                <a:cubicBezTo>
                  <a:pt x="127992" y="34694"/>
                  <a:pt x="131993" y="38695"/>
                  <a:pt x="136922" y="38695"/>
                </a:cubicBezTo>
                <a:cubicBezTo>
                  <a:pt x="141850" y="38695"/>
                  <a:pt x="145852" y="34694"/>
                  <a:pt x="145852" y="29766"/>
                </a:cubicBezTo>
                <a:close/>
                <a:moveTo>
                  <a:pt x="29766" y="169664"/>
                </a:moveTo>
                <a:cubicBezTo>
                  <a:pt x="34694" y="169664"/>
                  <a:pt x="38695" y="165663"/>
                  <a:pt x="38695" y="160734"/>
                </a:cubicBezTo>
                <a:cubicBezTo>
                  <a:pt x="38695" y="155806"/>
                  <a:pt x="34694" y="151805"/>
                  <a:pt x="29766" y="151805"/>
                </a:cubicBezTo>
                <a:cubicBezTo>
                  <a:pt x="24837" y="151805"/>
                  <a:pt x="20836" y="155806"/>
                  <a:pt x="20836" y="160734"/>
                </a:cubicBezTo>
                <a:cubicBezTo>
                  <a:pt x="20836" y="165663"/>
                  <a:pt x="24837" y="169664"/>
                  <a:pt x="29766" y="169664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9330690" y="2172652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Dual-Pipeline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59190" y="2648902"/>
            <a:ext cx="29146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specialized pipelines: YouTube Pipeline for entertainment (no fact-checking) and Teacher Pipeline for education (with verification).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78240" y="344185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9002077" y="3413284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Context-Aware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51120" y="4355782"/>
            <a:ext cx="3244215" cy="2310765"/>
          </a:xfrm>
          <a:custGeom>
            <a:avLst/>
            <a:gdLst/>
            <a:ahLst/>
            <a:cxnLst/>
            <a:rect l="l" t="t" r="r" b="b"/>
            <a:pathLst>
              <a:path w="3244215" h="2310765">
                <a:moveTo>
                  <a:pt x="114290" y="0"/>
                </a:moveTo>
                <a:lnTo>
                  <a:pt x="3129925" y="0"/>
                </a:lnTo>
                <a:cubicBezTo>
                  <a:pt x="3193045" y="0"/>
                  <a:pt x="3244215" y="51170"/>
                  <a:pt x="3244215" y="114290"/>
                </a:cubicBezTo>
                <a:lnTo>
                  <a:pt x="3244215" y="2196475"/>
                </a:lnTo>
                <a:cubicBezTo>
                  <a:pt x="3244215" y="2259595"/>
                  <a:pt x="3193045" y="2310765"/>
                  <a:pt x="3129925" y="2310765"/>
                </a:cubicBezTo>
                <a:lnTo>
                  <a:pt x="114290" y="2310765"/>
                </a:lnTo>
                <a:cubicBezTo>
                  <a:pt x="51170" y="2310765"/>
                  <a:pt x="0" y="2259595"/>
                  <a:pt x="0" y="219647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Shape 37"/>
          <p:cNvSpPr/>
          <p:nvPr/>
        </p:nvSpPr>
        <p:spPr>
          <a:xfrm>
            <a:off x="5349240" y="45539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Shape 38"/>
          <p:cNvSpPr/>
          <p:nvPr/>
        </p:nvSpPr>
        <p:spPr>
          <a:xfrm>
            <a:off x="5482590" y="46872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5920740" y="4649152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Fact-Checking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49240" y="5125403"/>
            <a:ext cx="29146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Facticity API verifies all claims, provides corrections with citations, and auto-regenerates scripts (max 2 iterations).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368290" y="591836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5592127" y="5889785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&amp; Accuracy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561070" y="4355782"/>
            <a:ext cx="3244215" cy="2310765"/>
          </a:xfrm>
          <a:custGeom>
            <a:avLst/>
            <a:gdLst/>
            <a:ahLst/>
            <a:cxnLst/>
            <a:rect l="l" t="t" r="r" b="b"/>
            <a:pathLst>
              <a:path w="3244215" h="2310765">
                <a:moveTo>
                  <a:pt x="114290" y="0"/>
                </a:moveTo>
                <a:lnTo>
                  <a:pt x="3129925" y="0"/>
                </a:lnTo>
                <a:cubicBezTo>
                  <a:pt x="3193045" y="0"/>
                  <a:pt x="3244215" y="51170"/>
                  <a:pt x="3244215" y="114290"/>
                </a:cubicBezTo>
                <a:lnTo>
                  <a:pt x="3244215" y="2196475"/>
                </a:lnTo>
                <a:cubicBezTo>
                  <a:pt x="3244215" y="2259595"/>
                  <a:pt x="3193045" y="2310765"/>
                  <a:pt x="3129925" y="2310765"/>
                </a:cubicBezTo>
                <a:lnTo>
                  <a:pt x="114290" y="2310765"/>
                </a:lnTo>
                <a:cubicBezTo>
                  <a:pt x="51170" y="2310765"/>
                  <a:pt x="0" y="2259595"/>
                  <a:pt x="0" y="2196475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Shape 44"/>
          <p:cNvSpPr/>
          <p:nvPr/>
        </p:nvSpPr>
        <p:spPr>
          <a:xfrm>
            <a:off x="8759190" y="45539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7" name="Shape 45"/>
          <p:cNvSpPr/>
          <p:nvPr/>
        </p:nvSpPr>
        <p:spPr>
          <a:xfrm>
            <a:off x="8892540" y="46872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9330690" y="4649152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Approval Workflow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759190" y="5125403"/>
            <a:ext cx="291465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6-stage process: Topic → Script → Fact-Check → Images → Audio → Video. Users preview each stage before payment.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778240" y="591836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1" name="Text 49"/>
          <p:cNvSpPr/>
          <p:nvPr/>
        </p:nvSpPr>
        <p:spPr>
          <a:xfrm>
            <a:off x="9002077" y="5889785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Control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513" y="341513"/>
            <a:ext cx="341513" cy="341513"/>
          </a:xfrm>
          <a:custGeom>
            <a:avLst/>
            <a:gdLst/>
            <a:ahLst/>
            <a:cxnLst/>
            <a:rect l="l" t="t" r="r" b="b"/>
            <a:pathLst>
              <a:path w="341513" h="341513">
                <a:moveTo>
                  <a:pt x="68303" y="0"/>
                </a:moveTo>
                <a:lnTo>
                  <a:pt x="273210" y="0"/>
                </a:lnTo>
                <a:cubicBezTo>
                  <a:pt x="310907" y="0"/>
                  <a:pt x="341513" y="30605"/>
                  <a:pt x="341513" y="68303"/>
                </a:cubicBezTo>
                <a:lnTo>
                  <a:pt x="341513" y="273210"/>
                </a:lnTo>
                <a:cubicBezTo>
                  <a:pt x="341513" y="310933"/>
                  <a:pt x="310933" y="341513"/>
                  <a:pt x="273210" y="341513"/>
                </a:cubicBezTo>
                <a:lnTo>
                  <a:pt x="68303" y="341513"/>
                </a:lnTo>
                <a:cubicBezTo>
                  <a:pt x="30605" y="341513"/>
                  <a:pt x="0" y="310907"/>
                  <a:pt x="0" y="273210"/>
                </a:cubicBezTo>
                <a:lnTo>
                  <a:pt x="0" y="68303"/>
                </a:lnTo>
                <a:cubicBezTo>
                  <a:pt x="0" y="30605"/>
                  <a:pt x="30605" y="0"/>
                  <a:pt x="68303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47168" y="435429"/>
            <a:ext cx="134471" cy="153681"/>
          </a:xfrm>
          <a:custGeom>
            <a:avLst/>
            <a:gdLst/>
            <a:ahLst/>
            <a:cxnLst/>
            <a:rect l="l" t="t" r="r" b="b"/>
            <a:pathLst>
              <a:path w="134471" h="153681">
                <a:moveTo>
                  <a:pt x="86445" y="0"/>
                </a:moveTo>
                <a:lnTo>
                  <a:pt x="38420" y="0"/>
                </a:lnTo>
                <a:cubicBezTo>
                  <a:pt x="33107" y="0"/>
                  <a:pt x="28815" y="4292"/>
                  <a:pt x="28815" y="9605"/>
                </a:cubicBezTo>
                <a:cubicBezTo>
                  <a:pt x="28815" y="14918"/>
                  <a:pt x="33107" y="19210"/>
                  <a:pt x="38420" y="19210"/>
                </a:cubicBezTo>
                <a:lnTo>
                  <a:pt x="38420" y="64684"/>
                </a:lnTo>
                <a:lnTo>
                  <a:pt x="2251" y="127957"/>
                </a:lnTo>
                <a:cubicBezTo>
                  <a:pt x="780" y="130569"/>
                  <a:pt x="0" y="133480"/>
                  <a:pt x="0" y="136482"/>
                </a:cubicBezTo>
                <a:cubicBezTo>
                  <a:pt x="0" y="145997"/>
                  <a:pt x="7684" y="153681"/>
                  <a:pt x="17199" y="153681"/>
                </a:cubicBezTo>
                <a:lnTo>
                  <a:pt x="117272" y="153681"/>
                </a:lnTo>
                <a:cubicBezTo>
                  <a:pt x="126757" y="153681"/>
                  <a:pt x="134471" y="145997"/>
                  <a:pt x="134471" y="136482"/>
                </a:cubicBezTo>
                <a:cubicBezTo>
                  <a:pt x="134471" y="133480"/>
                  <a:pt x="133690" y="130539"/>
                  <a:pt x="132219" y="127957"/>
                </a:cubicBezTo>
                <a:lnTo>
                  <a:pt x="96050" y="64684"/>
                </a:lnTo>
                <a:lnTo>
                  <a:pt x="96050" y="19210"/>
                </a:lnTo>
                <a:cubicBezTo>
                  <a:pt x="101363" y="19210"/>
                  <a:pt x="105655" y="14918"/>
                  <a:pt x="105655" y="9605"/>
                </a:cubicBezTo>
                <a:cubicBezTo>
                  <a:pt x="105655" y="4292"/>
                  <a:pt x="101363" y="0"/>
                  <a:pt x="96050" y="0"/>
                </a:cubicBezTo>
                <a:lnTo>
                  <a:pt x="86445" y="0"/>
                </a:lnTo>
                <a:close/>
                <a:moveTo>
                  <a:pt x="57630" y="64684"/>
                </a:moveTo>
                <a:lnTo>
                  <a:pt x="57630" y="19210"/>
                </a:lnTo>
                <a:lnTo>
                  <a:pt x="76840" y="19210"/>
                </a:lnTo>
                <a:lnTo>
                  <a:pt x="76840" y="64684"/>
                </a:lnTo>
                <a:cubicBezTo>
                  <a:pt x="76840" y="68016"/>
                  <a:pt x="77711" y="71317"/>
                  <a:pt x="79362" y="74229"/>
                </a:cubicBezTo>
                <a:lnTo>
                  <a:pt x="91848" y="96050"/>
                </a:lnTo>
                <a:lnTo>
                  <a:pt x="42622" y="96050"/>
                </a:lnTo>
                <a:lnTo>
                  <a:pt x="55109" y="74229"/>
                </a:lnTo>
                <a:cubicBezTo>
                  <a:pt x="56760" y="71317"/>
                  <a:pt x="57630" y="68046"/>
                  <a:pt x="57630" y="64684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85479" y="426891"/>
            <a:ext cx="1400202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kern="0" spc="94" dirty="0">
                <a:solidFill>
                  <a:srgbClr val="10B98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Proof of Concept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1513" y="785479"/>
            <a:ext cx="11662655" cy="34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1513" y="1195294"/>
            <a:ext cx="11585815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technology validation with production-ready architecture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4928" y="1608524"/>
            <a:ext cx="6896847" cy="2892612"/>
          </a:xfrm>
          <a:custGeom>
            <a:avLst/>
            <a:gdLst/>
            <a:ahLst/>
            <a:cxnLst/>
            <a:rect l="l" t="t" r="r" b="b"/>
            <a:pathLst>
              <a:path w="6896847" h="2892612">
                <a:moveTo>
                  <a:pt x="136618" y="0"/>
                </a:moveTo>
                <a:lnTo>
                  <a:pt x="6760229" y="0"/>
                </a:lnTo>
                <a:cubicBezTo>
                  <a:pt x="6835681" y="0"/>
                  <a:pt x="6896847" y="61166"/>
                  <a:pt x="6896847" y="136618"/>
                </a:cubicBezTo>
                <a:lnTo>
                  <a:pt x="6896847" y="2755994"/>
                </a:lnTo>
                <a:cubicBezTo>
                  <a:pt x="6896847" y="2831446"/>
                  <a:pt x="6835681" y="2892612"/>
                  <a:pt x="6760229" y="2892612"/>
                </a:cubicBezTo>
                <a:lnTo>
                  <a:pt x="136618" y="2892612"/>
                </a:lnTo>
                <a:cubicBezTo>
                  <a:pt x="61166" y="2892612"/>
                  <a:pt x="0" y="2831446"/>
                  <a:pt x="0" y="2755994"/>
                </a:cubicBezTo>
                <a:lnTo>
                  <a:pt x="0" y="136618"/>
                </a:lnTo>
                <a:cubicBezTo>
                  <a:pt x="0" y="61216"/>
                  <a:pt x="61216" y="0"/>
                  <a:pt x="13661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4748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348343" y="1611940"/>
            <a:ext cx="6890017" cy="409815"/>
          </a:xfrm>
          <a:custGeom>
            <a:avLst/>
            <a:gdLst/>
            <a:ahLst/>
            <a:cxnLst/>
            <a:rect l="l" t="t" r="r" b="b"/>
            <a:pathLst>
              <a:path w="6890017" h="409815">
                <a:moveTo>
                  <a:pt x="0" y="0"/>
                </a:moveTo>
                <a:lnTo>
                  <a:pt x="6890017" y="0"/>
                </a:lnTo>
                <a:lnTo>
                  <a:pt x="6890017" y="409815"/>
                </a:lnTo>
                <a:lnTo>
                  <a:pt x="0" y="409815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36175" y="1748545"/>
            <a:ext cx="136605" cy="136605"/>
          </a:xfrm>
          <a:custGeom>
            <a:avLst/>
            <a:gdLst/>
            <a:ahLst/>
            <a:cxnLst/>
            <a:rect l="l" t="t" r="r" b="b"/>
            <a:pathLst>
              <a:path w="136605" h="136605">
                <a:moveTo>
                  <a:pt x="62033" y="1387"/>
                </a:moveTo>
                <a:cubicBezTo>
                  <a:pt x="66008" y="-454"/>
                  <a:pt x="70597" y="-454"/>
                  <a:pt x="74572" y="1387"/>
                </a:cubicBezTo>
                <a:lnTo>
                  <a:pt x="132896" y="28335"/>
                </a:lnTo>
                <a:cubicBezTo>
                  <a:pt x="135164" y="29375"/>
                  <a:pt x="136605" y="31643"/>
                  <a:pt x="136605" y="34151"/>
                </a:cubicBezTo>
                <a:cubicBezTo>
                  <a:pt x="136605" y="36659"/>
                  <a:pt x="135164" y="38927"/>
                  <a:pt x="132896" y="39968"/>
                </a:cubicBezTo>
                <a:lnTo>
                  <a:pt x="74572" y="66915"/>
                </a:lnTo>
                <a:cubicBezTo>
                  <a:pt x="70597" y="68756"/>
                  <a:pt x="66008" y="68756"/>
                  <a:pt x="62033" y="66915"/>
                </a:cubicBezTo>
                <a:lnTo>
                  <a:pt x="3709" y="39968"/>
                </a:lnTo>
                <a:cubicBezTo>
                  <a:pt x="1441" y="38900"/>
                  <a:pt x="0" y="36633"/>
                  <a:pt x="0" y="34151"/>
                </a:cubicBezTo>
                <a:cubicBezTo>
                  <a:pt x="0" y="31670"/>
                  <a:pt x="1441" y="29375"/>
                  <a:pt x="3709" y="28335"/>
                </a:cubicBezTo>
                <a:lnTo>
                  <a:pt x="62033" y="1387"/>
                </a:lnTo>
                <a:close/>
                <a:moveTo>
                  <a:pt x="12833" y="58271"/>
                </a:moveTo>
                <a:lnTo>
                  <a:pt x="56670" y="78521"/>
                </a:lnTo>
                <a:cubicBezTo>
                  <a:pt x="64060" y="81936"/>
                  <a:pt x="72571" y="81936"/>
                  <a:pt x="79962" y="78521"/>
                </a:cubicBezTo>
                <a:lnTo>
                  <a:pt x="123798" y="58271"/>
                </a:lnTo>
                <a:lnTo>
                  <a:pt x="132896" y="62486"/>
                </a:lnTo>
                <a:cubicBezTo>
                  <a:pt x="135164" y="63527"/>
                  <a:pt x="136605" y="65795"/>
                  <a:pt x="136605" y="68303"/>
                </a:cubicBezTo>
                <a:cubicBezTo>
                  <a:pt x="136605" y="70811"/>
                  <a:pt x="135164" y="73078"/>
                  <a:pt x="132896" y="74119"/>
                </a:cubicBezTo>
                <a:lnTo>
                  <a:pt x="74572" y="101066"/>
                </a:lnTo>
                <a:cubicBezTo>
                  <a:pt x="70597" y="102907"/>
                  <a:pt x="66008" y="102907"/>
                  <a:pt x="62033" y="101066"/>
                </a:cubicBezTo>
                <a:lnTo>
                  <a:pt x="3709" y="74119"/>
                </a:lnTo>
                <a:cubicBezTo>
                  <a:pt x="1441" y="73052"/>
                  <a:pt x="0" y="70784"/>
                  <a:pt x="0" y="68303"/>
                </a:cubicBezTo>
                <a:cubicBezTo>
                  <a:pt x="0" y="65821"/>
                  <a:pt x="1441" y="63527"/>
                  <a:pt x="3709" y="62486"/>
                </a:cubicBezTo>
                <a:lnTo>
                  <a:pt x="12807" y="58271"/>
                </a:lnTo>
                <a:close/>
                <a:moveTo>
                  <a:pt x="3709" y="96637"/>
                </a:moveTo>
                <a:lnTo>
                  <a:pt x="12807" y="92422"/>
                </a:lnTo>
                <a:lnTo>
                  <a:pt x="56643" y="112672"/>
                </a:lnTo>
                <a:cubicBezTo>
                  <a:pt x="64034" y="116088"/>
                  <a:pt x="72545" y="116088"/>
                  <a:pt x="79935" y="112672"/>
                </a:cubicBezTo>
                <a:lnTo>
                  <a:pt x="123772" y="92422"/>
                </a:lnTo>
                <a:lnTo>
                  <a:pt x="132870" y="96637"/>
                </a:lnTo>
                <a:cubicBezTo>
                  <a:pt x="135138" y="97678"/>
                  <a:pt x="136578" y="99946"/>
                  <a:pt x="136578" y="102454"/>
                </a:cubicBezTo>
                <a:cubicBezTo>
                  <a:pt x="136578" y="104962"/>
                  <a:pt x="135138" y="107230"/>
                  <a:pt x="132870" y="108270"/>
                </a:cubicBezTo>
                <a:lnTo>
                  <a:pt x="74546" y="135218"/>
                </a:lnTo>
                <a:cubicBezTo>
                  <a:pt x="70570" y="137059"/>
                  <a:pt x="65981" y="137059"/>
                  <a:pt x="62006" y="135218"/>
                </a:cubicBezTo>
                <a:lnTo>
                  <a:pt x="3709" y="108270"/>
                </a:lnTo>
                <a:cubicBezTo>
                  <a:pt x="1441" y="107203"/>
                  <a:pt x="0" y="104935"/>
                  <a:pt x="0" y="102454"/>
                </a:cubicBezTo>
                <a:cubicBezTo>
                  <a:pt x="0" y="99972"/>
                  <a:pt x="1441" y="97678"/>
                  <a:pt x="3709" y="96637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58158" y="1714394"/>
            <a:ext cx="1212370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948" y="2158360"/>
          <a:ext cx="6616806" cy="2202753"/>
        </p:xfrm>
        <a:graphic>
          <a:graphicData uri="http://schemas.openxmlformats.org/drawingml/2006/table">
            <a:tbl>
              <a:tblPr/>
              <a:tblGrid>
                <a:gridCol w="156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679"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Component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Tool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Cost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67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Backend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FastAPI + LangGraph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KEEP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67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Script Gen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GPT-4o-mini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$0.15/1M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KEEP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67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Fact-Check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Facticity API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KEEP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67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Images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Pollinations.ai → Stability AI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$0.04/img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REPLACE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67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Audio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OpenAI TTS-1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$15/1M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KEEP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679"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Hosting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Hetzner Germany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€40/mo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KEEP</a:t>
                      </a:r>
                      <a:endParaRPr lang="en-US" sz="9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303" marR="68303" marT="68303" marB="6830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422065" y="1611939"/>
            <a:ext cx="4419173" cy="2028585"/>
          </a:xfrm>
          <a:custGeom>
            <a:avLst/>
            <a:gdLst/>
            <a:ahLst/>
            <a:cxnLst/>
            <a:rect l="l" t="t" r="r" b="b"/>
            <a:pathLst>
              <a:path w="4419173" h="2028585">
                <a:moveTo>
                  <a:pt x="136605" y="0"/>
                </a:moveTo>
                <a:lnTo>
                  <a:pt x="4282568" y="0"/>
                </a:lnTo>
                <a:cubicBezTo>
                  <a:pt x="4358013" y="0"/>
                  <a:pt x="4419173" y="61160"/>
                  <a:pt x="4419173" y="136605"/>
                </a:cubicBezTo>
                <a:lnTo>
                  <a:pt x="4419173" y="1891980"/>
                </a:lnTo>
                <a:cubicBezTo>
                  <a:pt x="4419173" y="1967425"/>
                  <a:pt x="4358013" y="2028585"/>
                  <a:pt x="4282568" y="2028585"/>
                </a:cubicBezTo>
                <a:lnTo>
                  <a:pt x="136605" y="2028585"/>
                </a:lnTo>
                <a:cubicBezTo>
                  <a:pt x="61160" y="2028585"/>
                  <a:pt x="0" y="1967425"/>
                  <a:pt x="0" y="1891980"/>
                </a:cubicBezTo>
                <a:lnTo>
                  <a:pt x="0" y="136605"/>
                </a:lnTo>
                <a:cubicBezTo>
                  <a:pt x="0" y="61160"/>
                  <a:pt x="61160" y="0"/>
                  <a:pt x="136605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032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7599652" y="1789527"/>
            <a:ext cx="409815" cy="409815"/>
          </a:xfrm>
          <a:custGeom>
            <a:avLst/>
            <a:gdLst/>
            <a:ahLst/>
            <a:cxnLst/>
            <a:rect l="l" t="t" r="r" b="b"/>
            <a:pathLst>
              <a:path w="409815" h="409815">
                <a:moveTo>
                  <a:pt x="102454" y="0"/>
                </a:moveTo>
                <a:lnTo>
                  <a:pt x="307361" y="0"/>
                </a:lnTo>
                <a:cubicBezTo>
                  <a:pt x="363907" y="0"/>
                  <a:pt x="409815" y="45908"/>
                  <a:pt x="409815" y="102454"/>
                </a:cubicBezTo>
                <a:lnTo>
                  <a:pt x="409815" y="307361"/>
                </a:lnTo>
                <a:cubicBezTo>
                  <a:pt x="409815" y="363907"/>
                  <a:pt x="363907" y="409815"/>
                  <a:pt x="307361" y="409815"/>
                </a:cubicBezTo>
                <a:lnTo>
                  <a:pt x="102454" y="409815"/>
                </a:lnTo>
                <a:cubicBezTo>
                  <a:pt x="45908" y="409815"/>
                  <a:pt x="0" y="363907"/>
                  <a:pt x="0" y="307361"/>
                </a:cubicBezTo>
                <a:lnTo>
                  <a:pt x="0" y="102454"/>
                </a:lnTo>
                <a:cubicBezTo>
                  <a:pt x="0" y="45908"/>
                  <a:pt x="45908" y="0"/>
                  <a:pt x="102454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7702106" y="1891981"/>
            <a:ext cx="204908" cy="204908"/>
          </a:xfrm>
          <a:custGeom>
            <a:avLst/>
            <a:gdLst/>
            <a:ahLst/>
            <a:cxnLst/>
            <a:rect l="l" t="t" r="r" b="b"/>
            <a:pathLst>
              <a:path w="204908" h="204908">
                <a:moveTo>
                  <a:pt x="102454" y="204908"/>
                </a:moveTo>
                <a:cubicBezTo>
                  <a:pt x="159000" y="204908"/>
                  <a:pt x="204908" y="159000"/>
                  <a:pt x="204908" y="102454"/>
                </a:cubicBezTo>
                <a:cubicBezTo>
                  <a:pt x="204908" y="45908"/>
                  <a:pt x="159000" y="0"/>
                  <a:pt x="102454" y="0"/>
                </a:cubicBezTo>
                <a:cubicBezTo>
                  <a:pt x="45908" y="0"/>
                  <a:pt x="0" y="45908"/>
                  <a:pt x="0" y="102454"/>
                </a:cubicBezTo>
                <a:cubicBezTo>
                  <a:pt x="0" y="159000"/>
                  <a:pt x="45908" y="204908"/>
                  <a:pt x="102454" y="204908"/>
                </a:cubicBezTo>
                <a:close/>
                <a:moveTo>
                  <a:pt x="136232" y="85125"/>
                </a:moveTo>
                <a:lnTo>
                  <a:pt x="104215" y="136352"/>
                </a:lnTo>
                <a:cubicBezTo>
                  <a:pt x="102534" y="139033"/>
                  <a:pt x="99652" y="140714"/>
                  <a:pt x="96491" y="140874"/>
                </a:cubicBezTo>
                <a:cubicBezTo>
                  <a:pt x="93329" y="141034"/>
                  <a:pt x="90287" y="139593"/>
                  <a:pt x="88406" y="137032"/>
                </a:cubicBezTo>
                <a:lnTo>
                  <a:pt x="69196" y="111418"/>
                </a:lnTo>
                <a:cubicBezTo>
                  <a:pt x="65995" y="107176"/>
                  <a:pt x="66875" y="101173"/>
                  <a:pt x="71117" y="97971"/>
                </a:cubicBezTo>
                <a:cubicBezTo>
                  <a:pt x="75360" y="94770"/>
                  <a:pt x="81363" y="95650"/>
                  <a:pt x="84564" y="99892"/>
                </a:cubicBezTo>
                <a:lnTo>
                  <a:pt x="95370" y="114300"/>
                </a:lnTo>
                <a:lnTo>
                  <a:pt x="119943" y="74959"/>
                </a:lnTo>
                <a:cubicBezTo>
                  <a:pt x="122744" y="70477"/>
                  <a:pt x="128668" y="69076"/>
                  <a:pt x="133190" y="71918"/>
                </a:cubicBezTo>
                <a:cubicBezTo>
                  <a:pt x="137712" y="74759"/>
                  <a:pt x="139073" y="80642"/>
                  <a:pt x="136232" y="8516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111921" y="1857829"/>
            <a:ext cx="1536807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3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POC Validation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5265" y="2370098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7872862" y="2335947"/>
            <a:ext cx="1989311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85-90% character consistency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25265" y="2677460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7872862" y="2643308"/>
            <a:ext cx="1605109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Fact-checking functional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5265" y="2984821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7872862" y="2950670"/>
            <a:ext cx="155388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automation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625265" y="3292182"/>
            <a:ext cx="119529" cy="136605"/>
          </a:xfrm>
          <a:custGeom>
            <a:avLst/>
            <a:gdLst/>
            <a:ahLst/>
            <a:cxnLst/>
            <a:rect l="l" t="t" r="r" b="b"/>
            <a:pathLst>
              <a:path w="119529" h="136605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7872862" y="3258031"/>
            <a:ext cx="1536807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$0.3 per 1 minute video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422065" y="3790789"/>
            <a:ext cx="4419173" cy="2259106"/>
          </a:xfrm>
          <a:custGeom>
            <a:avLst/>
            <a:gdLst/>
            <a:ahLst/>
            <a:cxnLst/>
            <a:rect l="l" t="t" r="r" b="b"/>
            <a:pathLst>
              <a:path w="4419173" h="2259106">
                <a:moveTo>
                  <a:pt x="136608" y="0"/>
                </a:moveTo>
                <a:lnTo>
                  <a:pt x="4282565" y="0"/>
                </a:lnTo>
                <a:cubicBezTo>
                  <a:pt x="4358012" y="0"/>
                  <a:pt x="4419173" y="61162"/>
                  <a:pt x="4419173" y="136608"/>
                </a:cubicBezTo>
                <a:lnTo>
                  <a:pt x="4419173" y="2122498"/>
                </a:lnTo>
                <a:cubicBezTo>
                  <a:pt x="4419173" y="2197944"/>
                  <a:pt x="4358012" y="2259106"/>
                  <a:pt x="4282565" y="2259106"/>
                </a:cubicBezTo>
                <a:lnTo>
                  <a:pt x="136608" y="2259106"/>
                </a:lnTo>
                <a:cubicBezTo>
                  <a:pt x="61162" y="2259106"/>
                  <a:pt x="0" y="2197944"/>
                  <a:pt x="0" y="2122498"/>
                </a:cubicBezTo>
                <a:lnTo>
                  <a:pt x="0" y="136608"/>
                </a:lnTo>
                <a:cubicBezTo>
                  <a:pt x="0" y="61212"/>
                  <a:pt x="61212" y="0"/>
                  <a:pt x="136608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20320">
            <a:solidFill>
              <a:srgbClr val="2563E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2"/>
          <p:cNvSpPr/>
          <p:nvPr/>
        </p:nvSpPr>
        <p:spPr>
          <a:xfrm>
            <a:off x="7599652" y="3968377"/>
            <a:ext cx="409815" cy="409815"/>
          </a:xfrm>
          <a:custGeom>
            <a:avLst/>
            <a:gdLst/>
            <a:ahLst/>
            <a:cxnLst/>
            <a:rect l="l" t="t" r="r" b="b"/>
            <a:pathLst>
              <a:path w="409815" h="409815">
                <a:moveTo>
                  <a:pt x="102454" y="0"/>
                </a:moveTo>
                <a:lnTo>
                  <a:pt x="307361" y="0"/>
                </a:lnTo>
                <a:cubicBezTo>
                  <a:pt x="363907" y="0"/>
                  <a:pt x="409815" y="45908"/>
                  <a:pt x="409815" y="102454"/>
                </a:cubicBezTo>
                <a:lnTo>
                  <a:pt x="409815" y="307361"/>
                </a:lnTo>
                <a:cubicBezTo>
                  <a:pt x="409815" y="363907"/>
                  <a:pt x="363907" y="409815"/>
                  <a:pt x="307361" y="409815"/>
                </a:cubicBezTo>
                <a:lnTo>
                  <a:pt x="102454" y="409815"/>
                </a:lnTo>
                <a:cubicBezTo>
                  <a:pt x="45908" y="409815"/>
                  <a:pt x="0" y="363907"/>
                  <a:pt x="0" y="307361"/>
                </a:cubicBezTo>
                <a:lnTo>
                  <a:pt x="0" y="102454"/>
                </a:lnTo>
                <a:cubicBezTo>
                  <a:pt x="0" y="45908"/>
                  <a:pt x="45908" y="0"/>
                  <a:pt x="10245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3"/>
          <p:cNvSpPr/>
          <p:nvPr/>
        </p:nvSpPr>
        <p:spPr>
          <a:xfrm>
            <a:off x="7702106" y="4070831"/>
            <a:ext cx="204908" cy="204908"/>
          </a:xfrm>
          <a:custGeom>
            <a:avLst/>
            <a:gdLst/>
            <a:ahLst/>
            <a:cxnLst/>
            <a:rect l="l" t="t" r="r" b="b"/>
            <a:pathLst>
              <a:path w="204908" h="204908">
                <a:moveTo>
                  <a:pt x="102454" y="0"/>
                </a:moveTo>
                <a:cubicBezTo>
                  <a:pt x="104295" y="0"/>
                  <a:pt x="106136" y="400"/>
                  <a:pt x="107817" y="1161"/>
                </a:cubicBezTo>
                <a:lnTo>
                  <a:pt x="183216" y="33137"/>
                </a:lnTo>
                <a:cubicBezTo>
                  <a:pt x="192021" y="36859"/>
                  <a:pt x="198584" y="45544"/>
                  <a:pt x="198544" y="56029"/>
                </a:cubicBezTo>
                <a:cubicBezTo>
                  <a:pt x="198344" y="95730"/>
                  <a:pt x="182016" y="168368"/>
                  <a:pt x="113059" y="201386"/>
                </a:cubicBezTo>
                <a:cubicBezTo>
                  <a:pt x="106376" y="204587"/>
                  <a:pt x="98612" y="204587"/>
                  <a:pt x="91928" y="201386"/>
                </a:cubicBezTo>
                <a:cubicBezTo>
                  <a:pt x="22932" y="168368"/>
                  <a:pt x="6643" y="95730"/>
                  <a:pt x="6443" y="56029"/>
                </a:cubicBezTo>
                <a:cubicBezTo>
                  <a:pt x="6403" y="45544"/>
                  <a:pt x="12967" y="36859"/>
                  <a:pt x="21771" y="33137"/>
                </a:cubicBezTo>
                <a:lnTo>
                  <a:pt x="97131" y="1161"/>
                </a:lnTo>
                <a:cubicBezTo>
                  <a:pt x="98812" y="400"/>
                  <a:pt x="100613" y="0"/>
                  <a:pt x="102454" y="0"/>
                </a:cubicBezTo>
                <a:close/>
                <a:moveTo>
                  <a:pt x="102454" y="26734"/>
                </a:moveTo>
                <a:lnTo>
                  <a:pt x="102454" y="178053"/>
                </a:lnTo>
                <a:cubicBezTo>
                  <a:pt x="157683" y="151319"/>
                  <a:pt x="172531" y="92088"/>
                  <a:pt x="172891" y="56630"/>
                </a:cubicBezTo>
                <a:lnTo>
                  <a:pt x="102454" y="26774"/>
                </a:lnTo>
                <a:lnTo>
                  <a:pt x="102454" y="2677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/>
          <p:nvPr/>
        </p:nvSpPr>
        <p:spPr>
          <a:xfrm>
            <a:off x="8111921" y="4036679"/>
            <a:ext cx="1895395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3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 Status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603067" y="4518212"/>
            <a:ext cx="4053755" cy="621553"/>
          </a:xfrm>
          <a:custGeom>
            <a:avLst/>
            <a:gdLst/>
            <a:ahLst/>
            <a:cxnLst/>
            <a:rect l="l" t="t" r="r" b="b"/>
            <a:pathLst>
              <a:path w="4053755" h="621553">
                <a:moveTo>
                  <a:pt x="102457" y="0"/>
                </a:moveTo>
                <a:lnTo>
                  <a:pt x="3951298" y="0"/>
                </a:lnTo>
                <a:cubicBezTo>
                  <a:pt x="4007883" y="0"/>
                  <a:pt x="4053755" y="45871"/>
                  <a:pt x="4053755" y="102457"/>
                </a:cubicBezTo>
                <a:lnTo>
                  <a:pt x="4053755" y="519096"/>
                </a:lnTo>
                <a:cubicBezTo>
                  <a:pt x="4053755" y="575681"/>
                  <a:pt x="4007883" y="621553"/>
                  <a:pt x="3951298" y="621553"/>
                </a:cubicBezTo>
                <a:lnTo>
                  <a:pt x="102457" y="621553"/>
                </a:lnTo>
                <a:cubicBezTo>
                  <a:pt x="45871" y="621553"/>
                  <a:pt x="0" y="575681"/>
                  <a:pt x="0" y="519096"/>
                </a:cubicBezTo>
                <a:lnTo>
                  <a:pt x="0" y="102457"/>
                </a:lnTo>
                <a:cubicBezTo>
                  <a:pt x="0" y="45909"/>
                  <a:pt x="45909" y="0"/>
                  <a:pt x="10245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6"/>
          <p:cNvSpPr/>
          <p:nvPr/>
        </p:nvSpPr>
        <p:spPr>
          <a:xfrm>
            <a:off x="7708936" y="4624082"/>
            <a:ext cx="65741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 AI Act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747971" y="4624082"/>
            <a:ext cx="802555" cy="204908"/>
          </a:xfrm>
          <a:custGeom>
            <a:avLst/>
            <a:gdLst/>
            <a:ahLst/>
            <a:cxnLst/>
            <a:rect l="l" t="t" r="r" b="b"/>
            <a:pathLst>
              <a:path w="802555" h="204908">
                <a:moveTo>
                  <a:pt x="102454" y="0"/>
                </a:moveTo>
                <a:lnTo>
                  <a:pt x="700101" y="0"/>
                </a:lnTo>
                <a:cubicBezTo>
                  <a:pt x="756647" y="0"/>
                  <a:pt x="802555" y="45908"/>
                  <a:pt x="802555" y="102454"/>
                </a:cubicBezTo>
                <a:lnTo>
                  <a:pt x="802555" y="102454"/>
                </a:lnTo>
                <a:cubicBezTo>
                  <a:pt x="802555" y="159000"/>
                  <a:pt x="756647" y="204908"/>
                  <a:pt x="700101" y="204908"/>
                </a:cubicBezTo>
                <a:lnTo>
                  <a:pt x="102454" y="204908"/>
                </a:lnTo>
                <a:cubicBezTo>
                  <a:pt x="45908" y="204908"/>
                  <a:pt x="0" y="159000"/>
                  <a:pt x="0" y="102454"/>
                </a:cubicBezTo>
                <a:lnTo>
                  <a:pt x="0" y="102454"/>
                </a:lnTo>
                <a:cubicBezTo>
                  <a:pt x="0" y="45908"/>
                  <a:pt x="45908" y="0"/>
                  <a:pt x="102454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/>
          <p:nvPr/>
        </p:nvSpPr>
        <p:spPr>
          <a:xfrm>
            <a:off x="10747971" y="4624082"/>
            <a:ext cx="853782" cy="204908"/>
          </a:xfrm>
          <a:prstGeom prst="rect">
            <a:avLst/>
          </a:prstGeom>
          <a:noFill/>
          <a:ln/>
        </p:spPr>
        <p:txBody>
          <a:bodyPr wrap="square" lIns="68303" tIns="34151" rIns="68303" bIns="34151" rtlCol="0" anchor="ctr"/>
          <a:lstStyle/>
          <a:p>
            <a:pPr>
              <a:lnSpc>
                <a:spcPct val="110000"/>
              </a:lnSpc>
            </a:pPr>
            <a:r>
              <a:rPr lang="en-US" sz="80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LIMITED-RISK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708936" y="4863140"/>
            <a:ext cx="3901782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Transparency obligations only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603067" y="5249048"/>
            <a:ext cx="4053755" cy="621553"/>
          </a:xfrm>
          <a:custGeom>
            <a:avLst/>
            <a:gdLst/>
            <a:ahLst/>
            <a:cxnLst/>
            <a:rect l="l" t="t" r="r" b="b"/>
            <a:pathLst>
              <a:path w="4053755" h="621553">
                <a:moveTo>
                  <a:pt x="102457" y="0"/>
                </a:moveTo>
                <a:lnTo>
                  <a:pt x="3951298" y="0"/>
                </a:lnTo>
                <a:cubicBezTo>
                  <a:pt x="4007883" y="0"/>
                  <a:pt x="4053755" y="45871"/>
                  <a:pt x="4053755" y="102457"/>
                </a:cubicBezTo>
                <a:lnTo>
                  <a:pt x="4053755" y="519096"/>
                </a:lnTo>
                <a:cubicBezTo>
                  <a:pt x="4053755" y="575681"/>
                  <a:pt x="4007883" y="621553"/>
                  <a:pt x="3951298" y="621553"/>
                </a:cubicBezTo>
                <a:lnTo>
                  <a:pt x="102457" y="621553"/>
                </a:lnTo>
                <a:cubicBezTo>
                  <a:pt x="45871" y="621553"/>
                  <a:pt x="0" y="575681"/>
                  <a:pt x="0" y="519096"/>
                </a:cubicBezTo>
                <a:lnTo>
                  <a:pt x="0" y="102457"/>
                </a:lnTo>
                <a:cubicBezTo>
                  <a:pt x="0" y="45909"/>
                  <a:pt x="45909" y="0"/>
                  <a:pt x="10245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1"/>
          <p:cNvSpPr/>
          <p:nvPr/>
        </p:nvSpPr>
        <p:spPr>
          <a:xfrm>
            <a:off x="7708936" y="5354917"/>
            <a:ext cx="426891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GDPR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0920293" y="5354917"/>
            <a:ext cx="631798" cy="204908"/>
          </a:xfrm>
          <a:custGeom>
            <a:avLst/>
            <a:gdLst/>
            <a:ahLst/>
            <a:cxnLst/>
            <a:rect l="l" t="t" r="r" b="b"/>
            <a:pathLst>
              <a:path w="631798" h="204908">
                <a:moveTo>
                  <a:pt x="102454" y="0"/>
                </a:moveTo>
                <a:lnTo>
                  <a:pt x="529345" y="0"/>
                </a:lnTo>
                <a:cubicBezTo>
                  <a:pt x="585890" y="0"/>
                  <a:pt x="631798" y="45908"/>
                  <a:pt x="631798" y="102454"/>
                </a:cubicBezTo>
                <a:lnTo>
                  <a:pt x="631798" y="102454"/>
                </a:lnTo>
                <a:cubicBezTo>
                  <a:pt x="631798" y="159000"/>
                  <a:pt x="585890" y="204908"/>
                  <a:pt x="529345" y="204908"/>
                </a:cubicBezTo>
                <a:lnTo>
                  <a:pt x="102454" y="204908"/>
                </a:lnTo>
                <a:cubicBezTo>
                  <a:pt x="45908" y="204908"/>
                  <a:pt x="0" y="159000"/>
                  <a:pt x="0" y="102454"/>
                </a:cubicBezTo>
                <a:lnTo>
                  <a:pt x="0" y="102454"/>
                </a:lnTo>
                <a:cubicBezTo>
                  <a:pt x="0" y="45908"/>
                  <a:pt x="45908" y="0"/>
                  <a:pt x="102454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3"/>
          <p:cNvSpPr/>
          <p:nvPr/>
        </p:nvSpPr>
        <p:spPr>
          <a:xfrm>
            <a:off x="10920293" y="5354917"/>
            <a:ext cx="683025" cy="204908"/>
          </a:xfrm>
          <a:prstGeom prst="rect">
            <a:avLst/>
          </a:prstGeom>
          <a:noFill/>
          <a:ln/>
        </p:spPr>
        <p:txBody>
          <a:bodyPr wrap="square" lIns="68303" tIns="34151" rIns="68303" bIns="34151" rtlCol="0" anchor="ctr"/>
          <a:lstStyle/>
          <a:p>
            <a:pPr>
              <a:lnSpc>
                <a:spcPct val="110000"/>
              </a:lnSpc>
            </a:pPr>
            <a:r>
              <a:rPr lang="en-US" sz="80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RISK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708936" y="5593976"/>
            <a:ext cx="3901782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DPIA complete, pre-launch ready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44928" y="6198455"/>
            <a:ext cx="11498729" cy="655704"/>
          </a:xfrm>
          <a:custGeom>
            <a:avLst/>
            <a:gdLst/>
            <a:ahLst/>
            <a:cxnLst/>
            <a:rect l="l" t="t" r="r" b="b"/>
            <a:pathLst>
              <a:path w="11498729" h="655704">
                <a:moveTo>
                  <a:pt x="102454" y="0"/>
                </a:moveTo>
                <a:lnTo>
                  <a:pt x="11396276" y="0"/>
                </a:lnTo>
                <a:cubicBezTo>
                  <a:pt x="11452859" y="0"/>
                  <a:pt x="11498729" y="45870"/>
                  <a:pt x="11498729" y="102454"/>
                </a:cubicBezTo>
                <a:lnTo>
                  <a:pt x="11498729" y="553250"/>
                </a:lnTo>
                <a:cubicBezTo>
                  <a:pt x="11498729" y="609834"/>
                  <a:pt x="11452859" y="655704"/>
                  <a:pt x="11396276" y="655704"/>
                </a:cubicBezTo>
                <a:lnTo>
                  <a:pt x="102454" y="655704"/>
                </a:lnTo>
                <a:cubicBezTo>
                  <a:pt x="45870" y="655704"/>
                  <a:pt x="0" y="609834"/>
                  <a:pt x="0" y="553250"/>
                </a:cubicBezTo>
                <a:lnTo>
                  <a:pt x="0" y="102454"/>
                </a:lnTo>
                <a:cubicBezTo>
                  <a:pt x="0" y="45908"/>
                  <a:pt x="45908" y="0"/>
                  <a:pt x="102454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0160">
            <a:solidFill>
              <a:srgbClr val="F59E0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Shape 36"/>
          <p:cNvSpPr/>
          <p:nvPr/>
        </p:nvSpPr>
        <p:spPr>
          <a:xfrm>
            <a:off x="510561" y="6423851"/>
            <a:ext cx="204908" cy="204908"/>
          </a:xfrm>
          <a:custGeom>
            <a:avLst/>
            <a:gdLst/>
            <a:ahLst/>
            <a:cxnLst/>
            <a:rect l="l" t="t" r="r" b="b"/>
            <a:pathLst>
              <a:path w="204908" h="204908">
                <a:moveTo>
                  <a:pt x="102454" y="0"/>
                </a:moveTo>
                <a:cubicBezTo>
                  <a:pt x="159000" y="0"/>
                  <a:pt x="204908" y="45908"/>
                  <a:pt x="204908" y="102454"/>
                </a:cubicBezTo>
                <a:cubicBezTo>
                  <a:pt x="204908" y="159000"/>
                  <a:pt x="159000" y="204908"/>
                  <a:pt x="102454" y="204908"/>
                </a:cubicBezTo>
                <a:cubicBezTo>
                  <a:pt x="45908" y="204908"/>
                  <a:pt x="0" y="159000"/>
                  <a:pt x="0" y="102454"/>
                </a:cubicBezTo>
                <a:cubicBezTo>
                  <a:pt x="0" y="45908"/>
                  <a:pt x="45908" y="0"/>
                  <a:pt x="102454" y="0"/>
                </a:cubicBezTo>
                <a:close/>
                <a:moveTo>
                  <a:pt x="92849" y="48025"/>
                </a:moveTo>
                <a:lnTo>
                  <a:pt x="92849" y="102454"/>
                </a:lnTo>
                <a:cubicBezTo>
                  <a:pt x="92849" y="105655"/>
                  <a:pt x="94450" y="108657"/>
                  <a:pt x="97131" y="110458"/>
                </a:cubicBezTo>
                <a:lnTo>
                  <a:pt x="135551" y="136071"/>
                </a:lnTo>
                <a:cubicBezTo>
                  <a:pt x="139953" y="139033"/>
                  <a:pt x="145917" y="137832"/>
                  <a:pt x="148878" y="133390"/>
                </a:cubicBezTo>
                <a:cubicBezTo>
                  <a:pt x="151840" y="128948"/>
                  <a:pt x="150639" y="123025"/>
                  <a:pt x="146197" y="120063"/>
                </a:cubicBezTo>
                <a:lnTo>
                  <a:pt x="112059" y="97331"/>
                </a:lnTo>
                <a:lnTo>
                  <a:pt x="112059" y="48025"/>
                </a:lnTo>
                <a:cubicBezTo>
                  <a:pt x="112059" y="42702"/>
                  <a:pt x="107777" y="38420"/>
                  <a:pt x="102454" y="38420"/>
                </a:cubicBezTo>
                <a:cubicBezTo>
                  <a:pt x="97131" y="38420"/>
                  <a:pt x="92849" y="42702"/>
                  <a:pt x="92849" y="48025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Text 37"/>
          <p:cNvSpPr/>
          <p:nvPr/>
        </p:nvSpPr>
        <p:spPr>
          <a:xfrm>
            <a:off x="877687" y="6338473"/>
            <a:ext cx="3491966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Timeline: 6-8 weeks POC → Production MVP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77687" y="6543381"/>
            <a:ext cx="3483429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yet implemented: Auth, Payments, Dashboard UI, Rate limiting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76300" y="476250"/>
            <a:ext cx="1924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Projections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Business Case — ROI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3335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Three-scenario financial modeling with conservative planning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1790700"/>
            <a:ext cx="4572000" cy="4686300"/>
          </a:xfrm>
          <a:custGeom>
            <a:avLst/>
            <a:gdLst/>
            <a:ahLst/>
            <a:cxnLst/>
            <a:rect l="l" t="t" r="r" b="b"/>
            <a:pathLst>
              <a:path w="4572000" h="4686300">
                <a:moveTo>
                  <a:pt x="152385" y="0"/>
                </a:moveTo>
                <a:lnTo>
                  <a:pt x="4419615" y="0"/>
                </a:lnTo>
                <a:cubicBezTo>
                  <a:pt x="4503775" y="0"/>
                  <a:pt x="4572000" y="68225"/>
                  <a:pt x="4572000" y="152385"/>
                </a:cubicBezTo>
                <a:lnTo>
                  <a:pt x="4572000" y="4533915"/>
                </a:lnTo>
                <a:cubicBezTo>
                  <a:pt x="4572000" y="4618075"/>
                  <a:pt x="4503775" y="4686300"/>
                  <a:pt x="4419615" y="4686300"/>
                </a:cubicBezTo>
                <a:lnTo>
                  <a:pt x="152385" y="4686300"/>
                </a:lnTo>
                <a:cubicBezTo>
                  <a:pt x="68225" y="4686300"/>
                  <a:pt x="0" y="4618075"/>
                  <a:pt x="0" y="4533915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09600" y="2038350"/>
            <a:ext cx="422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Optimistic Scenario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" y="2495550"/>
            <a:ext cx="4114800" cy="1752600"/>
          </a:xfrm>
          <a:custGeom>
            <a:avLst/>
            <a:gdLst/>
            <a:ahLst/>
            <a:cxnLst/>
            <a:rect l="l" t="t" r="r" b="b"/>
            <a:pathLst>
              <a:path w="4114800" h="1752600">
                <a:moveTo>
                  <a:pt x="114305" y="0"/>
                </a:moveTo>
                <a:lnTo>
                  <a:pt x="4000495" y="0"/>
                </a:lnTo>
                <a:cubicBezTo>
                  <a:pt x="4063624" y="0"/>
                  <a:pt x="4114800" y="51176"/>
                  <a:pt x="4114800" y="114305"/>
                </a:cubicBezTo>
                <a:lnTo>
                  <a:pt x="4114800" y="1638295"/>
                </a:lnTo>
                <a:cubicBezTo>
                  <a:pt x="4114800" y="1701424"/>
                  <a:pt x="4063624" y="1752600"/>
                  <a:pt x="40004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62000" y="2686050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Setup Cost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4449" y="2647950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$1,000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067050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ARPU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53485" y="3028950"/>
            <a:ext cx="933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$29/mo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448050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88301" y="3409950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3829050"/>
            <a:ext cx="33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LTV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78288" y="379095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$575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4400550"/>
            <a:ext cx="2000250" cy="800100"/>
          </a:xfrm>
          <a:custGeom>
            <a:avLst/>
            <a:gdLst/>
            <a:ahLst/>
            <a:cxnLst/>
            <a:rect l="l" t="t" r="r" b="b"/>
            <a:pathLst>
              <a:path w="2000250" h="800100">
                <a:moveTo>
                  <a:pt x="114302" y="0"/>
                </a:moveTo>
                <a:lnTo>
                  <a:pt x="1885948" y="0"/>
                </a:lnTo>
                <a:cubicBezTo>
                  <a:pt x="1949033" y="0"/>
                  <a:pt x="2000250" y="51217"/>
                  <a:pt x="2000250" y="114302"/>
                </a:cubicBezTo>
                <a:lnTo>
                  <a:pt x="2000250" y="685798"/>
                </a:lnTo>
                <a:cubicBezTo>
                  <a:pt x="2000250" y="748883"/>
                  <a:pt x="1949033" y="800100"/>
                  <a:pt x="18859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90563" y="4514850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LTV/CAC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2463" y="4743450"/>
            <a:ext cx="1914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10.5x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724150" y="4400550"/>
            <a:ext cx="2000250" cy="800100"/>
          </a:xfrm>
          <a:custGeom>
            <a:avLst/>
            <a:gdLst/>
            <a:ahLst/>
            <a:cxnLst/>
            <a:rect l="l" t="t" r="r" b="b"/>
            <a:pathLst>
              <a:path w="2000250" h="800100">
                <a:moveTo>
                  <a:pt x="114302" y="0"/>
                </a:moveTo>
                <a:lnTo>
                  <a:pt x="1885948" y="0"/>
                </a:lnTo>
                <a:cubicBezTo>
                  <a:pt x="1949033" y="0"/>
                  <a:pt x="2000250" y="51217"/>
                  <a:pt x="2000250" y="114302"/>
                </a:cubicBezTo>
                <a:lnTo>
                  <a:pt x="2000250" y="685798"/>
                </a:lnTo>
                <a:cubicBezTo>
                  <a:pt x="2000250" y="748883"/>
                  <a:pt x="1949033" y="800100"/>
                  <a:pt x="1885948" y="800100"/>
                </a:cubicBezTo>
                <a:lnTo>
                  <a:pt x="114302" y="800100"/>
                </a:lnTo>
                <a:cubicBezTo>
                  <a:pt x="51217" y="800100"/>
                  <a:pt x="0" y="748883"/>
                  <a:pt x="0" y="6857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2805113" y="4514850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Margin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67013" y="4743450"/>
            <a:ext cx="1914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79.3%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600" y="5353050"/>
            <a:ext cx="4114800" cy="876300"/>
          </a:xfrm>
          <a:custGeom>
            <a:avLst/>
            <a:gdLst/>
            <a:ahLst/>
            <a:cxnLst/>
            <a:rect l="l" t="t" r="r" b="b"/>
            <a:pathLst>
              <a:path w="4114800" h="876300">
                <a:moveTo>
                  <a:pt x="114296" y="0"/>
                </a:moveTo>
                <a:lnTo>
                  <a:pt x="4000504" y="0"/>
                </a:lnTo>
                <a:cubicBezTo>
                  <a:pt x="4063628" y="0"/>
                  <a:pt x="4114800" y="51172"/>
                  <a:pt x="4114800" y="114296"/>
                </a:cubicBezTo>
                <a:lnTo>
                  <a:pt x="4114800" y="762004"/>
                </a:lnTo>
                <a:cubicBezTo>
                  <a:pt x="4114800" y="825128"/>
                  <a:pt x="4063628" y="876300"/>
                  <a:pt x="4000504" y="876300"/>
                </a:cubicBezTo>
                <a:lnTo>
                  <a:pt x="114296" y="876300"/>
                </a:lnTo>
                <a:cubicBezTo>
                  <a:pt x="51172" y="876300"/>
                  <a:pt x="0" y="825128"/>
                  <a:pt x="0" y="76200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762000" y="5562600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Break-Even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5753100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13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95028" y="550545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 (36mo)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90253" y="5695950"/>
            <a:ext cx="1285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+67.9%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47310" y="1794510"/>
            <a:ext cx="6656070" cy="4674870"/>
          </a:xfrm>
          <a:custGeom>
            <a:avLst/>
            <a:gdLst/>
            <a:ahLst/>
            <a:cxnLst/>
            <a:rect l="l" t="t" r="r" b="b"/>
            <a:pathLst>
              <a:path w="6656070" h="4674870">
                <a:moveTo>
                  <a:pt x="152401" y="0"/>
                </a:moveTo>
                <a:lnTo>
                  <a:pt x="6503669" y="0"/>
                </a:lnTo>
                <a:cubicBezTo>
                  <a:pt x="6587838" y="0"/>
                  <a:pt x="6656070" y="68232"/>
                  <a:pt x="6656070" y="152401"/>
                </a:cubicBezTo>
                <a:lnTo>
                  <a:pt x="6656070" y="4522469"/>
                </a:lnTo>
                <a:cubicBezTo>
                  <a:pt x="6656070" y="4606638"/>
                  <a:pt x="6587838" y="4674870"/>
                  <a:pt x="6503669" y="4674870"/>
                </a:cubicBezTo>
                <a:lnTo>
                  <a:pt x="152401" y="4674870"/>
                </a:lnTo>
                <a:cubicBezTo>
                  <a:pt x="68232" y="4674870"/>
                  <a:pt x="0" y="4606638"/>
                  <a:pt x="0" y="4522469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64748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5151120" y="1798320"/>
            <a:ext cx="6648450" cy="457200"/>
          </a:xfrm>
          <a:custGeom>
            <a:avLst/>
            <a:gdLst/>
            <a:ahLst/>
            <a:cxnLst/>
            <a:rect l="l" t="t" r="r" b="b"/>
            <a:pathLst>
              <a:path w="6648450" h="457200">
                <a:moveTo>
                  <a:pt x="0" y="0"/>
                </a:moveTo>
                <a:lnTo>
                  <a:pt x="6648450" y="0"/>
                </a:lnTo>
                <a:lnTo>
                  <a:pt x="664845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5341620" y="1912620"/>
            <a:ext cx="634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Three-Scenario Comparison</a:t>
            </a:r>
            <a:endParaRPr lang="en-US" sz="1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1620" y="2446020"/>
          <a:ext cx="6267450" cy="3028950"/>
        </p:xfrm>
        <a:graphic>
          <a:graphicData uri="http://schemas.openxmlformats.org/drawingml/2006/table">
            <a:tbl>
              <a:tblPr/>
              <a:tblGrid>
                <a:gridCol w="177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Metric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F44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Pessimistic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Base Case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Optimistic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Break-Even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F44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reached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Month 27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Month 13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03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Users (M36)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1,160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53,472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MRR (M36)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$594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$26,689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0F172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$1.55M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ROI (36mo)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F44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-73.1%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+11.4%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+67.9%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lang="en-US" sz="1000" b="1" u="none" dirty="0">
                          <a:solidFill>
                            <a:srgbClr val="6474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LTV/CAC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14300" marR="1143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F44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0.9x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59E0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4.4x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10B98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10.5x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5341620" y="5627369"/>
            <a:ext cx="6267450" cy="7620"/>
          </a:xfrm>
          <a:custGeom>
            <a:avLst/>
            <a:gdLst/>
            <a:ahLst/>
            <a:cxnLst/>
            <a:rect l="l" t="t" r="r" b="b"/>
            <a:pathLst>
              <a:path w="6267450" h="7620">
                <a:moveTo>
                  <a:pt x="0" y="0"/>
                </a:moveTo>
                <a:lnTo>
                  <a:pt x="6267450" y="0"/>
                </a:lnTo>
                <a:lnTo>
                  <a:pt x="62674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64748B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Shape 31"/>
          <p:cNvSpPr/>
          <p:nvPr/>
        </p:nvSpPr>
        <p:spPr>
          <a:xfrm>
            <a:off x="5341620" y="5783580"/>
            <a:ext cx="6267450" cy="495300"/>
          </a:xfrm>
          <a:custGeom>
            <a:avLst/>
            <a:gdLst/>
            <a:ahLst/>
            <a:cxnLst/>
            <a:rect l="l" t="t" r="r" b="b"/>
            <a:pathLst>
              <a:path w="6267450" h="495300">
                <a:moveTo>
                  <a:pt x="114300" y="0"/>
                </a:moveTo>
                <a:lnTo>
                  <a:pt x="6153150" y="0"/>
                </a:lnTo>
                <a:cubicBezTo>
                  <a:pt x="6216276" y="0"/>
                  <a:pt x="6267450" y="51174"/>
                  <a:pt x="6267450" y="114300"/>
                </a:cubicBezTo>
                <a:lnTo>
                  <a:pt x="6267450" y="381000"/>
                </a:lnTo>
                <a:cubicBezTo>
                  <a:pt x="6267450" y="444126"/>
                  <a:pt x="6216276" y="495300"/>
                  <a:pt x="6153150" y="495300"/>
                </a:cubicBezTo>
                <a:lnTo>
                  <a:pt x="114300" y="495300"/>
                </a:lnTo>
                <a:cubicBezTo>
                  <a:pt x="51174" y="495300"/>
                  <a:pt x="0" y="444126"/>
                  <a:pt x="0" y="3810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Shape 32"/>
          <p:cNvSpPr/>
          <p:nvPr/>
        </p:nvSpPr>
        <p:spPr>
          <a:xfrm>
            <a:off x="5517832" y="59359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3"/>
          <p:cNvSpPr/>
          <p:nvPr/>
        </p:nvSpPr>
        <p:spPr>
          <a:xfrm>
            <a:off x="5846445" y="5935980"/>
            <a:ext cx="414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Conservative Planning:</a:t>
            </a:r>
            <a:r>
              <a:rPr lang="en-US" sz="105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 Case (+11.4% ROI) more realistic pre-PMF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321" y="340321"/>
            <a:ext cx="340321" cy="340321"/>
          </a:xfrm>
          <a:custGeom>
            <a:avLst/>
            <a:gdLst/>
            <a:ahLst/>
            <a:cxnLst/>
            <a:rect l="l" t="t" r="r" b="b"/>
            <a:pathLst>
              <a:path w="340321" h="340321">
                <a:moveTo>
                  <a:pt x="68064" y="0"/>
                </a:moveTo>
                <a:lnTo>
                  <a:pt x="272257" y="0"/>
                </a:lnTo>
                <a:cubicBezTo>
                  <a:pt x="309848" y="0"/>
                  <a:pt x="340321" y="30473"/>
                  <a:pt x="340321" y="68064"/>
                </a:cubicBezTo>
                <a:lnTo>
                  <a:pt x="340321" y="272257"/>
                </a:lnTo>
                <a:cubicBezTo>
                  <a:pt x="340321" y="309848"/>
                  <a:pt x="309848" y="340321"/>
                  <a:pt x="272257" y="340321"/>
                </a:cubicBezTo>
                <a:lnTo>
                  <a:pt x="68064" y="340321"/>
                </a:lnTo>
                <a:cubicBezTo>
                  <a:pt x="30473" y="340321"/>
                  <a:pt x="0" y="309848"/>
                  <a:pt x="0" y="272257"/>
                </a:cubicBezTo>
                <a:lnTo>
                  <a:pt x="0" y="68064"/>
                </a:lnTo>
                <a:cubicBezTo>
                  <a:pt x="0" y="30473"/>
                  <a:pt x="30473" y="0"/>
                  <a:pt x="68064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36036" y="433909"/>
            <a:ext cx="153144" cy="153144"/>
          </a:xfrm>
          <a:custGeom>
            <a:avLst/>
            <a:gdLst/>
            <a:ahLst/>
            <a:cxnLst/>
            <a:rect l="l" t="t" r="r" b="b"/>
            <a:pathLst>
              <a:path w="153144" h="153144">
                <a:moveTo>
                  <a:pt x="76572" y="0"/>
                </a:moveTo>
                <a:cubicBezTo>
                  <a:pt x="80969" y="0"/>
                  <a:pt x="85007" y="2423"/>
                  <a:pt x="87101" y="6281"/>
                </a:cubicBezTo>
                <a:lnTo>
                  <a:pt x="151709" y="125925"/>
                </a:lnTo>
                <a:cubicBezTo>
                  <a:pt x="153713" y="129634"/>
                  <a:pt x="153623" y="134121"/>
                  <a:pt x="151469" y="137740"/>
                </a:cubicBezTo>
                <a:cubicBezTo>
                  <a:pt x="149316" y="141360"/>
                  <a:pt x="145397" y="143573"/>
                  <a:pt x="141180" y="143573"/>
                </a:cubicBezTo>
                <a:lnTo>
                  <a:pt x="11964" y="143573"/>
                </a:lnTo>
                <a:cubicBezTo>
                  <a:pt x="7747" y="143573"/>
                  <a:pt x="3859" y="141360"/>
                  <a:pt x="1675" y="137740"/>
                </a:cubicBezTo>
                <a:cubicBezTo>
                  <a:pt x="-508" y="134121"/>
                  <a:pt x="-568" y="129634"/>
                  <a:pt x="1436" y="125925"/>
                </a:cubicBezTo>
                <a:lnTo>
                  <a:pt x="66044" y="6281"/>
                </a:lnTo>
                <a:cubicBezTo>
                  <a:pt x="68137" y="2423"/>
                  <a:pt x="72175" y="0"/>
                  <a:pt x="76572" y="0"/>
                </a:cubicBezTo>
                <a:close/>
                <a:moveTo>
                  <a:pt x="76572" y="50251"/>
                </a:moveTo>
                <a:cubicBezTo>
                  <a:pt x="72594" y="50251"/>
                  <a:pt x="69394" y="53451"/>
                  <a:pt x="69394" y="57429"/>
                </a:cubicBezTo>
                <a:lnTo>
                  <a:pt x="69394" y="90930"/>
                </a:lnTo>
                <a:cubicBezTo>
                  <a:pt x="69394" y="94908"/>
                  <a:pt x="72594" y="98108"/>
                  <a:pt x="76572" y="98108"/>
                </a:cubicBezTo>
                <a:cubicBezTo>
                  <a:pt x="80550" y="98108"/>
                  <a:pt x="83751" y="94908"/>
                  <a:pt x="83751" y="90930"/>
                </a:cubicBezTo>
                <a:lnTo>
                  <a:pt x="83751" y="57429"/>
                </a:lnTo>
                <a:cubicBezTo>
                  <a:pt x="83751" y="53451"/>
                  <a:pt x="80550" y="50251"/>
                  <a:pt x="76572" y="50251"/>
                </a:cubicBezTo>
                <a:close/>
                <a:moveTo>
                  <a:pt x="84558" y="114858"/>
                </a:moveTo>
                <a:cubicBezTo>
                  <a:pt x="84740" y="111894"/>
                  <a:pt x="83262" y="109074"/>
                  <a:pt x="80721" y="107536"/>
                </a:cubicBezTo>
                <a:cubicBezTo>
                  <a:pt x="78179" y="105999"/>
                  <a:pt x="74995" y="105999"/>
                  <a:pt x="72454" y="107536"/>
                </a:cubicBezTo>
                <a:cubicBezTo>
                  <a:pt x="69913" y="109074"/>
                  <a:pt x="68434" y="111894"/>
                  <a:pt x="68616" y="114858"/>
                </a:cubicBezTo>
                <a:cubicBezTo>
                  <a:pt x="68434" y="117823"/>
                  <a:pt x="69913" y="120643"/>
                  <a:pt x="72454" y="122180"/>
                </a:cubicBezTo>
                <a:cubicBezTo>
                  <a:pt x="74995" y="123717"/>
                  <a:pt x="78179" y="123717"/>
                  <a:pt x="80721" y="122180"/>
                </a:cubicBezTo>
                <a:cubicBezTo>
                  <a:pt x="83262" y="120643"/>
                  <a:pt x="84740" y="117823"/>
                  <a:pt x="84558" y="114858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82738" y="425401"/>
            <a:ext cx="1352776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kern="0" spc="94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0321" y="782738"/>
            <a:ext cx="11664502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2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 &amp; Mitigation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0321" y="1191124"/>
            <a:ext cx="11587930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4 critical risks with mitigation strategies and residual scores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127" y="1606315"/>
            <a:ext cx="5671450" cy="2157635"/>
          </a:xfrm>
          <a:custGeom>
            <a:avLst/>
            <a:gdLst/>
            <a:ahLst/>
            <a:cxnLst/>
            <a:rect l="l" t="t" r="r" b="b"/>
            <a:pathLst>
              <a:path w="5671450" h="2157635">
                <a:moveTo>
                  <a:pt x="102099" y="0"/>
                </a:moveTo>
                <a:lnTo>
                  <a:pt x="5569350" y="0"/>
                </a:lnTo>
                <a:cubicBezTo>
                  <a:pt x="5625738" y="0"/>
                  <a:pt x="5671450" y="45711"/>
                  <a:pt x="5671450" y="102099"/>
                </a:cubicBezTo>
                <a:lnTo>
                  <a:pt x="5671450" y="2055536"/>
                </a:lnTo>
                <a:cubicBezTo>
                  <a:pt x="5671450" y="2111924"/>
                  <a:pt x="5625738" y="2157635"/>
                  <a:pt x="5569350" y="2157635"/>
                </a:cubicBezTo>
                <a:lnTo>
                  <a:pt x="102099" y="2157635"/>
                </a:lnTo>
                <a:cubicBezTo>
                  <a:pt x="45711" y="2157635"/>
                  <a:pt x="0" y="2111924"/>
                  <a:pt x="0" y="2055536"/>
                </a:cubicBezTo>
                <a:lnTo>
                  <a:pt x="0" y="102099"/>
                </a:lnTo>
                <a:cubicBezTo>
                  <a:pt x="0" y="45749"/>
                  <a:pt x="45749" y="0"/>
                  <a:pt x="102099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EF444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24094" y="1783283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102096" y="0"/>
                </a:moveTo>
                <a:lnTo>
                  <a:pt x="306289" y="0"/>
                </a:lnTo>
                <a:cubicBezTo>
                  <a:pt x="362675" y="0"/>
                  <a:pt x="408385" y="45710"/>
                  <a:pt x="408385" y="102096"/>
                </a:cubicBezTo>
                <a:lnTo>
                  <a:pt x="408385" y="306289"/>
                </a:lnTo>
                <a:cubicBezTo>
                  <a:pt x="408385" y="362675"/>
                  <a:pt x="362675" y="408385"/>
                  <a:pt x="306289" y="408385"/>
                </a:cubicBezTo>
                <a:lnTo>
                  <a:pt x="102096" y="408385"/>
                </a:lnTo>
                <a:cubicBezTo>
                  <a:pt x="45710" y="408385"/>
                  <a:pt x="0" y="362675"/>
                  <a:pt x="0" y="306289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632572" y="1902395"/>
            <a:ext cx="191431" cy="170161"/>
          </a:xfrm>
          <a:custGeom>
            <a:avLst/>
            <a:gdLst/>
            <a:ahLst/>
            <a:cxnLst/>
            <a:rect l="l" t="t" r="r" b="b"/>
            <a:pathLst>
              <a:path w="191431" h="170161">
                <a:moveTo>
                  <a:pt x="56366" y="50982"/>
                </a:moveTo>
                <a:lnTo>
                  <a:pt x="50151" y="44767"/>
                </a:lnTo>
                <a:cubicBezTo>
                  <a:pt x="45997" y="40613"/>
                  <a:pt x="45997" y="33866"/>
                  <a:pt x="50151" y="29712"/>
                </a:cubicBezTo>
                <a:lnTo>
                  <a:pt x="88271" y="-8442"/>
                </a:lnTo>
                <a:cubicBezTo>
                  <a:pt x="92425" y="-12596"/>
                  <a:pt x="99172" y="-12596"/>
                  <a:pt x="103326" y="-8442"/>
                </a:cubicBezTo>
                <a:lnTo>
                  <a:pt x="109541" y="-2193"/>
                </a:lnTo>
                <a:cubicBezTo>
                  <a:pt x="113695" y="1961"/>
                  <a:pt x="113695" y="8707"/>
                  <a:pt x="109541" y="12862"/>
                </a:cubicBezTo>
                <a:lnTo>
                  <a:pt x="71421" y="50982"/>
                </a:lnTo>
                <a:cubicBezTo>
                  <a:pt x="67267" y="55136"/>
                  <a:pt x="60520" y="55136"/>
                  <a:pt x="56366" y="50982"/>
                </a:cubicBezTo>
                <a:close/>
                <a:moveTo>
                  <a:pt x="91727" y="70357"/>
                </a:moveTo>
                <a:lnTo>
                  <a:pt x="81292" y="59922"/>
                </a:lnTo>
                <a:lnTo>
                  <a:pt x="118514" y="22699"/>
                </a:lnTo>
                <a:lnTo>
                  <a:pt x="158196" y="62381"/>
                </a:lnTo>
                <a:lnTo>
                  <a:pt x="120973" y="99604"/>
                </a:lnTo>
                <a:lnTo>
                  <a:pt x="110538" y="89168"/>
                </a:lnTo>
                <a:lnTo>
                  <a:pt x="33434" y="166272"/>
                </a:lnTo>
                <a:cubicBezTo>
                  <a:pt x="28249" y="171457"/>
                  <a:pt x="19841" y="171457"/>
                  <a:pt x="14623" y="166272"/>
                </a:cubicBezTo>
                <a:cubicBezTo>
                  <a:pt x="9405" y="161087"/>
                  <a:pt x="9439" y="152679"/>
                  <a:pt x="14623" y="147461"/>
                </a:cubicBezTo>
                <a:lnTo>
                  <a:pt x="91727" y="70357"/>
                </a:lnTo>
                <a:close/>
                <a:moveTo>
                  <a:pt x="129914" y="124496"/>
                </a:moveTo>
                <a:cubicBezTo>
                  <a:pt x="125759" y="120342"/>
                  <a:pt x="125759" y="113595"/>
                  <a:pt x="129914" y="109441"/>
                </a:cubicBezTo>
                <a:lnTo>
                  <a:pt x="168033" y="71321"/>
                </a:lnTo>
                <a:cubicBezTo>
                  <a:pt x="172188" y="67167"/>
                  <a:pt x="178934" y="67167"/>
                  <a:pt x="183089" y="71321"/>
                </a:cubicBezTo>
                <a:lnTo>
                  <a:pt x="189304" y="77536"/>
                </a:lnTo>
                <a:cubicBezTo>
                  <a:pt x="193458" y="81690"/>
                  <a:pt x="193458" y="88437"/>
                  <a:pt x="189304" y="92591"/>
                </a:cubicBezTo>
                <a:lnTo>
                  <a:pt x="151184" y="130744"/>
                </a:lnTo>
                <a:cubicBezTo>
                  <a:pt x="147029" y="134899"/>
                  <a:pt x="140283" y="134899"/>
                  <a:pt x="136128" y="130744"/>
                </a:cubicBezTo>
                <a:lnTo>
                  <a:pt x="129914" y="12453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1034576" y="1783283"/>
            <a:ext cx="2186562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R1: GDPR Non-Compliance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4576" y="2021508"/>
            <a:ext cx="216103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Score: 20/25 → 10/25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96276" y="1783283"/>
            <a:ext cx="646610" cy="204193"/>
          </a:xfrm>
          <a:custGeom>
            <a:avLst/>
            <a:gdLst/>
            <a:ahLst/>
            <a:cxnLst/>
            <a:rect l="l" t="t" r="r" b="b"/>
            <a:pathLst>
              <a:path w="646610" h="204193">
                <a:moveTo>
                  <a:pt x="102096" y="0"/>
                </a:moveTo>
                <a:lnTo>
                  <a:pt x="544514" y="0"/>
                </a:lnTo>
                <a:cubicBezTo>
                  <a:pt x="600900" y="0"/>
                  <a:pt x="646610" y="45710"/>
                  <a:pt x="646610" y="102096"/>
                </a:cubicBezTo>
                <a:lnTo>
                  <a:pt x="646610" y="102096"/>
                </a:lnTo>
                <a:cubicBezTo>
                  <a:pt x="646610" y="158483"/>
                  <a:pt x="600900" y="204193"/>
                  <a:pt x="544514" y="204193"/>
                </a:cubicBezTo>
                <a:lnTo>
                  <a:pt x="102096" y="204193"/>
                </a:lnTo>
                <a:cubicBezTo>
                  <a:pt x="45748" y="204193"/>
                  <a:pt x="0" y="158445"/>
                  <a:pt x="0" y="102096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196276" y="1783283"/>
            <a:ext cx="697658" cy="204193"/>
          </a:xfrm>
          <a:prstGeom prst="rect">
            <a:avLst/>
          </a:prstGeom>
          <a:noFill/>
          <a:ln/>
        </p:spPr>
        <p:txBody>
          <a:bodyPr wrap="square" lIns="102096" tIns="34032" rIns="102096" bIns="34032" rtlCol="0" anchor="ctr"/>
          <a:lstStyle/>
          <a:p>
            <a:pPr>
              <a:lnSpc>
                <a:spcPct val="110000"/>
              </a:lnSpc>
            </a:pPr>
            <a:r>
              <a:rPr lang="en-US" sz="80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4094" y="2327797"/>
            <a:ext cx="5317516" cy="578546"/>
          </a:xfrm>
          <a:custGeom>
            <a:avLst/>
            <a:gdLst/>
            <a:ahLst/>
            <a:cxnLst/>
            <a:rect l="l" t="t" r="r" b="b"/>
            <a:pathLst>
              <a:path w="5317516" h="578546">
                <a:moveTo>
                  <a:pt x="68066" y="0"/>
                </a:moveTo>
                <a:lnTo>
                  <a:pt x="5249450" y="0"/>
                </a:lnTo>
                <a:cubicBezTo>
                  <a:pt x="5287042" y="0"/>
                  <a:pt x="5317516" y="30474"/>
                  <a:pt x="5317516" y="68066"/>
                </a:cubicBezTo>
                <a:lnTo>
                  <a:pt x="5317516" y="510480"/>
                </a:lnTo>
                <a:cubicBezTo>
                  <a:pt x="5317516" y="548072"/>
                  <a:pt x="5287042" y="578546"/>
                  <a:pt x="5249450" y="578546"/>
                </a:cubicBezTo>
                <a:lnTo>
                  <a:pt x="68066" y="578546"/>
                </a:lnTo>
                <a:cubicBezTo>
                  <a:pt x="30474" y="578546"/>
                  <a:pt x="0" y="548072"/>
                  <a:pt x="0" y="510480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solidFill>
            <a:srgbClr val="EF4444">
              <a:alpha val="5098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26191" y="2429893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191" y="2634085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€20M fine, platform suspension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4094" y="3008439"/>
            <a:ext cx="5317516" cy="578546"/>
          </a:xfrm>
          <a:custGeom>
            <a:avLst/>
            <a:gdLst/>
            <a:ahLst/>
            <a:cxnLst/>
            <a:rect l="l" t="t" r="r" b="b"/>
            <a:pathLst>
              <a:path w="5317516" h="578546">
                <a:moveTo>
                  <a:pt x="68066" y="0"/>
                </a:moveTo>
                <a:lnTo>
                  <a:pt x="5249450" y="0"/>
                </a:lnTo>
                <a:cubicBezTo>
                  <a:pt x="5287042" y="0"/>
                  <a:pt x="5317516" y="30474"/>
                  <a:pt x="5317516" y="68066"/>
                </a:cubicBezTo>
                <a:lnTo>
                  <a:pt x="5317516" y="510480"/>
                </a:lnTo>
                <a:cubicBezTo>
                  <a:pt x="5317516" y="548072"/>
                  <a:pt x="5287042" y="578546"/>
                  <a:pt x="5249450" y="578546"/>
                </a:cubicBezTo>
                <a:lnTo>
                  <a:pt x="68066" y="578546"/>
                </a:lnTo>
                <a:cubicBezTo>
                  <a:pt x="30474" y="578546"/>
                  <a:pt x="0" y="548072"/>
                  <a:pt x="0" y="510480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26191" y="3110535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191" y="3314727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review €1K, sign DPAs, cookie consent (Month 3)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0445" y="1606315"/>
            <a:ext cx="5671450" cy="2157635"/>
          </a:xfrm>
          <a:custGeom>
            <a:avLst/>
            <a:gdLst/>
            <a:ahLst/>
            <a:cxnLst/>
            <a:rect l="l" t="t" r="r" b="b"/>
            <a:pathLst>
              <a:path w="5671450" h="2157635">
                <a:moveTo>
                  <a:pt x="102099" y="0"/>
                </a:moveTo>
                <a:lnTo>
                  <a:pt x="5569350" y="0"/>
                </a:lnTo>
                <a:cubicBezTo>
                  <a:pt x="5625738" y="0"/>
                  <a:pt x="5671450" y="45711"/>
                  <a:pt x="5671450" y="102099"/>
                </a:cubicBezTo>
                <a:lnTo>
                  <a:pt x="5671450" y="2055536"/>
                </a:lnTo>
                <a:cubicBezTo>
                  <a:pt x="5671450" y="2111924"/>
                  <a:pt x="5625738" y="2157635"/>
                  <a:pt x="5569350" y="2157635"/>
                </a:cubicBezTo>
                <a:lnTo>
                  <a:pt x="102099" y="2157635"/>
                </a:lnTo>
                <a:cubicBezTo>
                  <a:pt x="45711" y="2157635"/>
                  <a:pt x="0" y="2111924"/>
                  <a:pt x="0" y="2055536"/>
                </a:cubicBezTo>
                <a:lnTo>
                  <a:pt x="0" y="102099"/>
                </a:lnTo>
                <a:cubicBezTo>
                  <a:pt x="0" y="45749"/>
                  <a:pt x="45749" y="0"/>
                  <a:pt x="102099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EF444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6347412" y="1783283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102096" y="0"/>
                </a:moveTo>
                <a:lnTo>
                  <a:pt x="306289" y="0"/>
                </a:lnTo>
                <a:cubicBezTo>
                  <a:pt x="362675" y="0"/>
                  <a:pt x="408385" y="45710"/>
                  <a:pt x="408385" y="102096"/>
                </a:cubicBezTo>
                <a:lnTo>
                  <a:pt x="408385" y="306289"/>
                </a:lnTo>
                <a:cubicBezTo>
                  <a:pt x="408385" y="362675"/>
                  <a:pt x="362675" y="408385"/>
                  <a:pt x="306289" y="408385"/>
                </a:cubicBezTo>
                <a:lnTo>
                  <a:pt x="102096" y="408385"/>
                </a:lnTo>
                <a:cubicBezTo>
                  <a:pt x="45710" y="408385"/>
                  <a:pt x="0" y="362675"/>
                  <a:pt x="0" y="306289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6466524" y="1902395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84216" y="964"/>
                </a:moveTo>
                <a:cubicBezTo>
                  <a:pt x="82820" y="332"/>
                  <a:pt x="81325" y="0"/>
                  <a:pt x="79763" y="0"/>
                </a:cubicBezTo>
                <a:cubicBezTo>
                  <a:pt x="78201" y="0"/>
                  <a:pt x="76705" y="332"/>
                  <a:pt x="75309" y="964"/>
                </a:cubicBezTo>
                <a:lnTo>
                  <a:pt x="12729" y="27518"/>
                </a:lnTo>
                <a:cubicBezTo>
                  <a:pt x="5417" y="30609"/>
                  <a:pt x="-33" y="37821"/>
                  <a:pt x="0" y="46528"/>
                </a:cubicBezTo>
                <a:cubicBezTo>
                  <a:pt x="166" y="79497"/>
                  <a:pt x="13726" y="139817"/>
                  <a:pt x="70989" y="167236"/>
                </a:cubicBezTo>
                <a:cubicBezTo>
                  <a:pt x="76539" y="169895"/>
                  <a:pt x="82986" y="169895"/>
                  <a:pt x="88537" y="167236"/>
                </a:cubicBezTo>
                <a:cubicBezTo>
                  <a:pt x="145833" y="139817"/>
                  <a:pt x="159393" y="79497"/>
                  <a:pt x="159525" y="46528"/>
                </a:cubicBezTo>
                <a:cubicBezTo>
                  <a:pt x="159559" y="37821"/>
                  <a:pt x="154108" y="30609"/>
                  <a:pt x="146797" y="27518"/>
                </a:cubicBezTo>
                <a:lnTo>
                  <a:pt x="84216" y="964"/>
                </a:lnTo>
                <a:close/>
                <a:moveTo>
                  <a:pt x="79763" y="42540"/>
                </a:moveTo>
                <a:cubicBezTo>
                  <a:pt x="84183" y="42540"/>
                  <a:pt x="87739" y="46096"/>
                  <a:pt x="87739" y="50516"/>
                </a:cubicBezTo>
                <a:cubicBezTo>
                  <a:pt x="87739" y="58127"/>
                  <a:pt x="96945" y="61949"/>
                  <a:pt x="102329" y="56565"/>
                </a:cubicBezTo>
                <a:cubicBezTo>
                  <a:pt x="105453" y="53441"/>
                  <a:pt x="110505" y="53441"/>
                  <a:pt x="113595" y="56565"/>
                </a:cubicBezTo>
                <a:cubicBezTo>
                  <a:pt x="116686" y="59689"/>
                  <a:pt x="116719" y="64741"/>
                  <a:pt x="113595" y="67832"/>
                </a:cubicBezTo>
                <a:cubicBezTo>
                  <a:pt x="108211" y="73216"/>
                  <a:pt x="112033" y="82421"/>
                  <a:pt x="119644" y="82421"/>
                </a:cubicBezTo>
                <a:cubicBezTo>
                  <a:pt x="124064" y="82421"/>
                  <a:pt x="127620" y="85978"/>
                  <a:pt x="127620" y="90398"/>
                </a:cubicBezTo>
                <a:cubicBezTo>
                  <a:pt x="127620" y="94818"/>
                  <a:pt x="124064" y="98374"/>
                  <a:pt x="119644" y="98374"/>
                </a:cubicBezTo>
                <a:cubicBezTo>
                  <a:pt x="112033" y="98374"/>
                  <a:pt x="108211" y="107580"/>
                  <a:pt x="113595" y="112964"/>
                </a:cubicBezTo>
                <a:cubicBezTo>
                  <a:pt x="116719" y="116088"/>
                  <a:pt x="116719" y="121140"/>
                  <a:pt x="113595" y="124230"/>
                </a:cubicBezTo>
                <a:cubicBezTo>
                  <a:pt x="110471" y="127321"/>
                  <a:pt x="105420" y="127355"/>
                  <a:pt x="102329" y="124230"/>
                </a:cubicBezTo>
                <a:cubicBezTo>
                  <a:pt x="96945" y="118846"/>
                  <a:pt x="87739" y="122668"/>
                  <a:pt x="87739" y="130279"/>
                </a:cubicBezTo>
                <a:cubicBezTo>
                  <a:pt x="87739" y="134699"/>
                  <a:pt x="84183" y="138255"/>
                  <a:pt x="79763" y="138255"/>
                </a:cubicBezTo>
                <a:cubicBezTo>
                  <a:pt x="75343" y="138255"/>
                  <a:pt x="71786" y="134699"/>
                  <a:pt x="71786" y="130279"/>
                </a:cubicBezTo>
                <a:cubicBezTo>
                  <a:pt x="71786" y="122668"/>
                  <a:pt x="62581" y="118846"/>
                  <a:pt x="57197" y="124230"/>
                </a:cubicBezTo>
                <a:cubicBezTo>
                  <a:pt x="54072" y="127355"/>
                  <a:pt x="49021" y="127355"/>
                  <a:pt x="45930" y="124230"/>
                </a:cubicBezTo>
                <a:cubicBezTo>
                  <a:pt x="42839" y="121106"/>
                  <a:pt x="42806" y="116055"/>
                  <a:pt x="45930" y="112964"/>
                </a:cubicBezTo>
                <a:cubicBezTo>
                  <a:pt x="51314" y="107580"/>
                  <a:pt x="47492" y="98374"/>
                  <a:pt x="39881" y="98374"/>
                </a:cubicBezTo>
                <a:cubicBezTo>
                  <a:pt x="35461" y="98374"/>
                  <a:pt x="31905" y="94818"/>
                  <a:pt x="31905" y="90398"/>
                </a:cubicBezTo>
                <a:cubicBezTo>
                  <a:pt x="31905" y="85978"/>
                  <a:pt x="35461" y="82421"/>
                  <a:pt x="39881" y="82421"/>
                </a:cubicBezTo>
                <a:cubicBezTo>
                  <a:pt x="47492" y="82421"/>
                  <a:pt x="51314" y="73216"/>
                  <a:pt x="45930" y="67832"/>
                </a:cubicBezTo>
                <a:cubicBezTo>
                  <a:pt x="42806" y="64708"/>
                  <a:pt x="42806" y="59656"/>
                  <a:pt x="45930" y="56565"/>
                </a:cubicBezTo>
                <a:cubicBezTo>
                  <a:pt x="49054" y="53474"/>
                  <a:pt x="54106" y="53441"/>
                  <a:pt x="57197" y="56565"/>
                </a:cubicBezTo>
                <a:cubicBezTo>
                  <a:pt x="62581" y="61949"/>
                  <a:pt x="71786" y="58127"/>
                  <a:pt x="71786" y="50516"/>
                </a:cubicBezTo>
                <a:cubicBezTo>
                  <a:pt x="71786" y="46096"/>
                  <a:pt x="75343" y="42540"/>
                  <a:pt x="79763" y="42540"/>
                </a:cubicBezTo>
                <a:close/>
                <a:moveTo>
                  <a:pt x="69128" y="87739"/>
                </a:moveTo>
                <a:cubicBezTo>
                  <a:pt x="73530" y="87739"/>
                  <a:pt x="77104" y="84165"/>
                  <a:pt x="77104" y="79763"/>
                </a:cubicBezTo>
                <a:cubicBezTo>
                  <a:pt x="77104" y="75361"/>
                  <a:pt x="73530" y="71786"/>
                  <a:pt x="69128" y="71786"/>
                </a:cubicBezTo>
                <a:cubicBezTo>
                  <a:pt x="64725" y="71786"/>
                  <a:pt x="61151" y="75361"/>
                  <a:pt x="61151" y="79763"/>
                </a:cubicBezTo>
                <a:cubicBezTo>
                  <a:pt x="61151" y="84165"/>
                  <a:pt x="64725" y="87739"/>
                  <a:pt x="69128" y="87739"/>
                </a:cubicBezTo>
                <a:close/>
                <a:moveTo>
                  <a:pt x="98374" y="101033"/>
                </a:moveTo>
                <a:cubicBezTo>
                  <a:pt x="98374" y="96631"/>
                  <a:pt x="94800" y="93057"/>
                  <a:pt x="90398" y="93057"/>
                </a:cubicBezTo>
                <a:cubicBezTo>
                  <a:pt x="85996" y="93057"/>
                  <a:pt x="82421" y="96631"/>
                  <a:pt x="82421" y="101033"/>
                </a:cubicBezTo>
                <a:cubicBezTo>
                  <a:pt x="82421" y="105435"/>
                  <a:pt x="85996" y="109009"/>
                  <a:pt x="90398" y="109009"/>
                </a:cubicBezTo>
                <a:cubicBezTo>
                  <a:pt x="94800" y="109009"/>
                  <a:pt x="98374" y="105435"/>
                  <a:pt x="98374" y="10103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857894" y="1783283"/>
            <a:ext cx="1335760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R2: Data Breach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7894" y="2021508"/>
            <a:ext cx="1310236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Score: 20/25 → 10/25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019594" y="1783283"/>
            <a:ext cx="646610" cy="204193"/>
          </a:xfrm>
          <a:custGeom>
            <a:avLst/>
            <a:gdLst/>
            <a:ahLst/>
            <a:cxnLst/>
            <a:rect l="l" t="t" r="r" b="b"/>
            <a:pathLst>
              <a:path w="646610" h="204193">
                <a:moveTo>
                  <a:pt x="102096" y="0"/>
                </a:moveTo>
                <a:lnTo>
                  <a:pt x="544514" y="0"/>
                </a:lnTo>
                <a:cubicBezTo>
                  <a:pt x="600900" y="0"/>
                  <a:pt x="646610" y="45710"/>
                  <a:pt x="646610" y="102096"/>
                </a:cubicBezTo>
                <a:lnTo>
                  <a:pt x="646610" y="102096"/>
                </a:lnTo>
                <a:cubicBezTo>
                  <a:pt x="646610" y="158483"/>
                  <a:pt x="600900" y="204193"/>
                  <a:pt x="544514" y="204193"/>
                </a:cubicBezTo>
                <a:lnTo>
                  <a:pt x="102096" y="204193"/>
                </a:lnTo>
                <a:cubicBezTo>
                  <a:pt x="45748" y="204193"/>
                  <a:pt x="0" y="158445"/>
                  <a:pt x="0" y="102096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11019594" y="1783283"/>
            <a:ext cx="697658" cy="204193"/>
          </a:xfrm>
          <a:prstGeom prst="rect">
            <a:avLst/>
          </a:prstGeom>
          <a:noFill/>
          <a:ln/>
        </p:spPr>
        <p:txBody>
          <a:bodyPr wrap="square" lIns="102096" tIns="34032" rIns="102096" bIns="34032" rtlCol="0" anchor="ctr"/>
          <a:lstStyle/>
          <a:p>
            <a:pPr>
              <a:lnSpc>
                <a:spcPct val="110000"/>
              </a:lnSpc>
            </a:pPr>
            <a:r>
              <a:rPr lang="en-US" sz="80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47412" y="2327797"/>
            <a:ext cx="5317516" cy="578546"/>
          </a:xfrm>
          <a:custGeom>
            <a:avLst/>
            <a:gdLst/>
            <a:ahLst/>
            <a:cxnLst/>
            <a:rect l="l" t="t" r="r" b="b"/>
            <a:pathLst>
              <a:path w="5317516" h="578546">
                <a:moveTo>
                  <a:pt x="68066" y="0"/>
                </a:moveTo>
                <a:lnTo>
                  <a:pt x="5249450" y="0"/>
                </a:lnTo>
                <a:cubicBezTo>
                  <a:pt x="5287042" y="0"/>
                  <a:pt x="5317516" y="30474"/>
                  <a:pt x="5317516" y="68066"/>
                </a:cubicBezTo>
                <a:lnTo>
                  <a:pt x="5317516" y="510480"/>
                </a:lnTo>
                <a:cubicBezTo>
                  <a:pt x="5317516" y="548072"/>
                  <a:pt x="5287042" y="578546"/>
                  <a:pt x="5249450" y="578546"/>
                </a:cubicBezTo>
                <a:lnTo>
                  <a:pt x="68066" y="578546"/>
                </a:lnTo>
                <a:cubicBezTo>
                  <a:pt x="30474" y="578546"/>
                  <a:pt x="0" y="548072"/>
                  <a:pt x="0" y="510480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solidFill>
            <a:srgbClr val="EF4444">
              <a:alpha val="5098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6449508" y="2429893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49508" y="2634085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€10M fine, 72-hour breach notification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47412" y="3008439"/>
            <a:ext cx="5317516" cy="578546"/>
          </a:xfrm>
          <a:custGeom>
            <a:avLst/>
            <a:gdLst/>
            <a:ahLst/>
            <a:cxnLst/>
            <a:rect l="l" t="t" r="r" b="b"/>
            <a:pathLst>
              <a:path w="5317516" h="578546">
                <a:moveTo>
                  <a:pt x="68066" y="0"/>
                </a:moveTo>
                <a:lnTo>
                  <a:pt x="5249450" y="0"/>
                </a:lnTo>
                <a:cubicBezTo>
                  <a:pt x="5287042" y="0"/>
                  <a:pt x="5317516" y="30474"/>
                  <a:pt x="5317516" y="68066"/>
                </a:cubicBezTo>
                <a:lnTo>
                  <a:pt x="5317516" y="510480"/>
                </a:lnTo>
                <a:cubicBezTo>
                  <a:pt x="5317516" y="548072"/>
                  <a:pt x="5287042" y="578546"/>
                  <a:pt x="5249450" y="578546"/>
                </a:cubicBezTo>
                <a:lnTo>
                  <a:pt x="68066" y="578546"/>
                </a:lnTo>
                <a:cubicBezTo>
                  <a:pt x="30474" y="578546"/>
                  <a:pt x="0" y="548072"/>
                  <a:pt x="0" y="510480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6449508" y="3110535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49508" y="3314727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 SSL, TLS 1.3, penetration test €5K (Month 5)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7127" y="3913693"/>
            <a:ext cx="5671450" cy="2157635"/>
          </a:xfrm>
          <a:custGeom>
            <a:avLst/>
            <a:gdLst/>
            <a:ahLst/>
            <a:cxnLst/>
            <a:rect l="l" t="t" r="r" b="b"/>
            <a:pathLst>
              <a:path w="5671450" h="2157635">
                <a:moveTo>
                  <a:pt x="102099" y="0"/>
                </a:moveTo>
                <a:lnTo>
                  <a:pt x="5569350" y="0"/>
                </a:lnTo>
                <a:cubicBezTo>
                  <a:pt x="5625738" y="0"/>
                  <a:pt x="5671450" y="45711"/>
                  <a:pt x="5671450" y="102099"/>
                </a:cubicBezTo>
                <a:lnTo>
                  <a:pt x="5671450" y="2055536"/>
                </a:lnTo>
                <a:cubicBezTo>
                  <a:pt x="5671450" y="2111924"/>
                  <a:pt x="5625738" y="2157635"/>
                  <a:pt x="5569350" y="2157635"/>
                </a:cubicBezTo>
                <a:lnTo>
                  <a:pt x="102099" y="2157635"/>
                </a:lnTo>
                <a:cubicBezTo>
                  <a:pt x="45711" y="2157635"/>
                  <a:pt x="0" y="2111924"/>
                  <a:pt x="0" y="2055536"/>
                </a:cubicBezTo>
                <a:lnTo>
                  <a:pt x="0" y="102099"/>
                </a:lnTo>
                <a:cubicBezTo>
                  <a:pt x="0" y="45749"/>
                  <a:pt x="45749" y="0"/>
                  <a:pt x="102099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F59E0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524094" y="4090657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102096" y="0"/>
                </a:moveTo>
                <a:lnTo>
                  <a:pt x="306289" y="0"/>
                </a:lnTo>
                <a:cubicBezTo>
                  <a:pt x="362675" y="0"/>
                  <a:pt x="408385" y="45710"/>
                  <a:pt x="408385" y="102096"/>
                </a:cubicBezTo>
                <a:lnTo>
                  <a:pt x="408385" y="306289"/>
                </a:lnTo>
                <a:cubicBezTo>
                  <a:pt x="408385" y="362675"/>
                  <a:pt x="362675" y="408385"/>
                  <a:pt x="306289" y="408385"/>
                </a:cubicBezTo>
                <a:lnTo>
                  <a:pt x="102096" y="408385"/>
                </a:lnTo>
                <a:cubicBezTo>
                  <a:pt x="45710" y="408385"/>
                  <a:pt x="0" y="362675"/>
                  <a:pt x="0" y="306289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653842" y="4209769"/>
            <a:ext cx="148890" cy="170161"/>
          </a:xfrm>
          <a:custGeom>
            <a:avLst/>
            <a:gdLst/>
            <a:ahLst/>
            <a:cxnLst/>
            <a:rect l="l" t="t" r="r" b="b"/>
            <a:pathLst>
              <a:path w="148890" h="170161">
                <a:moveTo>
                  <a:pt x="21270" y="10635"/>
                </a:moveTo>
                <a:cubicBezTo>
                  <a:pt x="9538" y="10635"/>
                  <a:pt x="0" y="20173"/>
                  <a:pt x="0" y="31905"/>
                </a:cubicBezTo>
                <a:lnTo>
                  <a:pt x="0" y="138255"/>
                </a:lnTo>
                <a:cubicBezTo>
                  <a:pt x="0" y="149987"/>
                  <a:pt x="9538" y="159525"/>
                  <a:pt x="21270" y="159525"/>
                </a:cubicBezTo>
                <a:lnTo>
                  <a:pt x="127620" y="159525"/>
                </a:lnTo>
                <a:cubicBezTo>
                  <a:pt x="139352" y="159525"/>
                  <a:pt x="148890" y="149987"/>
                  <a:pt x="148890" y="138255"/>
                </a:cubicBezTo>
                <a:lnTo>
                  <a:pt x="148890" y="31905"/>
                </a:lnTo>
                <a:cubicBezTo>
                  <a:pt x="148890" y="20173"/>
                  <a:pt x="139352" y="10635"/>
                  <a:pt x="127620" y="10635"/>
                </a:cubicBezTo>
                <a:lnTo>
                  <a:pt x="21270" y="10635"/>
                </a:lnTo>
                <a:close/>
                <a:moveTo>
                  <a:pt x="42540" y="37223"/>
                </a:moveTo>
                <a:cubicBezTo>
                  <a:pt x="51345" y="37223"/>
                  <a:pt x="58493" y="44371"/>
                  <a:pt x="58493" y="53175"/>
                </a:cubicBezTo>
                <a:cubicBezTo>
                  <a:pt x="58493" y="61980"/>
                  <a:pt x="51345" y="69128"/>
                  <a:pt x="42540" y="69128"/>
                </a:cubicBezTo>
                <a:cubicBezTo>
                  <a:pt x="33736" y="69128"/>
                  <a:pt x="26588" y="61980"/>
                  <a:pt x="26588" y="53175"/>
                </a:cubicBezTo>
                <a:cubicBezTo>
                  <a:pt x="26588" y="44371"/>
                  <a:pt x="33736" y="37223"/>
                  <a:pt x="42540" y="37223"/>
                </a:cubicBezTo>
                <a:close/>
                <a:moveTo>
                  <a:pt x="90398" y="74445"/>
                </a:moveTo>
                <a:cubicBezTo>
                  <a:pt x="93189" y="74445"/>
                  <a:pt x="95749" y="75908"/>
                  <a:pt x="97211" y="78267"/>
                </a:cubicBezTo>
                <a:lnTo>
                  <a:pt x="126457" y="126125"/>
                </a:lnTo>
                <a:cubicBezTo>
                  <a:pt x="127953" y="128584"/>
                  <a:pt x="128019" y="131675"/>
                  <a:pt x="126623" y="134201"/>
                </a:cubicBezTo>
                <a:cubicBezTo>
                  <a:pt x="125227" y="136727"/>
                  <a:pt x="122536" y="138255"/>
                  <a:pt x="119644" y="138255"/>
                </a:cubicBezTo>
                <a:lnTo>
                  <a:pt x="29246" y="138255"/>
                </a:lnTo>
                <a:cubicBezTo>
                  <a:pt x="26288" y="138255"/>
                  <a:pt x="23530" y="136594"/>
                  <a:pt x="22167" y="133968"/>
                </a:cubicBezTo>
                <a:cubicBezTo>
                  <a:pt x="20805" y="131343"/>
                  <a:pt x="21004" y="128152"/>
                  <a:pt x="22699" y="125726"/>
                </a:cubicBezTo>
                <a:lnTo>
                  <a:pt x="41310" y="99138"/>
                </a:lnTo>
                <a:cubicBezTo>
                  <a:pt x="42806" y="97011"/>
                  <a:pt x="45232" y="95749"/>
                  <a:pt x="47858" y="95749"/>
                </a:cubicBezTo>
                <a:cubicBezTo>
                  <a:pt x="50483" y="95749"/>
                  <a:pt x="52909" y="97011"/>
                  <a:pt x="54405" y="99138"/>
                </a:cubicBezTo>
                <a:lnTo>
                  <a:pt x="63179" y="111701"/>
                </a:lnTo>
                <a:lnTo>
                  <a:pt x="83585" y="78300"/>
                </a:lnTo>
                <a:cubicBezTo>
                  <a:pt x="85047" y="75941"/>
                  <a:pt x="87606" y="74478"/>
                  <a:pt x="90398" y="744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1034576" y="4090657"/>
            <a:ext cx="1471888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R3: Image Quality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34576" y="4328882"/>
            <a:ext cx="1446364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Score: 16/25 → 10/25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386147" y="4090657"/>
            <a:ext cx="459433" cy="204193"/>
          </a:xfrm>
          <a:custGeom>
            <a:avLst/>
            <a:gdLst/>
            <a:ahLst/>
            <a:cxnLst/>
            <a:rect l="l" t="t" r="r" b="b"/>
            <a:pathLst>
              <a:path w="459433" h="204193">
                <a:moveTo>
                  <a:pt x="102096" y="0"/>
                </a:moveTo>
                <a:lnTo>
                  <a:pt x="357337" y="0"/>
                </a:lnTo>
                <a:cubicBezTo>
                  <a:pt x="413723" y="0"/>
                  <a:pt x="459433" y="45710"/>
                  <a:pt x="459433" y="102096"/>
                </a:cubicBezTo>
                <a:lnTo>
                  <a:pt x="459433" y="102096"/>
                </a:lnTo>
                <a:cubicBezTo>
                  <a:pt x="459433" y="158483"/>
                  <a:pt x="413723" y="204193"/>
                  <a:pt x="357337" y="204193"/>
                </a:cubicBezTo>
                <a:lnTo>
                  <a:pt x="102096" y="204193"/>
                </a:lnTo>
                <a:cubicBezTo>
                  <a:pt x="45748" y="204193"/>
                  <a:pt x="0" y="158445"/>
                  <a:pt x="0" y="102096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5386147" y="4090657"/>
            <a:ext cx="510482" cy="204193"/>
          </a:xfrm>
          <a:prstGeom prst="rect">
            <a:avLst/>
          </a:prstGeom>
          <a:noFill/>
          <a:ln/>
        </p:spPr>
        <p:txBody>
          <a:bodyPr wrap="square" lIns="102096" tIns="34032" rIns="102096" bIns="34032" rtlCol="0" anchor="ctr"/>
          <a:lstStyle/>
          <a:p>
            <a:pPr>
              <a:lnSpc>
                <a:spcPct val="110000"/>
              </a:lnSpc>
            </a:pPr>
            <a:r>
              <a:rPr lang="en-US" sz="80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4094" y="4635170"/>
            <a:ext cx="5317516" cy="578546"/>
          </a:xfrm>
          <a:custGeom>
            <a:avLst/>
            <a:gdLst/>
            <a:ahLst/>
            <a:cxnLst/>
            <a:rect l="l" t="t" r="r" b="b"/>
            <a:pathLst>
              <a:path w="5317516" h="578546">
                <a:moveTo>
                  <a:pt x="68066" y="0"/>
                </a:moveTo>
                <a:lnTo>
                  <a:pt x="5249450" y="0"/>
                </a:lnTo>
                <a:cubicBezTo>
                  <a:pt x="5287042" y="0"/>
                  <a:pt x="5317516" y="30474"/>
                  <a:pt x="5317516" y="68066"/>
                </a:cubicBezTo>
                <a:lnTo>
                  <a:pt x="5317516" y="510480"/>
                </a:lnTo>
                <a:cubicBezTo>
                  <a:pt x="5317516" y="548072"/>
                  <a:pt x="5287042" y="578546"/>
                  <a:pt x="5249450" y="578546"/>
                </a:cubicBezTo>
                <a:lnTo>
                  <a:pt x="68066" y="578546"/>
                </a:lnTo>
                <a:cubicBezTo>
                  <a:pt x="30474" y="578546"/>
                  <a:pt x="0" y="548072"/>
                  <a:pt x="0" y="510480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626191" y="4737267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6191" y="4941459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Character drift &gt;25%, user churn, refunds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4094" y="5315812"/>
            <a:ext cx="5317516" cy="578546"/>
          </a:xfrm>
          <a:custGeom>
            <a:avLst/>
            <a:gdLst/>
            <a:ahLst/>
            <a:cxnLst/>
            <a:rect l="l" t="t" r="r" b="b"/>
            <a:pathLst>
              <a:path w="5317516" h="578546">
                <a:moveTo>
                  <a:pt x="68066" y="0"/>
                </a:moveTo>
                <a:lnTo>
                  <a:pt x="5249450" y="0"/>
                </a:lnTo>
                <a:cubicBezTo>
                  <a:pt x="5287042" y="0"/>
                  <a:pt x="5317516" y="30474"/>
                  <a:pt x="5317516" y="68066"/>
                </a:cubicBezTo>
                <a:lnTo>
                  <a:pt x="5317516" y="510480"/>
                </a:lnTo>
                <a:cubicBezTo>
                  <a:pt x="5317516" y="548072"/>
                  <a:pt x="5287042" y="578546"/>
                  <a:pt x="5249450" y="578546"/>
                </a:cubicBezTo>
                <a:lnTo>
                  <a:pt x="68066" y="578546"/>
                </a:lnTo>
                <a:cubicBezTo>
                  <a:pt x="30474" y="578546"/>
                  <a:pt x="0" y="548072"/>
                  <a:pt x="0" y="510480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626191" y="5417909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26191" y="5622101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Migrate to Stability AI SDXL ($0.04/img), A/B testing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0445" y="3913693"/>
            <a:ext cx="5671450" cy="2157635"/>
          </a:xfrm>
          <a:custGeom>
            <a:avLst/>
            <a:gdLst/>
            <a:ahLst/>
            <a:cxnLst/>
            <a:rect l="l" t="t" r="r" b="b"/>
            <a:pathLst>
              <a:path w="5671450" h="2157635">
                <a:moveTo>
                  <a:pt x="102099" y="0"/>
                </a:moveTo>
                <a:lnTo>
                  <a:pt x="5569350" y="0"/>
                </a:lnTo>
                <a:cubicBezTo>
                  <a:pt x="5625738" y="0"/>
                  <a:pt x="5671450" y="45711"/>
                  <a:pt x="5671450" y="102099"/>
                </a:cubicBezTo>
                <a:lnTo>
                  <a:pt x="5671450" y="2055536"/>
                </a:lnTo>
                <a:cubicBezTo>
                  <a:pt x="5671450" y="2111924"/>
                  <a:pt x="5625738" y="2157635"/>
                  <a:pt x="5569350" y="2157635"/>
                </a:cubicBezTo>
                <a:lnTo>
                  <a:pt x="102099" y="2157635"/>
                </a:lnTo>
                <a:cubicBezTo>
                  <a:pt x="45711" y="2157635"/>
                  <a:pt x="0" y="2111924"/>
                  <a:pt x="0" y="2055536"/>
                </a:cubicBezTo>
                <a:lnTo>
                  <a:pt x="0" y="102099"/>
                </a:lnTo>
                <a:cubicBezTo>
                  <a:pt x="0" y="45749"/>
                  <a:pt x="45749" y="0"/>
                  <a:pt x="102099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EF4444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Shape 45"/>
          <p:cNvSpPr/>
          <p:nvPr/>
        </p:nvSpPr>
        <p:spPr>
          <a:xfrm>
            <a:off x="6347412" y="4090657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102096" y="0"/>
                </a:moveTo>
                <a:lnTo>
                  <a:pt x="306289" y="0"/>
                </a:lnTo>
                <a:cubicBezTo>
                  <a:pt x="362675" y="0"/>
                  <a:pt x="408385" y="45710"/>
                  <a:pt x="408385" y="102096"/>
                </a:cubicBezTo>
                <a:lnTo>
                  <a:pt x="408385" y="306289"/>
                </a:lnTo>
                <a:cubicBezTo>
                  <a:pt x="408385" y="362675"/>
                  <a:pt x="362675" y="408385"/>
                  <a:pt x="306289" y="408385"/>
                </a:cubicBezTo>
                <a:lnTo>
                  <a:pt x="102096" y="408385"/>
                </a:lnTo>
                <a:cubicBezTo>
                  <a:pt x="45710" y="408385"/>
                  <a:pt x="0" y="362675"/>
                  <a:pt x="0" y="306289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8" name="Shape 46"/>
          <p:cNvSpPr/>
          <p:nvPr/>
        </p:nvSpPr>
        <p:spPr>
          <a:xfrm>
            <a:off x="6487794" y="4209769"/>
            <a:ext cx="127620" cy="170161"/>
          </a:xfrm>
          <a:custGeom>
            <a:avLst/>
            <a:gdLst/>
            <a:ahLst/>
            <a:cxnLst/>
            <a:rect l="l" t="t" r="r" b="b"/>
            <a:pathLst>
              <a:path w="127620" h="170161">
                <a:moveTo>
                  <a:pt x="21270" y="0"/>
                </a:moveTo>
                <a:cubicBezTo>
                  <a:pt x="9538" y="0"/>
                  <a:pt x="0" y="9538"/>
                  <a:pt x="0" y="21270"/>
                </a:cubicBezTo>
                <a:lnTo>
                  <a:pt x="0" y="148890"/>
                </a:lnTo>
                <a:cubicBezTo>
                  <a:pt x="0" y="160622"/>
                  <a:pt x="9538" y="170161"/>
                  <a:pt x="21270" y="170161"/>
                </a:cubicBezTo>
                <a:lnTo>
                  <a:pt x="106350" y="170161"/>
                </a:lnTo>
                <a:cubicBezTo>
                  <a:pt x="118082" y="170161"/>
                  <a:pt x="127620" y="160622"/>
                  <a:pt x="127620" y="148890"/>
                </a:cubicBezTo>
                <a:lnTo>
                  <a:pt x="127620" y="21270"/>
                </a:lnTo>
                <a:cubicBezTo>
                  <a:pt x="127620" y="9538"/>
                  <a:pt x="118082" y="0"/>
                  <a:pt x="106350" y="0"/>
                </a:cubicBezTo>
                <a:lnTo>
                  <a:pt x="21270" y="0"/>
                </a:lnTo>
                <a:close/>
                <a:moveTo>
                  <a:pt x="31905" y="21270"/>
                </a:moveTo>
                <a:lnTo>
                  <a:pt x="95715" y="21270"/>
                </a:lnTo>
                <a:cubicBezTo>
                  <a:pt x="101598" y="21270"/>
                  <a:pt x="106350" y="26023"/>
                  <a:pt x="106350" y="31905"/>
                </a:cubicBezTo>
                <a:lnTo>
                  <a:pt x="106350" y="42540"/>
                </a:lnTo>
                <a:cubicBezTo>
                  <a:pt x="106350" y="48423"/>
                  <a:pt x="101598" y="53175"/>
                  <a:pt x="95715" y="53175"/>
                </a:cubicBezTo>
                <a:lnTo>
                  <a:pt x="31905" y="53175"/>
                </a:lnTo>
                <a:cubicBezTo>
                  <a:pt x="26023" y="53175"/>
                  <a:pt x="21270" y="48423"/>
                  <a:pt x="21270" y="42540"/>
                </a:cubicBezTo>
                <a:lnTo>
                  <a:pt x="21270" y="31905"/>
                </a:lnTo>
                <a:cubicBezTo>
                  <a:pt x="21270" y="26023"/>
                  <a:pt x="26023" y="21270"/>
                  <a:pt x="31905" y="21270"/>
                </a:cubicBezTo>
                <a:close/>
                <a:moveTo>
                  <a:pt x="37223" y="77104"/>
                </a:moveTo>
                <a:cubicBezTo>
                  <a:pt x="37223" y="81506"/>
                  <a:pt x="33649" y="85080"/>
                  <a:pt x="29246" y="85080"/>
                </a:cubicBezTo>
                <a:cubicBezTo>
                  <a:pt x="24844" y="85080"/>
                  <a:pt x="21270" y="81506"/>
                  <a:pt x="21270" y="77104"/>
                </a:cubicBezTo>
                <a:cubicBezTo>
                  <a:pt x="21270" y="72702"/>
                  <a:pt x="24844" y="69128"/>
                  <a:pt x="29246" y="69128"/>
                </a:cubicBezTo>
                <a:cubicBezTo>
                  <a:pt x="33649" y="69128"/>
                  <a:pt x="37223" y="72702"/>
                  <a:pt x="37223" y="77104"/>
                </a:cubicBezTo>
                <a:close/>
                <a:moveTo>
                  <a:pt x="63810" y="85080"/>
                </a:moveTo>
                <a:cubicBezTo>
                  <a:pt x="59408" y="85080"/>
                  <a:pt x="55834" y="81506"/>
                  <a:pt x="55834" y="77104"/>
                </a:cubicBezTo>
                <a:cubicBezTo>
                  <a:pt x="55834" y="72702"/>
                  <a:pt x="59408" y="69128"/>
                  <a:pt x="63810" y="69128"/>
                </a:cubicBezTo>
                <a:cubicBezTo>
                  <a:pt x="68212" y="69128"/>
                  <a:pt x="71786" y="72702"/>
                  <a:pt x="71786" y="77104"/>
                </a:cubicBezTo>
                <a:cubicBezTo>
                  <a:pt x="71786" y="81506"/>
                  <a:pt x="68212" y="85080"/>
                  <a:pt x="63810" y="85080"/>
                </a:cubicBezTo>
                <a:close/>
                <a:moveTo>
                  <a:pt x="106350" y="77104"/>
                </a:moveTo>
                <a:cubicBezTo>
                  <a:pt x="106350" y="81506"/>
                  <a:pt x="102776" y="85080"/>
                  <a:pt x="98374" y="85080"/>
                </a:cubicBezTo>
                <a:cubicBezTo>
                  <a:pt x="93972" y="85080"/>
                  <a:pt x="90398" y="81506"/>
                  <a:pt x="90398" y="77104"/>
                </a:cubicBezTo>
                <a:cubicBezTo>
                  <a:pt x="90398" y="72702"/>
                  <a:pt x="93972" y="69128"/>
                  <a:pt x="98374" y="69128"/>
                </a:cubicBezTo>
                <a:cubicBezTo>
                  <a:pt x="102776" y="69128"/>
                  <a:pt x="106350" y="72702"/>
                  <a:pt x="106350" y="77104"/>
                </a:cubicBezTo>
                <a:close/>
                <a:moveTo>
                  <a:pt x="29246" y="116985"/>
                </a:moveTo>
                <a:cubicBezTo>
                  <a:pt x="24844" y="116985"/>
                  <a:pt x="21270" y="113411"/>
                  <a:pt x="21270" y="109009"/>
                </a:cubicBezTo>
                <a:cubicBezTo>
                  <a:pt x="21270" y="104607"/>
                  <a:pt x="24844" y="101033"/>
                  <a:pt x="29246" y="101033"/>
                </a:cubicBezTo>
                <a:cubicBezTo>
                  <a:pt x="33649" y="101033"/>
                  <a:pt x="37223" y="104607"/>
                  <a:pt x="37223" y="109009"/>
                </a:cubicBezTo>
                <a:cubicBezTo>
                  <a:pt x="37223" y="113411"/>
                  <a:pt x="33649" y="116985"/>
                  <a:pt x="29246" y="116985"/>
                </a:cubicBezTo>
                <a:close/>
                <a:moveTo>
                  <a:pt x="71786" y="109009"/>
                </a:moveTo>
                <a:cubicBezTo>
                  <a:pt x="71786" y="113411"/>
                  <a:pt x="68212" y="116985"/>
                  <a:pt x="63810" y="116985"/>
                </a:cubicBezTo>
                <a:cubicBezTo>
                  <a:pt x="59408" y="116985"/>
                  <a:pt x="55834" y="113411"/>
                  <a:pt x="55834" y="109009"/>
                </a:cubicBezTo>
                <a:cubicBezTo>
                  <a:pt x="55834" y="104607"/>
                  <a:pt x="59408" y="101033"/>
                  <a:pt x="63810" y="101033"/>
                </a:cubicBezTo>
                <a:cubicBezTo>
                  <a:pt x="68212" y="101033"/>
                  <a:pt x="71786" y="104607"/>
                  <a:pt x="71786" y="109009"/>
                </a:cubicBezTo>
                <a:close/>
                <a:moveTo>
                  <a:pt x="98374" y="116985"/>
                </a:moveTo>
                <a:cubicBezTo>
                  <a:pt x="93972" y="116985"/>
                  <a:pt x="90398" y="113411"/>
                  <a:pt x="90398" y="109009"/>
                </a:cubicBezTo>
                <a:cubicBezTo>
                  <a:pt x="90398" y="104607"/>
                  <a:pt x="93972" y="101033"/>
                  <a:pt x="98374" y="101033"/>
                </a:cubicBezTo>
                <a:cubicBezTo>
                  <a:pt x="102776" y="101033"/>
                  <a:pt x="106350" y="104607"/>
                  <a:pt x="106350" y="109009"/>
                </a:cubicBezTo>
                <a:cubicBezTo>
                  <a:pt x="106350" y="113411"/>
                  <a:pt x="102776" y="116985"/>
                  <a:pt x="98374" y="116985"/>
                </a:cubicBezTo>
                <a:close/>
                <a:moveTo>
                  <a:pt x="21270" y="140914"/>
                </a:moveTo>
                <a:cubicBezTo>
                  <a:pt x="21270" y="136494"/>
                  <a:pt x="24826" y="132938"/>
                  <a:pt x="29246" y="132938"/>
                </a:cubicBezTo>
                <a:lnTo>
                  <a:pt x="66469" y="132938"/>
                </a:lnTo>
                <a:cubicBezTo>
                  <a:pt x="70889" y="132938"/>
                  <a:pt x="74445" y="136494"/>
                  <a:pt x="74445" y="140914"/>
                </a:cubicBezTo>
                <a:cubicBezTo>
                  <a:pt x="74445" y="145334"/>
                  <a:pt x="70889" y="148890"/>
                  <a:pt x="66469" y="148890"/>
                </a:cubicBezTo>
                <a:lnTo>
                  <a:pt x="29246" y="148890"/>
                </a:lnTo>
                <a:cubicBezTo>
                  <a:pt x="24826" y="148890"/>
                  <a:pt x="21270" y="145334"/>
                  <a:pt x="21270" y="140914"/>
                </a:cubicBezTo>
                <a:close/>
                <a:moveTo>
                  <a:pt x="98374" y="132938"/>
                </a:moveTo>
                <a:cubicBezTo>
                  <a:pt x="102794" y="132938"/>
                  <a:pt x="106350" y="136494"/>
                  <a:pt x="106350" y="140914"/>
                </a:cubicBezTo>
                <a:cubicBezTo>
                  <a:pt x="106350" y="145334"/>
                  <a:pt x="102794" y="148890"/>
                  <a:pt x="98374" y="148890"/>
                </a:cubicBezTo>
                <a:cubicBezTo>
                  <a:pt x="93954" y="148890"/>
                  <a:pt x="90398" y="145334"/>
                  <a:pt x="90398" y="140914"/>
                </a:cubicBezTo>
                <a:cubicBezTo>
                  <a:pt x="90398" y="136494"/>
                  <a:pt x="93954" y="132938"/>
                  <a:pt x="98374" y="1329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6857894" y="4090657"/>
            <a:ext cx="1625033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0F17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R4: Unit Economics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7894" y="4328882"/>
            <a:ext cx="159950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Score: 20/25 → 15/25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019594" y="4090657"/>
            <a:ext cx="646610" cy="204193"/>
          </a:xfrm>
          <a:custGeom>
            <a:avLst/>
            <a:gdLst/>
            <a:ahLst/>
            <a:cxnLst/>
            <a:rect l="l" t="t" r="r" b="b"/>
            <a:pathLst>
              <a:path w="646610" h="204193">
                <a:moveTo>
                  <a:pt x="102096" y="0"/>
                </a:moveTo>
                <a:lnTo>
                  <a:pt x="544514" y="0"/>
                </a:lnTo>
                <a:cubicBezTo>
                  <a:pt x="600900" y="0"/>
                  <a:pt x="646610" y="45710"/>
                  <a:pt x="646610" y="102096"/>
                </a:cubicBezTo>
                <a:lnTo>
                  <a:pt x="646610" y="102096"/>
                </a:lnTo>
                <a:cubicBezTo>
                  <a:pt x="646610" y="158483"/>
                  <a:pt x="600900" y="204193"/>
                  <a:pt x="544514" y="204193"/>
                </a:cubicBezTo>
                <a:lnTo>
                  <a:pt x="102096" y="204193"/>
                </a:lnTo>
                <a:cubicBezTo>
                  <a:pt x="45748" y="204193"/>
                  <a:pt x="0" y="158445"/>
                  <a:pt x="0" y="102096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11019594" y="4090657"/>
            <a:ext cx="697658" cy="204193"/>
          </a:xfrm>
          <a:prstGeom prst="rect">
            <a:avLst/>
          </a:prstGeom>
          <a:noFill/>
          <a:ln/>
        </p:spPr>
        <p:txBody>
          <a:bodyPr wrap="square" lIns="102096" tIns="34032" rIns="102096" bIns="34032" rtlCol="0" anchor="ctr"/>
          <a:lstStyle/>
          <a:p>
            <a:pPr>
              <a:lnSpc>
                <a:spcPct val="110000"/>
              </a:lnSpc>
            </a:pPr>
            <a:r>
              <a:rPr lang="en-US" sz="80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47412" y="4635170"/>
            <a:ext cx="5317516" cy="578546"/>
          </a:xfrm>
          <a:custGeom>
            <a:avLst/>
            <a:gdLst/>
            <a:ahLst/>
            <a:cxnLst/>
            <a:rect l="l" t="t" r="r" b="b"/>
            <a:pathLst>
              <a:path w="5317516" h="578546">
                <a:moveTo>
                  <a:pt x="68066" y="0"/>
                </a:moveTo>
                <a:lnTo>
                  <a:pt x="5249450" y="0"/>
                </a:lnTo>
                <a:cubicBezTo>
                  <a:pt x="5287042" y="0"/>
                  <a:pt x="5317516" y="30474"/>
                  <a:pt x="5317516" y="68066"/>
                </a:cubicBezTo>
                <a:lnTo>
                  <a:pt x="5317516" y="510480"/>
                </a:lnTo>
                <a:cubicBezTo>
                  <a:pt x="5317516" y="548072"/>
                  <a:pt x="5287042" y="578546"/>
                  <a:pt x="5249450" y="578546"/>
                </a:cubicBezTo>
                <a:lnTo>
                  <a:pt x="68066" y="578546"/>
                </a:lnTo>
                <a:cubicBezTo>
                  <a:pt x="30474" y="578546"/>
                  <a:pt x="0" y="548072"/>
                  <a:pt x="0" y="510480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solidFill>
            <a:srgbClr val="EF4444">
              <a:alpha val="5098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6449508" y="4737267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Impact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49508" y="4941459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Optimistic ROI unrealistic, realistic LTV/CAC 3.99x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47412" y="5315812"/>
            <a:ext cx="5317516" cy="578546"/>
          </a:xfrm>
          <a:custGeom>
            <a:avLst/>
            <a:gdLst/>
            <a:ahLst/>
            <a:cxnLst/>
            <a:rect l="l" t="t" r="r" b="b"/>
            <a:pathLst>
              <a:path w="5317516" h="578546">
                <a:moveTo>
                  <a:pt x="68066" y="0"/>
                </a:moveTo>
                <a:lnTo>
                  <a:pt x="5249450" y="0"/>
                </a:lnTo>
                <a:cubicBezTo>
                  <a:pt x="5287042" y="0"/>
                  <a:pt x="5317516" y="30474"/>
                  <a:pt x="5317516" y="68066"/>
                </a:cubicBezTo>
                <a:lnTo>
                  <a:pt x="5317516" y="510480"/>
                </a:lnTo>
                <a:cubicBezTo>
                  <a:pt x="5317516" y="548072"/>
                  <a:pt x="5287042" y="578546"/>
                  <a:pt x="5249450" y="578546"/>
                </a:cubicBezTo>
                <a:lnTo>
                  <a:pt x="68066" y="578546"/>
                </a:lnTo>
                <a:cubicBezTo>
                  <a:pt x="30474" y="578546"/>
                  <a:pt x="0" y="548072"/>
                  <a:pt x="0" y="510480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solidFill>
            <a:srgbClr val="10B981">
              <a:alpha val="5098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7" name="Text 55"/>
          <p:cNvSpPr/>
          <p:nvPr/>
        </p:nvSpPr>
        <p:spPr>
          <a:xfrm>
            <a:off x="6449508" y="5417909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49508" y="5622101"/>
            <a:ext cx="517287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validates CAC $80, churn 8%, kie.ai DPA migration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40321" y="6214261"/>
            <a:ext cx="11511358" cy="646610"/>
          </a:xfrm>
          <a:custGeom>
            <a:avLst/>
            <a:gdLst/>
            <a:ahLst/>
            <a:cxnLst/>
            <a:rect l="l" t="t" r="r" b="b"/>
            <a:pathLst>
              <a:path w="11511358" h="646610">
                <a:moveTo>
                  <a:pt x="102093" y="0"/>
                </a:moveTo>
                <a:lnTo>
                  <a:pt x="11409265" y="0"/>
                </a:lnTo>
                <a:cubicBezTo>
                  <a:pt x="11465649" y="0"/>
                  <a:pt x="11511358" y="45709"/>
                  <a:pt x="11511358" y="102093"/>
                </a:cubicBezTo>
                <a:lnTo>
                  <a:pt x="11511358" y="544517"/>
                </a:lnTo>
                <a:cubicBezTo>
                  <a:pt x="11511358" y="600901"/>
                  <a:pt x="11465649" y="646610"/>
                  <a:pt x="11409265" y="646610"/>
                </a:cubicBezTo>
                <a:lnTo>
                  <a:pt x="102093" y="646610"/>
                </a:lnTo>
                <a:cubicBezTo>
                  <a:pt x="45709" y="646610"/>
                  <a:pt x="0" y="600901"/>
                  <a:pt x="0" y="544517"/>
                </a:cubicBezTo>
                <a:lnTo>
                  <a:pt x="0" y="102093"/>
                </a:lnTo>
                <a:cubicBezTo>
                  <a:pt x="0" y="45746"/>
                  <a:pt x="45746" y="0"/>
                  <a:pt x="102093" y="0"/>
                </a:cubicBezTo>
                <a:close/>
              </a:path>
            </a:pathLst>
          </a:cu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0" name="Shape 58"/>
          <p:cNvSpPr/>
          <p:nvPr/>
        </p:nvSpPr>
        <p:spPr>
          <a:xfrm>
            <a:off x="508355" y="6452485"/>
            <a:ext cx="148890" cy="170161"/>
          </a:xfrm>
          <a:custGeom>
            <a:avLst/>
            <a:gdLst/>
            <a:ahLst/>
            <a:cxnLst/>
            <a:rect l="l" t="t" r="r" b="b"/>
            <a:pathLst>
              <a:path w="148890" h="170161">
                <a:moveTo>
                  <a:pt x="24361" y="63810"/>
                </a:moveTo>
                <a:cubicBezTo>
                  <a:pt x="33500" y="33068"/>
                  <a:pt x="61982" y="10635"/>
                  <a:pt x="95715" y="10635"/>
                </a:cubicBezTo>
                <a:lnTo>
                  <a:pt x="116985" y="10635"/>
                </a:lnTo>
                <a:cubicBezTo>
                  <a:pt x="122868" y="10635"/>
                  <a:pt x="127620" y="15388"/>
                  <a:pt x="127620" y="21270"/>
                </a:cubicBezTo>
                <a:cubicBezTo>
                  <a:pt x="127620" y="27153"/>
                  <a:pt x="122868" y="31905"/>
                  <a:pt x="116985" y="31905"/>
                </a:cubicBezTo>
                <a:lnTo>
                  <a:pt x="95715" y="31905"/>
                </a:lnTo>
                <a:cubicBezTo>
                  <a:pt x="73913" y="31905"/>
                  <a:pt x="55169" y="45033"/>
                  <a:pt x="46960" y="63810"/>
                </a:cubicBezTo>
                <a:lnTo>
                  <a:pt x="90398" y="63810"/>
                </a:lnTo>
                <a:cubicBezTo>
                  <a:pt x="94818" y="63810"/>
                  <a:pt x="98374" y="67366"/>
                  <a:pt x="98374" y="71786"/>
                </a:cubicBezTo>
                <a:cubicBezTo>
                  <a:pt x="98374" y="76207"/>
                  <a:pt x="94818" y="79763"/>
                  <a:pt x="90398" y="79763"/>
                </a:cubicBezTo>
                <a:lnTo>
                  <a:pt x="42806" y="79763"/>
                </a:lnTo>
                <a:cubicBezTo>
                  <a:pt x="42640" y="81524"/>
                  <a:pt x="42540" y="83286"/>
                  <a:pt x="42540" y="85080"/>
                </a:cubicBezTo>
                <a:cubicBezTo>
                  <a:pt x="42540" y="86875"/>
                  <a:pt x="42640" y="88636"/>
                  <a:pt x="42806" y="90398"/>
                </a:cubicBezTo>
                <a:lnTo>
                  <a:pt x="90398" y="90398"/>
                </a:lnTo>
                <a:cubicBezTo>
                  <a:pt x="94818" y="90398"/>
                  <a:pt x="98374" y="93954"/>
                  <a:pt x="98374" y="98374"/>
                </a:cubicBezTo>
                <a:cubicBezTo>
                  <a:pt x="98374" y="102794"/>
                  <a:pt x="94818" y="106350"/>
                  <a:pt x="90398" y="106350"/>
                </a:cubicBezTo>
                <a:lnTo>
                  <a:pt x="46960" y="106350"/>
                </a:lnTo>
                <a:cubicBezTo>
                  <a:pt x="55169" y="125128"/>
                  <a:pt x="73913" y="138255"/>
                  <a:pt x="95715" y="138255"/>
                </a:cubicBezTo>
                <a:lnTo>
                  <a:pt x="116985" y="138255"/>
                </a:lnTo>
                <a:cubicBezTo>
                  <a:pt x="122868" y="138255"/>
                  <a:pt x="127620" y="143008"/>
                  <a:pt x="127620" y="148890"/>
                </a:cubicBezTo>
                <a:cubicBezTo>
                  <a:pt x="127620" y="154773"/>
                  <a:pt x="122868" y="159525"/>
                  <a:pt x="116985" y="159525"/>
                </a:cubicBezTo>
                <a:lnTo>
                  <a:pt x="95715" y="159525"/>
                </a:lnTo>
                <a:cubicBezTo>
                  <a:pt x="61982" y="159525"/>
                  <a:pt x="33500" y="137092"/>
                  <a:pt x="24361" y="106350"/>
                </a:cubicBezTo>
                <a:lnTo>
                  <a:pt x="13294" y="106350"/>
                </a:lnTo>
                <a:cubicBezTo>
                  <a:pt x="8874" y="106350"/>
                  <a:pt x="5318" y="102794"/>
                  <a:pt x="5318" y="98374"/>
                </a:cubicBezTo>
                <a:cubicBezTo>
                  <a:pt x="5318" y="93954"/>
                  <a:pt x="8874" y="90398"/>
                  <a:pt x="13294" y="90398"/>
                </a:cubicBezTo>
                <a:lnTo>
                  <a:pt x="21469" y="90398"/>
                </a:lnTo>
                <a:cubicBezTo>
                  <a:pt x="21237" y="86908"/>
                  <a:pt x="21237" y="83252"/>
                  <a:pt x="21469" y="79763"/>
                </a:cubicBezTo>
                <a:lnTo>
                  <a:pt x="13294" y="79763"/>
                </a:lnTo>
                <a:cubicBezTo>
                  <a:pt x="8874" y="79763"/>
                  <a:pt x="5318" y="76207"/>
                  <a:pt x="5318" y="71786"/>
                </a:cubicBezTo>
                <a:cubicBezTo>
                  <a:pt x="5318" y="67366"/>
                  <a:pt x="8874" y="63810"/>
                  <a:pt x="13294" y="63810"/>
                </a:cubicBezTo>
                <a:lnTo>
                  <a:pt x="24361" y="6381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1" name="Text 59"/>
          <p:cNvSpPr/>
          <p:nvPr/>
        </p:nvSpPr>
        <p:spPr>
          <a:xfrm>
            <a:off x="791246" y="6350389"/>
            <a:ext cx="1284712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Budget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91246" y="6554582"/>
            <a:ext cx="1276204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€10K-€15K (Month 3-5)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2213221" y="6367405"/>
            <a:ext cx="8508" cy="340321"/>
          </a:xfrm>
          <a:custGeom>
            <a:avLst/>
            <a:gdLst/>
            <a:ahLst/>
            <a:cxnLst/>
            <a:rect l="l" t="t" r="r" b="b"/>
            <a:pathLst>
              <a:path w="8508" h="340321">
                <a:moveTo>
                  <a:pt x="0" y="0"/>
                </a:moveTo>
                <a:lnTo>
                  <a:pt x="8508" y="0"/>
                </a:lnTo>
                <a:lnTo>
                  <a:pt x="8508" y="340321"/>
                </a:lnTo>
                <a:lnTo>
                  <a:pt x="0" y="340321"/>
                </a:lnTo>
                <a:lnTo>
                  <a:pt x="0" y="0"/>
                </a:lnTo>
                <a:close/>
              </a:path>
            </a:pathLst>
          </a:custGeom>
          <a:solidFill>
            <a:srgbClr val="64748B">
              <a:alpha val="3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4" name="Shape 62"/>
          <p:cNvSpPr/>
          <p:nvPr/>
        </p:nvSpPr>
        <p:spPr>
          <a:xfrm>
            <a:off x="2447192" y="6452485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159559" y="63810"/>
                </a:moveTo>
                <a:lnTo>
                  <a:pt x="162184" y="63810"/>
                </a:lnTo>
                <a:cubicBezTo>
                  <a:pt x="166604" y="63810"/>
                  <a:pt x="170161" y="60254"/>
                  <a:pt x="170161" y="55834"/>
                </a:cubicBezTo>
                <a:lnTo>
                  <a:pt x="170161" y="7976"/>
                </a:lnTo>
                <a:cubicBezTo>
                  <a:pt x="170161" y="4753"/>
                  <a:pt x="168233" y="1828"/>
                  <a:pt x="165242" y="598"/>
                </a:cubicBezTo>
                <a:cubicBezTo>
                  <a:pt x="162251" y="-631"/>
                  <a:pt x="158828" y="66"/>
                  <a:pt x="156534" y="2326"/>
                </a:cubicBezTo>
                <a:lnTo>
                  <a:pt x="139352" y="19542"/>
                </a:lnTo>
                <a:cubicBezTo>
                  <a:pt x="124629" y="7345"/>
                  <a:pt x="105686" y="0"/>
                  <a:pt x="85080" y="0"/>
                </a:cubicBezTo>
                <a:cubicBezTo>
                  <a:pt x="42208" y="0"/>
                  <a:pt x="6747" y="31706"/>
                  <a:pt x="864" y="72950"/>
                </a:cubicBezTo>
                <a:cubicBezTo>
                  <a:pt x="33" y="78766"/>
                  <a:pt x="4055" y="84150"/>
                  <a:pt x="9871" y="84981"/>
                </a:cubicBezTo>
                <a:cubicBezTo>
                  <a:pt x="15687" y="85811"/>
                  <a:pt x="21071" y="81757"/>
                  <a:pt x="21902" y="75974"/>
                </a:cubicBezTo>
                <a:cubicBezTo>
                  <a:pt x="26322" y="45033"/>
                  <a:pt x="52943" y="21270"/>
                  <a:pt x="85080" y="21270"/>
                </a:cubicBezTo>
                <a:cubicBezTo>
                  <a:pt x="99836" y="21270"/>
                  <a:pt x="113396" y="26255"/>
                  <a:pt x="124197" y="34664"/>
                </a:cubicBezTo>
                <a:lnTo>
                  <a:pt x="108677" y="50184"/>
                </a:lnTo>
                <a:cubicBezTo>
                  <a:pt x="106384" y="52477"/>
                  <a:pt x="105719" y="55900"/>
                  <a:pt x="106949" y="58891"/>
                </a:cubicBezTo>
                <a:cubicBezTo>
                  <a:pt x="108178" y="61883"/>
                  <a:pt x="111103" y="63810"/>
                  <a:pt x="114327" y="63810"/>
                </a:cubicBezTo>
                <a:lnTo>
                  <a:pt x="159559" y="63810"/>
                </a:lnTo>
                <a:close/>
                <a:moveTo>
                  <a:pt x="169330" y="97211"/>
                </a:moveTo>
                <a:cubicBezTo>
                  <a:pt x="170161" y="91395"/>
                  <a:pt x="166106" y="86011"/>
                  <a:pt x="160323" y="85180"/>
                </a:cubicBezTo>
                <a:cubicBezTo>
                  <a:pt x="154540" y="84349"/>
                  <a:pt x="149123" y="88404"/>
                  <a:pt x="148292" y="94186"/>
                </a:cubicBezTo>
                <a:cubicBezTo>
                  <a:pt x="143872" y="125095"/>
                  <a:pt x="117251" y="148857"/>
                  <a:pt x="85113" y="148857"/>
                </a:cubicBezTo>
                <a:cubicBezTo>
                  <a:pt x="70357" y="148857"/>
                  <a:pt x="56798" y="143872"/>
                  <a:pt x="45997" y="135464"/>
                </a:cubicBezTo>
                <a:lnTo>
                  <a:pt x="61484" y="119976"/>
                </a:lnTo>
                <a:cubicBezTo>
                  <a:pt x="63777" y="117683"/>
                  <a:pt x="64442" y="114260"/>
                  <a:pt x="63212" y="111269"/>
                </a:cubicBezTo>
                <a:cubicBezTo>
                  <a:pt x="61982" y="108278"/>
                  <a:pt x="59058" y="106350"/>
                  <a:pt x="55834" y="106350"/>
                </a:cubicBezTo>
                <a:lnTo>
                  <a:pt x="7976" y="106350"/>
                </a:lnTo>
                <a:cubicBezTo>
                  <a:pt x="3556" y="106350"/>
                  <a:pt x="0" y="109906"/>
                  <a:pt x="0" y="114327"/>
                </a:cubicBezTo>
                <a:lnTo>
                  <a:pt x="0" y="162184"/>
                </a:lnTo>
                <a:cubicBezTo>
                  <a:pt x="0" y="165408"/>
                  <a:pt x="1928" y="168333"/>
                  <a:pt x="4919" y="169562"/>
                </a:cubicBezTo>
                <a:cubicBezTo>
                  <a:pt x="7910" y="170792"/>
                  <a:pt x="11333" y="170094"/>
                  <a:pt x="13626" y="167834"/>
                </a:cubicBezTo>
                <a:lnTo>
                  <a:pt x="30842" y="150619"/>
                </a:lnTo>
                <a:cubicBezTo>
                  <a:pt x="45531" y="162816"/>
                  <a:pt x="64475" y="170161"/>
                  <a:pt x="85080" y="170161"/>
                </a:cubicBezTo>
                <a:cubicBezTo>
                  <a:pt x="127953" y="170161"/>
                  <a:pt x="163414" y="138455"/>
                  <a:pt x="169296" y="97211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5" name="Text 63"/>
          <p:cNvSpPr/>
          <p:nvPr/>
        </p:nvSpPr>
        <p:spPr>
          <a:xfrm>
            <a:off x="2740718" y="6350389"/>
            <a:ext cx="825278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 QA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2740718" y="6554582"/>
            <a:ext cx="816770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€500/month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10138163" y="6435469"/>
            <a:ext cx="204193" cy="204193"/>
          </a:xfrm>
          <a:custGeom>
            <a:avLst/>
            <a:gdLst/>
            <a:ahLst/>
            <a:cxnLst/>
            <a:rect l="l" t="t" r="r" b="b"/>
            <a:pathLst>
              <a:path w="204193" h="204193">
                <a:moveTo>
                  <a:pt x="102096" y="204193"/>
                </a:moveTo>
                <a:cubicBezTo>
                  <a:pt x="158445" y="204193"/>
                  <a:pt x="204193" y="158445"/>
                  <a:pt x="204193" y="102096"/>
                </a:cubicBezTo>
                <a:cubicBezTo>
                  <a:pt x="204193" y="45748"/>
                  <a:pt x="158445" y="0"/>
                  <a:pt x="102096" y="0"/>
                </a:cubicBezTo>
                <a:cubicBezTo>
                  <a:pt x="45748" y="0"/>
                  <a:pt x="0" y="45748"/>
                  <a:pt x="0" y="102096"/>
                </a:cubicBezTo>
                <a:cubicBezTo>
                  <a:pt x="0" y="158445"/>
                  <a:pt x="45748" y="204193"/>
                  <a:pt x="102096" y="204193"/>
                </a:cubicBezTo>
                <a:close/>
                <a:moveTo>
                  <a:pt x="135756" y="84828"/>
                </a:moveTo>
                <a:lnTo>
                  <a:pt x="103851" y="135876"/>
                </a:lnTo>
                <a:cubicBezTo>
                  <a:pt x="102176" y="138548"/>
                  <a:pt x="99305" y="140223"/>
                  <a:pt x="96154" y="140382"/>
                </a:cubicBezTo>
                <a:cubicBezTo>
                  <a:pt x="93003" y="140542"/>
                  <a:pt x="89972" y="139106"/>
                  <a:pt x="88098" y="136554"/>
                </a:cubicBezTo>
                <a:lnTo>
                  <a:pt x="68955" y="111030"/>
                </a:lnTo>
                <a:cubicBezTo>
                  <a:pt x="65764" y="106802"/>
                  <a:pt x="66642" y="100820"/>
                  <a:pt x="70869" y="97630"/>
                </a:cubicBezTo>
                <a:cubicBezTo>
                  <a:pt x="75097" y="94439"/>
                  <a:pt x="81079" y="95316"/>
                  <a:pt x="84269" y="99544"/>
                </a:cubicBezTo>
                <a:lnTo>
                  <a:pt x="95037" y="113901"/>
                </a:lnTo>
                <a:lnTo>
                  <a:pt x="119524" y="74698"/>
                </a:lnTo>
                <a:cubicBezTo>
                  <a:pt x="122316" y="70231"/>
                  <a:pt x="128219" y="68835"/>
                  <a:pt x="132725" y="71667"/>
                </a:cubicBezTo>
                <a:cubicBezTo>
                  <a:pt x="137232" y="74498"/>
                  <a:pt x="138588" y="80361"/>
                  <a:pt x="135756" y="8486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8" name="Text 66"/>
          <p:cNvSpPr/>
          <p:nvPr/>
        </p:nvSpPr>
        <p:spPr>
          <a:xfrm>
            <a:off x="10401911" y="6350389"/>
            <a:ext cx="131023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7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Ready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410419" y="6554582"/>
            <a:ext cx="130172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38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 AI Act LIMITED-RISK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274" y="341274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68255" y="0"/>
                </a:moveTo>
                <a:lnTo>
                  <a:pt x="273019" y="0"/>
                </a:lnTo>
                <a:cubicBezTo>
                  <a:pt x="310715" y="0"/>
                  <a:pt x="341274" y="30559"/>
                  <a:pt x="341274" y="68255"/>
                </a:cubicBezTo>
                <a:lnTo>
                  <a:pt x="341274" y="273019"/>
                </a:lnTo>
                <a:cubicBezTo>
                  <a:pt x="341274" y="310715"/>
                  <a:pt x="310715" y="341274"/>
                  <a:pt x="273019" y="341274"/>
                </a:cubicBezTo>
                <a:lnTo>
                  <a:pt x="68255" y="341274"/>
                </a:lnTo>
                <a:cubicBezTo>
                  <a:pt x="30559" y="341274"/>
                  <a:pt x="0" y="310715"/>
                  <a:pt x="0" y="273019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37257" y="435124"/>
            <a:ext cx="153573" cy="153573"/>
          </a:xfrm>
          <a:custGeom>
            <a:avLst/>
            <a:gdLst/>
            <a:ahLst/>
            <a:cxnLst/>
            <a:rect l="l" t="t" r="r" b="b"/>
            <a:pathLst>
              <a:path w="153573" h="153573">
                <a:moveTo>
                  <a:pt x="67158" y="9598"/>
                </a:moveTo>
                <a:lnTo>
                  <a:pt x="44302" y="9598"/>
                </a:lnTo>
                <a:cubicBezTo>
                  <a:pt x="35484" y="9598"/>
                  <a:pt x="27775" y="15627"/>
                  <a:pt x="25676" y="24176"/>
                </a:cubicBezTo>
                <a:lnTo>
                  <a:pt x="420" y="126128"/>
                </a:lnTo>
                <a:cubicBezTo>
                  <a:pt x="-1830" y="135186"/>
                  <a:pt x="5039" y="143975"/>
                  <a:pt x="14397" y="143975"/>
                </a:cubicBezTo>
                <a:lnTo>
                  <a:pt x="67158" y="143975"/>
                </a:lnTo>
                <a:lnTo>
                  <a:pt x="67158" y="124778"/>
                </a:lnTo>
                <a:cubicBezTo>
                  <a:pt x="67158" y="119469"/>
                  <a:pt x="71447" y="115180"/>
                  <a:pt x="76757" y="115180"/>
                </a:cubicBezTo>
                <a:cubicBezTo>
                  <a:pt x="82066" y="115180"/>
                  <a:pt x="86355" y="119469"/>
                  <a:pt x="86355" y="124778"/>
                </a:cubicBezTo>
                <a:lnTo>
                  <a:pt x="86355" y="143975"/>
                </a:lnTo>
                <a:lnTo>
                  <a:pt x="139176" y="143975"/>
                </a:lnTo>
                <a:cubicBezTo>
                  <a:pt x="148534" y="143975"/>
                  <a:pt x="155403" y="135186"/>
                  <a:pt x="153153" y="126128"/>
                </a:cubicBezTo>
                <a:lnTo>
                  <a:pt x="127928" y="24176"/>
                </a:lnTo>
                <a:cubicBezTo>
                  <a:pt x="125798" y="15627"/>
                  <a:pt x="118119" y="9598"/>
                  <a:pt x="109271" y="9598"/>
                </a:cubicBezTo>
                <a:lnTo>
                  <a:pt x="86355" y="9598"/>
                </a:lnTo>
                <a:lnTo>
                  <a:pt x="86355" y="28795"/>
                </a:lnTo>
                <a:cubicBezTo>
                  <a:pt x="86355" y="34104"/>
                  <a:pt x="82066" y="38393"/>
                  <a:pt x="76757" y="38393"/>
                </a:cubicBezTo>
                <a:cubicBezTo>
                  <a:pt x="71447" y="38393"/>
                  <a:pt x="67158" y="34104"/>
                  <a:pt x="67158" y="28795"/>
                </a:cubicBezTo>
                <a:lnTo>
                  <a:pt x="67158" y="9598"/>
                </a:lnTo>
                <a:close/>
                <a:moveTo>
                  <a:pt x="86355" y="67188"/>
                </a:moveTo>
                <a:lnTo>
                  <a:pt x="86355" y="86385"/>
                </a:lnTo>
                <a:cubicBezTo>
                  <a:pt x="86355" y="91694"/>
                  <a:pt x="82066" y="95983"/>
                  <a:pt x="76757" y="95983"/>
                </a:cubicBezTo>
                <a:cubicBezTo>
                  <a:pt x="71447" y="95983"/>
                  <a:pt x="67158" y="91694"/>
                  <a:pt x="67158" y="86385"/>
                </a:cubicBezTo>
                <a:lnTo>
                  <a:pt x="67158" y="67188"/>
                </a:lnTo>
                <a:cubicBezTo>
                  <a:pt x="67158" y="61879"/>
                  <a:pt x="71447" y="57590"/>
                  <a:pt x="76757" y="57590"/>
                </a:cubicBezTo>
                <a:cubicBezTo>
                  <a:pt x="82066" y="57590"/>
                  <a:pt x="86355" y="61879"/>
                  <a:pt x="86355" y="67188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84929" y="426592"/>
            <a:ext cx="1731964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kern="0" spc="94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1274" y="784929"/>
            <a:ext cx="1166302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8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Four-Phase Roadmap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1274" y="1194458"/>
            <a:ext cx="1158623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POC to scale: 36-month journey to market leadership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1274" y="1603986"/>
            <a:ext cx="2772848" cy="4095283"/>
          </a:xfrm>
          <a:custGeom>
            <a:avLst/>
            <a:gdLst/>
            <a:ahLst/>
            <a:cxnLst/>
            <a:rect l="l" t="t" r="r" b="b"/>
            <a:pathLst>
              <a:path w="2772848" h="4095283">
                <a:moveTo>
                  <a:pt x="136507" y="0"/>
                </a:moveTo>
                <a:lnTo>
                  <a:pt x="2636341" y="0"/>
                </a:lnTo>
                <a:cubicBezTo>
                  <a:pt x="2711732" y="0"/>
                  <a:pt x="2772848" y="61116"/>
                  <a:pt x="2772848" y="136507"/>
                </a:cubicBezTo>
                <a:lnTo>
                  <a:pt x="2772848" y="3958776"/>
                </a:lnTo>
                <a:cubicBezTo>
                  <a:pt x="2772848" y="4034167"/>
                  <a:pt x="2711732" y="4095283"/>
                  <a:pt x="2636341" y="4095283"/>
                </a:cubicBezTo>
                <a:lnTo>
                  <a:pt x="136507" y="4095283"/>
                </a:lnTo>
                <a:cubicBezTo>
                  <a:pt x="61116" y="4095283"/>
                  <a:pt x="0" y="4034167"/>
                  <a:pt x="0" y="3958776"/>
                </a:cubicBezTo>
                <a:lnTo>
                  <a:pt x="0" y="136507"/>
                </a:lnTo>
                <a:cubicBezTo>
                  <a:pt x="0" y="61167"/>
                  <a:pt x="61167" y="0"/>
                  <a:pt x="13650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10B981">
                  <a:alpha val="8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11910" y="1774623"/>
            <a:ext cx="477783" cy="477783"/>
          </a:xfrm>
          <a:custGeom>
            <a:avLst/>
            <a:gdLst/>
            <a:ahLst/>
            <a:cxnLst/>
            <a:rect l="l" t="t" r="r" b="b"/>
            <a:pathLst>
              <a:path w="477783" h="477783">
                <a:moveTo>
                  <a:pt x="102384" y="0"/>
                </a:moveTo>
                <a:lnTo>
                  <a:pt x="375399" y="0"/>
                </a:lnTo>
                <a:cubicBezTo>
                  <a:pt x="431906" y="0"/>
                  <a:pt x="477783" y="45877"/>
                  <a:pt x="477783" y="102384"/>
                </a:cubicBezTo>
                <a:lnTo>
                  <a:pt x="477783" y="375399"/>
                </a:lnTo>
                <a:cubicBezTo>
                  <a:pt x="477783" y="431906"/>
                  <a:pt x="431906" y="477783"/>
                  <a:pt x="375399" y="477783"/>
                </a:cubicBezTo>
                <a:lnTo>
                  <a:pt x="102384" y="477783"/>
                </a:lnTo>
                <a:cubicBezTo>
                  <a:pt x="45877" y="477783"/>
                  <a:pt x="0" y="431906"/>
                  <a:pt x="0" y="375399"/>
                </a:cubicBezTo>
                <a:lnTo>
                  <a:pt x="0" y="102384"/>
                </a:lnTo>
                <a:cubicBezTo>
                  <a:pt x="0" y="45877"/>
                  <a:pt x="45877" y="0"/>
                  <a:pt x="10238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648420" y="1911132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102382" y="204764"/>
                </a:moveTo>
                <a:cubicBezTo>
                  <a:pt x="158888" y="204764"/>
                  <a:pt x="204764" y="158888"/>
                  <a:pt x="204764" y="102382"/>
                </a:cubicBezTo>
                <a:cubicBezTo>
                  <a:pt x="204764" y="45876"/>
                  <a:pt x="158888" y="0"/>
                  <a:pt x="102382" y="0"/>
                </a:cubicBezTo>
                <a:cubicBezTo>
                  <a:pt x="45876" y="0"/>
                  <a:pt x="0" y="45876"/>
                  <a:pt x="0" y="102382"/>
                </a:cubicBezTo>
                <a:cubicBezTo>
                  <a:pt x="0" y="158888"/>
                  <a:pt x="45876" y="204764"/>
                  <a:pt x="102382" y="204764"/>
                </a:cubicBezTo>
                <a:close/>
                <a:moveTo>
                  <a:pt x="136136" y="85065"/>
                </a:moveTo>
                <a:lnTo>
                  <a:pt x="104142" y="136256"/>
                </a:lnTo>
                <a:cubicBezTo>
                  <a:pt x="102462" y="138936"/>
                  <a:pt x="99583" y="140615"/>
                  <a:pt x="96423" y="140775"/>
                </a:cubicBezTo>
                <a:cubicBezTo>
                  <a:pt x="93264" y="140935"/>
                  <a:pt x="90224" y="139496"/>
                  <a:pt x="88345" y="136936"/>
                </a:cubicBezTo>
                <a:lnTo>
                  <a:pt x="69148" y="111341"/>
                </a:lnTo>
                <a:cubicBezTo>
                  <a:pt x="65948" y="107101"/>
                  <a:pt x="66828" y="101102"/>
                  <a:pt x="71068" y="97903"/>
                </a:cubicBezTo>
                <a:cubicBezTo>
                  <a:pt x="75307" y="94703"/>
                  <a:pt x="81306" y="95583"/>
                  <a:pt x="84505" y="99823"/>
                </a:cubicBezTo>
                <a:lnTo>
                  <a:pt x="95303" y="114220"/>
                </a:lnTo>
                <a:lnTo>
                  <a:pt x="119859" y="74907"/>
                </a:lnTo>
                <a:cubicBezTo>
                  <a:pt x="122659" y="70428"/>
                  <a:pt x="128578" y="69028"/>
                  <a:pt x="133097" y="71867"/>
                </a:cubicBezTo>
                <a:cubicBezTo>
                  <a:pt x="137616" y="74707"/>
                  <a:pt x="138976" y="80586"/>
                  <a:pt x="136136" y="8510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2220554" y="1911132"/>
            <a:ext cx="725206" cy="204764"/>
          </a:xfrm>
          <a:custGeom>
            <a:avLst/>
            <a:gdLst/>
            <a:ahLst/>
            <a:cxnLst/>
            <a:rect l="l" t="t" r="r" b="b"/>
            <a:pathLst>
              <a:path w="725206" h="204764">
                <a:moveTo>
                  <a:pt x="102382" y="0"/>
                </a:moveTo>
                <a:lnTo>
                  <a:pt x="622824" y="0"/>
                </a:lnTo>
                <a:cubicBezTo>
                  <a:pt x="679331" y="0"/>
                  <a:pt x="725206" y="45876"/>
                  <a:pt x="725206" y="102382"/>
                </a:cubicBezTo>
                <a:lnTo>
                  <a:pt x="725206" y="102382"/>
                </a:lnTo>
                <a:cubicBezTo>
                  <a:pt x="725206" y="158888"/>
                  <a:pt x="679331" y="204764"/>
                  <a:pt x="622824" y="204764"/>
                </a:cubicBezTo>
                <a:lnTo>
                  <a:pt x="102382" y="204764"/>
                </a:lnTo>
                <a:cubicBezTo>
                  <a:pt x="45876" y="204764"/>
                  <a:pt x="0" y="158888"/>
                  <a:pt x="0" y="102382"/>
                </a:cubicBezTo>
                <a:lnTo>
                  <a:pt x="0" y="102382"/>
                </a:lnTo>
                <a:cubicBezTo>
                  <a:pt x="0" y="45876"/>
                  <a:pt x="45876" y="0"/>
                  <a:pt x="10238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220554" y="1911132"/>
            <a:ext cx="776397" cy="204764"/>
          </a:xfrm>
          <a:prstGeom prst="rect">
            <a:avLst/>
          </a:prstGeom>
          <a:noFill/>
          <a:ln/>
        </p:spPr>
        <p:txBody>
          <a:bodyPr wrap="square" lIns="102382" tIns="34127" rIns="102382" bIns="34127" rtlCol="0" anchor="ctr"/>
          <a:lstStyle/>
          <a:p>
            <a:pPr>
              <a:lnSpc>
                <a:spcPct val="110000"/>
              </a:lnSpc>
            </a:pPr>
            <a:r>
              <a:rPr lang="en-US" sz="806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1910" y="2388915"/>
            <a:ext cx="2533957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1910" y="2696062"/>
            <a:ext cx="249982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1910" y="3003208"/>
            <a:ext cx="2431575" cy="614293"/>
          </a:xfrm>
          <a:custGeom>
            <a:avLst/>
            <a:gdLst/>
            <a:ahLst/>
            <a:cxnLst/>
            <a:rect l="l" t="t" r="r" b="b"/>
            <a:pathLst>
              <a:path w="2431575" h="614293">
                <a:moveTo>
                  <a:pt x="68254" y="0"/>
                </a:moveTo>
                <a:lnTo>
                  <a:pt x="2363320" y="0"/>
                </a:lnTo>
                <a:cubicBezTo>
                  <a:pt x="2401016" y="0"/>
                  <a:pt x="2431575" y="30558"/>
                  <a:pt x="2431575" y="68254"/>
                </a:cubicBezTo>
                <a:lnTo>
                  <a:pt x="2431575" y="546038"/>
                </a:lnTo>
                <a:cubicBezTo>
                  <a:pt x="2431575" y="583734"/>
                  <a:pt x="2401016" y="614293"/>
                  <a:pt x="2363320" y="614293"/>
                </a:cubicBezTo>
                <a:lnTo>
                  <a:pt x="68254" y="614293"/>
                </a:lnTo>
                <a:cubicBezTo>
                  <a:pt x="30558" y="614293"/>
                  <a:pt x="0" y="583734"/>
                  <a:pt x="0" y="546038"/>
                </a:cubicBezTo>
                <a:lnTo>
                  <a:pt x="0" y="68254"/>
                </a:lnTo>
                <a:cubicBezTo>
                  <a:pt x="0" y="30558"/>
                  <a:pt x="30558" y="0"/>
                  <a:pt x="6825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14293" y="3105590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4293" y="3310354"/>
            <a:ext cx="229506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1, 2026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1910" y="3719882"/>
            <a:ext cx="2431575" cy="750802"/>
          </a:xfrm>
          <a:custGeom>
            <a:avLst/>
            <a:gdLst/>
            <a:ahLst/>
            <a:cxnLst/>
            <a:rect l="l" t="t" r="r" b="b"/>
            <a:pathLst>
              <a:path w="2431575" h="750802">
                <a:moveTo>
                  <a:pt x="68255" y="0"/>
                </a:moveTo>
                <a:lnTo>
                  <a:pt x="2363319" y="0"/>
                </a:lnTo>
                <a:cubicBezTo>
                  <a:pt x="2401016" y="0"/>
                  <a:pt x="2431575" y="30559"/>
                  <a:pt x="2431575" y="68255"/>
                </a:cubicBezTo>
                <a:lnTo>
                  <a:pt x="2431575" y="682547"/>
                </a:lnTo>
                <a:cubicBezTo>
                  <a:pt x="2431575" y="720243"/>
                  <a:pt x="2401016" y="750802"/>
                  <a:pt x="2363319" y="750802"/>
                </a:cubicBezTo>
                <a:lnTo>
                  <a:pt x="68255" y="750802"/>
                </a:lnTo>
                <a:cubicBezTo>
                  <a:pt x="30559" y="750802"/>
                  <a:pt x="0" y="720243"/>
                  <a:pt x="0" y="682547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14293" y="3822265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Achievement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4293" y="4027029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Dual-pipeline operational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4293" y="4197666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85-90% consistency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1910" y="4573066"/>
            <a:ext cx="2431575" cy="648420"/>
          </a:xfrm>
          <a:custGeom>
            <a:avLst/>
            <a:gdLst/>
            <a:ahLst/>
            <a:cxnLst/>
            <a:rect l="l" t="t" r="r" b="b"/>
            <a:pathLst>
              <a:path w="2431575" h="648420">
                <a:moveTo>
                  <a:pt x="68253" y="0"/>
                </a:moveTo>
                <a:lnTo>
                  <a:pt x="2363322" y="0"/>
                </a:lnTo>
                <a:cubicBezTo>
                  <a:pt x="2401017" y="0"/>
                  <a:pt x="2431575" y="30558"/>
                  <a:pt x="2431575" y="68253"/>
                </a:cubicBezTo>
                <a:lnTo>
                  <a:pt x="2431575" y="580167"/>
                </a:lnTo>
                <a:cubicBezTo>
                  <a:pt x="2431575" y="617862"/>
                  <a:pt x="2401017" y="648420"/>
                  <a:pt x="2363322" y="648420"/>
                </a:cubicBezTo>
                <a:lnTo>
                  <a:pt x="68253" y="648420"/>
                </a:lnTo>
                <a:cubicBezTo>
                  <a:pt x="30558" y="648420"/>
                  <a:pt x="0" y="617862"/>
                  <a:pt x="0" y="580167"/>
                </a:cubicBezTo>
                <a:lnTo>
                  <a:pt x="0" y="68253"/>
                </a:lnTo>
                <a:cubicBezTo>
                  <a:pt x="0" y="30583"/>
                  <a:pt x="30583" y="0"/>
                  <a:pt x="68253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14293" y="4675449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4293" y="4880213"/>
            <a:ext cx="231212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$1,000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53475" y="1603986"/>
            <a:ext cx="2772848" cy="4095283"/>
          </a:xfrm>
          <a:custGeom>
            <a:avLst/>
            <a:gdLst/>
            <a:ahLst/>
            <a:cxnLst/>
            <a:rect l="l" t="t" r="r" b="b"/>
            <a:pathLst>
              <a:path w="2772848" h="4095283">
                <a:moveTo>
                  <a:pt x="136507" y="0"/>
                </a:moveTo>
                <a:lnTo>
                  <a:pt x="2636341" y="0"/>
                </a:lnTo>
                <a:cubicBezTo>
                  <a:pt x="2711732" y="0"/>
                  <a:pt x="2772848" y="61116"/>
                  <a:pt x="2772848" y="136507"/>
                </a:cubicBezTo>
                <a:lnTo>
                  <a:pt x="2772848" y="3958776"/>
                </a:lnTo>
                <a:cubicBezTo>
                  <a:pt x="2772848" y="4034167"/>
                  <a:pt x="2711732" y="4095283"/>
                  <a:pt x="2636341" y="4095283"/>
                </a:cubicBezTo>
                <a:lnTo>
                  <a:pt x="136507" y="4095283"/>
                </a:lnTo>
                <a:cubicBezTo>
                  <a:pt x="61116" y="4095283"/>
                  <a:pt x="0" y="4034167"/>
                  <a:pt x="0" y="3958776"/>
                </a:cubicBezTo>
                <a:lnTo>
                  <a:pt x="0" y="136507"/>
                </a:lnTo>
                <a:cubicBezTo>
                  <a:pt x="0" y="61167"/>
                  <a:pt x="61167" y="0"/>
                  <a:pt x="136507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/>
              </a:gs>
              <a:gs pos="100000">
                <a:srgbClr val="F59E0B">
                  <a:alpha val="8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3424112" y="1774623"/>
            <a:ext cx="477783" cy="477783"/>
          </a:xfrm>
          <a:custGeom>
            <a:avLst/>
            <a:gdLst/>
            <a:ahLst/>
            <a:cxnLst/>
            <a:rect l="l" t="t" r="r" b="b"/>
            <a:pathLst>
              <a:path w="477783" h="477783">
                <a:moveTo>
                  <a:pt x="102384" y="0"/>
                </a:moveTo>
                <a:lnTo>
                  <a:pt x="375399" y="0"/>
                </a:lnTo>
                <a:cubicBezTo>
                  <a:pt x="431906" y="0"/>
                  <a:pt x="477783" y="45877"/>
                  <a:pt x="477783" y="102384"/>
                </a:cubicBezTo>
                <a:lnTo>
                  <a:pt x="477783" y="375399"/>
                </a:lnTo>
                <a:cubicBezTo>
                  <a:pt x="477783" y="431906"/>
                  <a:pt x="431906" y="477783"/>
                  <a:pt x="375399" y="477783"/>
                </a:cubicBezTo>
                <a:lnTo>
                  <a:pt x="102384" y="477783"/>
                </a:lnTo>
                <a:cubicBezTo>
                  <a:pt x="45877" y="477783"/>
                  <a:pt x="0" y="431906"/>
                  <a:pt x="0" y="375399"/>
                </a:cubicBezTo>
                <a:lnTo>
                  <a:pt x="0" y="102384"/>
                </a:lnTo>
                <a:cubicBezTo>
                  <a:pt x="0" y="45877"/>
                  <a:pt x="45877" y="0"/>
                  <a:pt x="10238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3560621" y="1911132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102382" y="0"/>
                </a:moveTo>
                <a:cubicBezTo>
                  <a:pt x="158888" y="0"/>
                  <a:pt x="204764" y="45876"/>
                  <a:pt x="204764" y="102382"/>
                </a:cubicBezTo>
                <a:cubicBezTo>
                  <a:pt x="204764" y="158888"/>
                  <a:pt x="158888" y="204764"/>
                  <a:pt x="102382" y="204764"/>
                </a:cubicBezTo>
                <a:cubicBezTo>
                  <a:pt x="45876" y="204764"/>
                  <a:pt x="0" y="158888"/>
                  <a:pt x="0" y="102382"/>
                </a:cubicBezTo>
                <a:cubicBezTo>
                  <a:pt x="0" y="45876"/>
                  <a:pt x="45876" y="0"/>
                  <a:pt x="102382" y="0"/>
                </a:cubicBezTo>
                <a:close/>
                <a:moveTo>
                  <a:pt x="92784" y="47992"/>
                </a:moveTo>
                <a:lnTo>
                  <a:pt x="92784" y="102382"/>
                </a:lnTo>
                <a:cubicBezTo>
                  <a:pt x="92784" y="105582"/>
                  <a:pt x="94383" y="108581"/>
                  <a:pt x="97063" y="110381"/>
                </a:cubicBezTo>
                <a:lnTo>
                  <a:pt x="135456" y="135976"/>
                </a:lnTo>
                <a:cubicBezTo>
                  <a:pt x="139856" y="138936"/>
                  <a:pt x="145814" y="137736"/>
                  <a:pt x="148774" y="133297"/>
                </a:cubicBezTo>
                <a:cubicBezTo>
                  <a:pt x="151733" y="128857"/>
                  <a:pt x="150534" y="122938"/>
                  <a:pt x="146094" y="119979"/>
                </a:cubicBezTo>
                <a:lnTo>
                  <a:pt x="111980" y="97263"/>
                </a:lnTo>
                <a:lnTo>
                  <a:pt x="111980" y="47992"/>
                </a:lnTo>
                <a:cubicBezTo>
                  <a:pt x="111980" y="42673"/>
                  <a:pt x="107701" y="38393"/>
                  <a:pt x="102382" y="38393"/>
                </a:cubicBezTo>
                <a:cubicBezTo>
                  <a:pt x="97063" y="38393"/>
                  <a:pt x="92784" y="42673"/>
                  <a:pt x="92784" y="4799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5282916" y="1911132"/>
            <a:ext cx="571633" cy="204764"/>
          </a:xfrm>
          <a:custGeom>
            <a:avLst/>
            <a:gdLst/>
            <a:ahLst/>
            <a:cxnLst/>
            <a:rect l="l" t="t" r="r" b="b"/>
            <a:pathLst>
              <a:path w="571633" h="204764">
                <a:moveTo>
                  <a:pt x="102382" y="0"/>
                </a:moveTo>
                <a:lnTo>
                  <a:pt x="469251" y="0"/>
                </a:lnTo>
                <a:cubicBezTo>
                  <a:pt x="525757" y="0"/>
                  <a:pt x="571633" y="45876"/>
                  <a:pt x="571633" y="102382"/>
                </a:cubicBezTo>
                <a:lnTo>
                  <a:pt x="571633" y="102382"/>
                </a:lnTo>
                <a:cubicBezTo>
                  <a:pt x="571633" y="158888"/>
                  <a:pt x="525757" y="204764"/>
                  <a:pt x="469251" y="204764"/>
                </a:cubicBezTo>
                <a:lnTo>
                  <a:pt x="102382" y="204764"/>
                </a:lnTo>
                <a:cubicBezTo>
                  <a:pt x="45876" y="204764"/>
                  <a:pt x="0" y="158888"/>
                  <a:pt x="0" y="102382"/>
                </a:cubicBezTo>
                <a:lnTo>
                  <a:pt x="0" y="102382"/>
                </a:lnTo>
                <a:cubicBezTo>
                  <a:pt x="0" y="45876"/>
                  <a:pt x="45876" y="0"/>
                  <a:pt x="10238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282916" y="1911132"/>
            <a:ext cx="622824" cy="204764"/>
          </a:xfrm>
          <a:prstGeom prst="rect">
            <a:avLst/>
          </a:prstGeom>
          <a:noFill/>
          <a:ln/>
        </p:spPr>
        <p:txBody>
          <a:bodyPr wrap="square" lIns="102382" tIns="34127" rIns="102382" bIns="34127" rtlCol="0" anchor="ctr"/>
          <a:lstStyle/>
          <a:p>
            <a:pPr>
              <a:lnSpc>
                <a:spcPct val="110000"/>
              </a:lnSpc>
            </a:pPr>
            <a:r>
              <a:rPr lang="en-US" sz="806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PREP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24112" y="2388915"/>
            <a:ext cx="2533957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24112" y="2696062"/>
            <a:ext cx="249982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24112" y="3003208"/>
            <a:ext cx="2431575" cy="784929"/>
          </a:xfrm>
          <a:custGeom>
            <a:avLst/>
            <a:gdLst/>
            <a:ahLst/>
            <a:cxnLst/>
            <a:rect l="l" t="t" r="r" b="b"/>
            <a:pathLst>
              <a:path w="2431575" h="784929">
                <a:moveTo>
                  <a:pt x="68257" y="0"/>
                </a:moveTo>
                <a:lnTo>
                  <a:pt x="2363317" y="0"/>
                </a:lnTo>
                <a:cubicBezTo>
                  <a:pt x="2401015" y="0"/>
                  <a:pt x="2431575" y="30560"/>
                  <a:pt x="2431575" y="68257"/>
                </a:cubicBezTo>
                <a:lnTo>
                  <a:pt x="2431575" y="716672"/>
                </a:lnTo>
                <a:cubicBezTo>
                  <a:pt x="2431575" y="754369"/>
                  <a:pt x="2401015" y="784929"/>
                  <a:pt x="2363317" y="784929"/>
                </a:cubicBezTo>
                <a:lnTo>
                  <a:pt x="68257" y="784929"/>
                </a:lnTo>
                <a:cubicBezTo>
                  <a:pt x="30585" y="784929"/>
                  <a:pt x="0" y="754344"/>
                  <a:pt x="0" y="716672"/>
                </a:cubicBezTo>
                <a:lnTo>
                  <a:pt x="0" y="68257"/>
                </a:lnTo>
                <a:cubicBezTo>
                  <a:pt x="0" y="30585"/>
                  <a:pt x="30585" y="0"/>
                  <a:pt x="68257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3526494" y="3105590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26494" y="3310354"/>
            <a:ext cx="229506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1-8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526494" y="3515118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May-June 2026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24112" y="3890519"/>
            <a:ext cx="2431575" cy="580165"/>
          </a:xfrm>
          <a:custGeom>
            <a:avLst/>
            <a:gdLst/>
            <a:ahLst/>
            <a:cxnLst/>
            <a:rect l="l" t="t" r="r" b="b"/>
            <a:pathLst>
              <a:path w="2431575" h="580165">
                <a:moveTo>
                  <a:pt x="68256" y="0"/>
                </a:moveTo>
                <a:lnTo>
                  <a:pt x="2363318" y="0"/>
                </a:lnTo>
                <a:cubicBezTo>
                  <a:pt x="2401015" y="0"/>
                  <a:pt x="2431575" y="30559"/>
                  <a:pt x="2431575" y="68256"/>
                </a:cubicBezTo>
                <a:lnTo>
                  <a:pt x="2431575" y="511909"/>
                </a:lnTo>
                <a:cubicBezTo>
                  <a:pt x="2431575" y="549606"/>
                  <a:pt x="2401015" y="580165"/>
                  <a:pt x="2363318" y="580165"/>
                </a:cubicBezTo>
                <a:lnTo>
                  <a:pt x="68256" y="580165"/>
                </a:lnTo>
                <a:cubicBezTo>
                  <a:pt x="30559" y="580165"/>
                  <a:pt x="0" y="549606"/>
                  <a:pt x="0" y="511909"/>
                </a:cubicBezTo>
                <a:lnTo>
                  <a:pt x="0" y="68256"/>
                </a:lnTo>
                <a:cubicBezTo>
                  <a:pt x="0" y="30585"/>
                  <a:pt x="30585" y="0"/>
                  <a:pt x="68256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3526494" y="3992901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526494" y="4197666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users (30 creators + 20 educators)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24112" y="4573066"/>
            <a:ext cx="2431575" cy="784929"/>
          </a:xfrm>
          <a:custGeom>
            <a:avLst/>
            <a:gdLst/>
            <a:ahLst/>
            <a:cxnLst/>
            <a:rect l="l" t="t" r="r" b="b"/>
            <a:pathLst>
              <a:path w="2431575" h="784929">
                <a:moveTo>
                  <a:pt x="68257" y="0"/>
                </a:moveTo>
                <a:lnTo>
                  <a:pt x="2363317" y="0"/>
                </a:lnTo>
                <a:cubicBezTo>
                  <a:pt x="2401015" y="0"/>
                  <a:pt x="2431575" y="30560"/>
                  <a:pt x="2431575" y="68257"/>
                </a:cubicBezTo>
                <a:lnTo>
                  <a:pt x="2431575" y="716672"/>
                </a:lnTo>
                <a:cubicBezTo>
                  <a:pt x="2431575" y="754369"/>
                  <a:pt x="2401015" y="784929"/>
                  <a:pt x="2363317" y="784929"/>
                </a:cubicBezTo>
                <a:lnTo>
                  <a:pt x="68257" y="784929"/>
                </a:lnTo>
                <a:cubicBezTo>
                  <a:pt x="30585" y="784929"/>
                  <a:pt x="0" y="754344"/>
                  <a:pt x="0" y="716672"/>
                </a:cubicBezTo>
                <a:lnTo>
                  <a:pt x="0" y="68257"/>
                </a:lnTo>
                <a:cubicBezTo>
                  <a:pt x="0" y="30585"/>
                  <a:pt x="30585" y="0"/>
                  <a:pt x="68257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3526494" y="4675449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Investment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526494" y="4880213"/>
            <a:ext cx="231212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526494" y="5119104"/>
            <a:ext cx="2278001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Go/No-Go Week 8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65677" y="1603986"/>
            <a:ext cx="2772848" cy="4095283"/>
          </a:xfrm>
          <a:custGeom>
            <a:avLst/>
            <a:gdLst/>
            <a:ahLst/>
            <a:cxnLst/>
            <a:rect l="l" t="t" r="r" b="b"/>
            <a:pathLst>
              <a:path w="2772848" h="4095283">
                <a:moveTo>
                  <a:pt x="136507" y="0"/>
                </a:moveTo>
                <a:lnTo>
                  <a:pt x="2636341" y="0"/>
                </a:lnTo>
                <a:cubicBezTo>
                  <a:pt x="2711732" y="0"/>
                  <a:pt x="2772848" y="61116"/>
                  <a:pt x="2772848" y="136507"/>
                </a:cubicBezTo>
                <a:lnTo>
                  <a:pt x="2772848" y="3958776"/>
                </a:lnTo>
                <a:cubicBezTo>
                  <a:pt x="2772848" y="4034167"/>
                  <a:pt x="2711732" y="4095283"/>
                  <a:pt x="2636341" y="4095283"/>
                </a:cubicBezTo>
                <a:lnTo>
                  <a:pt x="136507" y="4095283"/>
                </a:lnTo>
                <a:cubicBezTo>
                  <a:pt x="61116" y="4095283"/>
                  <a:pt x="0" y="4034167"/>
                  <a:pt x="0" y="3958776"/>
                </a:cubicBezTo>
                <a:lnTo>
                  <a:pt x="0" y="136507"/>
                </a:lnTo>
                <a:cubicBezTo>
                  <a:pt x="0" y="61167"/>
                  <a:pt x="61167" y="0"/>
                  <a:pt x="136507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2563EB">
                  <a:alpha val="8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Shape 41"/>
          <p:cNvSpPr/>
          <p:nvPr/>
        </p:nvSpPr>
        <p:spPr>
          <a:xfrm>
            <a:off x="6336314" y="1774623"/>
            <a:ext cx="477783" cy="477783"/>
          </a:xfrm>
          <a:custGeom>
            <a:avLst/>
            <a:gdLst/>
            <a:ahLst/>
            <a:cxnLst/>
            <a:rect l="l" t="t" r="r" b="b"/>
            <a:pathLst>
              <a:path w="477783" h="477783">
                <a:moveTo>
                  <a:pt x="102384" y="0"/>
                </a:moveTo>
                <a:lnTo>
                  <a:pt x="375399" y="0"/>
                </a:lnTo>
                <a:cubicBezTo>
                  <a:pt x="431906" y="0"/>
                  <a:pt x="477783" y="45877"/>
                  <a:pt x="477783" y="102384"/>
                </a:cubicBezTo>
                <a:lnTo>
                  <a:pt x="477783" y="375399"/>
                </a:lnTo>
                <a:cubicBezTo>
                  <a:pt x="477783" y="431906"/>
                  <a:pt x="431906" y="477783"/>
                  <a:pt x="375399" y="477783"/>
                </a:cubicBezTo>
                <a:lnTo>
                  <a:pt x="102384" y="477783"/>
                </a:lnTo>
                <a:cubicBezTo>
                  <a:pt x="45877" y="477783"/>
                  <a:pt x="0" y="431906"/>
                  <a:pt x="0" y="375399"/>
                </a:cubicBezTo>
                <a:lnTo>
                  <a:pt x="0" y="102384"/>
                </a:lnTo>
                <a:cubicBezTo>
                  <a:pt x="0" y="45877"/>
                  <a:pt x="45877" y="0"/>
                  <a:pt x="10238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Shape 42"/>
          <p:cNvSpPr/>
          <p:nvPr/>
        </p:nvSpPr>
        <p:spPr>
          <a:xfrm>
            <a:off x="6472823" y="1911132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51191" y="127978"/>
                </a:moveTo>
                <a:lnTo>
                  <a:pt x="9798" y="127978"/>
                </a:lnTo>
                <a:cubicBezTo>
                  <a:pt x="-160" y="127978"/>
                  <a:pt x="-6279" y="117140"/>
                  <a:pt x="-1160" y="108581"/>
                </a:cubicBezTo>
                <a:lnTo>
                  <a:pt x="19997" y="73307"/>
                </a:lnTo>
                <a:cubicBezTo>
                  <a:pt x="23476" y="67508"/>
                  <a:pt x="29715" y="63989"/>
                  <a:pt x="36474" y="63989"/>
                </a:cubicBezTo>
                <a:lnTo>
                  <a:pt x="74467" y="63989"/>
                </a:lnTo>
                <a:cubicBezTo>
                  <a:pt x="104902" y="12438"/>
                  <a:pt x="150294" y="9838"/>
                  <a:pt x="180648" y="14278"/>
                </a:cubicBezTo>
                <a:cubicBezTo>
                  <a:pt x="185767" y="15037"/>
                  <a:pt x="189767" y="19037"/>
                  <a:pt x="190487" y="24116"/>
                </a:cubicBezTo>
                <a:cubicBezTo>
                  <a:pt x="194926" y="54470"/>
                  <a:pt x="192326" y="99863"/>
                  <a:pt x="140775" y="130297"/>
                </a:cubicBezTo>
                <a:lnTo>
                  <a:pt x="140775" y="168291"/>
                </a:lnTo>
                <a:cubicBezTo>
                  <a:pt x="140775" y="175049"/>
                  <a:pt x="137256" y="181288"/>
                  <a:pt x="131457" y="184768"/>
                </a:cubicBezTo>
                <a:lnTo>
                  <a:pt x="96183" y="205924"/>
                </a:lnTo>
                <a:cubicBezTo>
                  <a:pt x="87665" y="211043"/>
                  <a:pt x="76787" y="204884"/>
                  <a:pt x="76787" y="194966"/>
                </a:cubicBezTo>
                <a:lnTo>
                  <a:pt x="76787" y="153573"/>
                </a:lnTo>
                <a:cubicBezTo>
                  <a:pt x="76787" y="139456"/>
                  <a:pt x="65309" y="127978"/>
                  <a:pt x="51191" y="127978"/>
                </a:cubicBezTo>
                <a:lnTo>
                  <a:pt x="51151" y="127978"/>
                </a:lnTo>
                <a:close/>
                <a:moveTo>
                  <a:pt x="159972" y="63989"/>
                </a:moveTo>
                <a:cubicBezTo>
                  <a:pt x="159972" y="53394"/>
                  <a:pt x="151370" y="44792"/>
                  <a:pt x="140775" y="44792"/>
                </a:cubicBezTo>
                <a:cubicBezTo>
                  <a:pt x="130180" y="44792"/>
                  <a:pt x="121579" y="53394"/>
                  <a:pt x="121579" y="63989"/>
                </a:cubicBezTo>
                <a:cubicBezTo>
                  <a:pt x="121579" y="74584"/>
                  <a:pt x="130180" y="83185"/>
                  <a:pt x="140775" y="83185"/>
                </a:cubicBezTo>
                <a:cubicBezTo>
                  <a:pt x="151370" y="83185"/>
                  <a:pt x="159972" y="74584"/>
                  <a:pt x="159972" y="6398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Shape 43"/>
          <p:cNvSpPr/>
          <p:nvPr/>
        </p:nvSpPr>
        <p:spPr>
          <a:xfrm>
            <a:off x="8103684" y="1911132"/>
            <a:ext cx="665484" cy="204764"/>
          </a:xfrm>
          <a:custGeom>
            <a:avLst/>
            <a:gdLst/>
            <a:ahLst/>
            <a:cxnLst/>
            <a:rect l="l" t="t" r="r" b="b"/>
            <a:pathLst>
              <a:path w="665484" h="204764">
                <a:moveTo>
                  <a:pt x="102382" y="0"/>
                </a:moveTo>
                <a:lnTo>
                  <a:pt x="563101" y="0"/>
                </a:lnTo>
                <a:cubicBezTo>
                  <a:pt x="619608" y="0"/>
                  <a:pt x="665484" y="45876"/>
                  <a:pt x="665484" y="102382"/>
                </a:cubicBezTo>
                <a:lnTo>
                  <a:pt x="665484" y="102382"/>
                </a:lnTo>
                <a:cubicBezTo>
                  <a:pt x="665484" y="158888"/>
                  <a:pt x="619608" y="204764"/>
                  <a:pt x="563101" y="204764"/>
                </a:cubicBezTo>
                <a:lnTo>
                  <a:pt x="102382" y="204764"/>
                </a:lnTo>
                <a:cubicBezTo>
                  <a:pt x="45876" y="204764"/>
                  <a:pt x="0" y="158888"/>
                  <a:pt x="0" y="102382"/>
                </a:cubicBezTo>
                <a:lnTo>
                  <a:pt x="0" y="102382"/>
                </a:lnTo>
                <a:cubicBezTo>
                  <a:pt x="0" y="45876"/>
                  <a:pt x="45876" y="0"/>
                  <a:pt x="10238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8103684" y="1911132"/>
            <a:ext cx="716675" cy="204764"/>
          </a:xfrm>
          <a:prstGeom prst="rect">
            <a:avLst/>
          </a:prstGeom>
          <a:noFill/>
          <a:ln/>
        </p:spPr>
        <p:txBody>
          <a:bodyPr wrap="square" lIns="102382" tIns="34127" rIns="102382" bIns="34127" rtlCol="0" anchor="ctr"/>
          <a:lstStyle/>
          <a:p>
            <a:pPr>
              <a:lnSpc>
                <a:spcPct val="110000"/>
              </a:lnSpc>
            </a:pPr>
            <a:r>
              <a:rPr lang="en-US" sz="806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PLANNED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36314" y="2388915"/>
            <a:ext cx="2533957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36314" y="2696062"/>
            <a:ext cx="249982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DEPLOYMENT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36314" y="3003208"/>
            <a:ext cx="2431575" cy="784929"/>
          </a:xfrm>
          <a:custGeom>
            <a:avLst/>
            <a:gdLst/>
            <a:ahLst/>
            <a:cxnLst/>
            <a:rect l="l" t="t" r="r" b="b"/>
            <a:pathLst>
              <a:path w="2431575" h="784929">
                <a:moveTo>
                  <a:pt x="68257" y="0"/>
                </a:moveTo>
                <a:lnTo>
                  <a:pt x="2363317" y="0"/>
                </a:lnTo>
                <a:cubicBezTo>
                  <a:pt x="2401015" y="0"/>
                  <a:pt x="2431575" y="30560"/>
                  <a:pt x="2431575" y="68257"/>
                </a:cubicBezTo>
                <a:lnTo>
                  <a:pt x="2431575" y="716672"/>
                </a:lnTo>
                <a:cubicBezTo>
                  <a:pt x="2431575" y="754369"/>
                  <a:pt x="2401015" y="784929"/>
                  <a:pt x="2363317" y="784929"/>
                </a:cubicBezTo>
                <a:lnTo>
                  <a:pt x="68257" y="784929"/>
                </a:lnTo>
                <a:cubicBezTo>
                  <a:pt x="30585" y="784929"/>
                  <a:pt x="0" y="754344"/>
                  <a:pt x="0" y="716672"/>
                </a:cubicBezTo>
                <a:lnTo>
                  <a:pt x="0" y="68257"/>
                </a:lnTo>
                <a:cubicBezTo>
                  <a:pt x="0" y="30585"/>
                  <a:pt x="30585" y="0"/>
                  <a:pt x="68257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6438696" y="3105590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38696" y="3310354"/>
            <a:ext cx="229506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3-12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38696" y="3515118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July 2026 - April 2027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6314" y="3890519"/>
            <a:ext cx="2431575" cy="750802"/>
          </a:xfrm>
          <a:custGeom>
            <a:avLst/>
            <a:gdLst/>
            <a:ahLst/>
            <a:cxnLst/>
            <a:rect l="l" t="t" r="r" b="b"/>
            <a:pathLst>
              <a:path w="2431575" h="750802">
                <a:moveTo>
                  <a:pt x="68255" y="0"/>
                </a:moveTo>
                <a:lnTo>
                  <a:pt x="2363319" y="0"/>
                </a:lnTo>
                <a:cubicBezTo>
                  <a:pt x="2401016" y="0"/>
                  <a:pt x="2431575" y="30559"/>
                  <a:pt x="2431575" y="68255"/>
                </a:cubicBezTo>
                <a:lnTo>
                  <a:pt x="2431575" y="682547"/>
                </a:lnTo>
                <a:cubicBezTo>
                  <a:pt x="2431575" y="720243"/>
                  <a:pt x="2401016" y="750802"/>
                  <a:pt x="2363319" y="750802"/>
                </a:cubicBezTo>
                <a:lnTo>
                  <a:pt x="68255" y="750802"/>
                </a:lnTo>
                <a:cubicBezTo>
                  <a:pt x="30559" y="750802"/>
                  <a:pt x="0" y="720243"/>
                  <a:pt x="0" y="682547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6438696" y="3992901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38696" y="4197666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323 users, $9,362 MRR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38696" y="4368302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Hunt Month 3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36314" y="4743703"/>
            <a:ext cx="2431575" cy="648420"/>
          </a:xfrm>
          <a:custGeom>
            <a:avLst/>
            <a:gdLst/>
            <a:ahLst/>
            <a:cxnLst/>
            <a:rect l="l" t="t" r="r" b="b"/>
            <a:pathLst>
              <a:path w="2431575" h="648420">
                <a:moveTo>
                  <a:pt x="68253" y="0"/>
                </a:moveTo>
                <a:lnTo>
                  <a:pt x="2363322" y="0"/>
                </a:lnTo>
                <a:cubicBezTo>
                  <a:pt x="2401017" y="0"/>
                  <a:pt x="2431575" y="30558"/>
                  <a:pt x="2431575" y="68253"/>
                </a:cubicBezTo>
                <a:lnTo>
                  <a:pt x="2431575" y="580167"/>
                </a:lnTo>
                <a:cubicBezTo>
                  <a:pt x="2431575" y="617862"/>
                  <a:pt x="2401017" y="648420"/>
                  <a:pt x="2363322" y="648420"/>
                </a:cubicBezTo>
                <a:lnTo>
                  <a:pt x="68253" y="648420"/>
                </a:lnTo>
                <a:cubicBezTo>
                  <a:pt x="30558" y="648420"/>
                  <a:pt x="0" y="617862"/>
                  <a:pt x="0" y="580167"/>
                </a:cubicBezTo>
                <a:lnTo>
                  <a:pt x="0" y="68253"/>
                </a:lnTo>
                <a:cubicBezTo>
                  <a:pt x="0" y="30583"/>
                  <a:pt x="30583" y="0"/>
                  <a:pt x="68253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8" name="Text 56"/>
          <p:cNvSpPr/>
          <p:nvPr/>
        </p:nvSpPr>
        <p:spPr>
          <a:xfrm>
            <a:off x="6438696" y="4846085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438696" y="5050850"/>
            <a:ext cx="231212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$500-800/mo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77878" y="1603986"/>
            <a:ext cx="2772848" cy="4095283"/>
          </a:xfrm>
          <a:custGeom>
            <a:avLst/>
            <a:gdLst/>
            <a:ahLst/>
            <a:cxnLst/>
            <a:rect l="l" t="t" r="r" b="b"/>
            <a:pathLst>
              <a:path w="2772848" h="4095283">
                <a:moveTo>
                  <a:pt x="136507" y="0"/>
                </a:moveTo>
                <a:lnTo>
                  <a:pt x="2636341" y="0"/>
                </a:lnTo>
                <a:cubicBezTo>
                  <a:pt x="2711732" y="0"/>
                  <a:pt x="2772848" y="61116"/>
                  <a:pt x="2772848" y="136507"/>
                </a:cubicBezTo>
                <a:lnTo>
                  <a:pt x="2772848" y="3958776"/>
                </a:lnTo>
                <a:cubicBezTo>
                  <a:pt x="2772848" y="4034167"/>
                  <a:pt x="2711732" y="4095283"/>
                  <a:pt x="2636341" y="4095283"/>
                </a:cubicBezTo>
                <a:lnTo>
                  <a:pt x="136507" y="4095283"/>
                </a:lnTo>
                <a:cubicBezTo>
                  <a:pt x="61116" y="4095283"/>
                  <a:pt x="0" y="4034167"/>
                  <a:pt x="0" y="3958776"/>
                </a:cubicBezTo>
                <a:lnTo>
                  <a:pt x="0" y="136507"/>
                </a:lnTo>
                <a:cubicBezTo>
                  <a:pt x="0" y="61167"/>
                  <a:pt x="61167" y="0"/>
                  <a:pt x="136507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/>
              </a:gs>
              <a:gs pos="100000">
                <a:srgbClr val="8B5CF6">
                  <a:alpha val="8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61" name="Shape 59"/>
          <p:cNvSpPr/>
          <p:nvPr/>
        </p:nvSpPr>
        <p:spPr>
          <a:xfrm>
            <a:off x="9248515" y="1774623"/>
            <a:ext cx="477783" cy="477783"/>
          </a:xfrm>
          <a:custGeom>
            <a:avLst/>
            <a:gdLst/>
            <a:ahLst/>
            <a:cxnLst/>
            <a:rect l="l" t="t" r="r" b="b"/>
            <a:pathLst>
              <a:path w="477783" h="477783">
                <a:moveTo>
                  <a:pt x="102384" y="0"/>
                </a:moveTo>
                <a:lnTo>
                  <a:pt x="375399" y="0"/>
                </a:lnTo>
                <a:cubicBezTo>
                  <a:pt x="431906" y="0"/>
                  <a:pt x="477783" y="45877"/>
                  <a:pt x="477783" y="102384"/>
                </a:cubicBezTo>
                <a:lnTo>
                  <a:pt x="477783" y="375399"/>
                </a:lnTo>
                <a:cubicBezTo>
                  <a:pt x="477783" y="431906"/>
                  <a:pt x="431906" y="477783"/>
                  <a:pt x="375399" y="477783"/>
                </a:cubicBezTo>
                <a:lnTo>
                  <a:pt x="102384" y="477783"/>
                </a:lnTo>
                <a:cubicBezTo>
                  <a:pt x="45877" y="477783"/>
                  <a:pt x="0" y="431906"/>
                  <a:pt x="0" y="375399"/>
                </a:cubicBezTo>
                <a:lnTo>
                  <a:pt x="0" y="102384"/>
                </a:lnTo>
                <a:cubicBezTo>
                  <a:pt x="0" y="45877"/>
                  <a:pt x="45877" y="0"/>
                  <a:pt x="10238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2" name="Shape 60"/>
          <p:cNvSpPr/>
          <p:nvPr/>
        </p:nvSpPr>
        <p:spPr>
          <a:xfrm>
            <a:off x="9385024" y="1911132"/>
            <a:ext cx="204764" cy="204764"/>
          </a:xfrm>
          <a:custGeom>
            <a:avLst/>
            <a:gdLst/>
            <a:ahLst/>
            <a:cxnLst/>
            <a:rect l="l" t="t" r="r" b="b"/>
            <a:pathLst>
              <a:path w="204764" h="204764">
                <a:moveTo>
                  <a:pt x="25596" y="25596"/>
                </a:moveTo>
                <a:cubicBezTo>
                  <a:pt x="25596" y="18517"/>
                  <a:pt x="19877" y="12798"/>
                  <a:pt x="12798" y="12798"/>
                </a:cubicBezTo>
                <a:cubicBezTo>
                  <a:pt x="5719" y="12798"/>
                  <a:pt x="0" y="18517"/>
                  <a:pt x="0" y="25596"/>
                </a:cubicBezTo>
                <a:lnTo>
                  <a:pt x="0" y="159972"/>
                </a:lnTo>
                <a:cubicBezTo>
                  <a:pt x="0" y="177649"/>
                  <a:pt x="14317" y="191966"/>
                  <a:pt x="31994" y="191966"/>
                </a:cubicBezTo>
                <a:lnTo>
                  <a:pt x="191966" y="191966"/>
                </a:lnTo>
                <a:cubicBezTo>
                  <a:pt x="199045" y="191966"/>
                  <a:pt x="204764" y="186247"/>
                  <a:pt x="204764" y="179169"/>
                </a:cubicBezTo>
                <a:cubicBezTo>
                  <a:pt x="204764" y="172090"/>
                  <a:pt x="199045" y="166371"/>
                  <a:pt x="191966" y="166371"/>
                </a:cubicBezTo>
                <a:lnTo>
                  <a:pt x="31994" y="166371"/>
                </a:lnTo>
                <a:cubicBezTo>
                  <a:pt x="28475" y="166371"/>
                  <a:pt x="25596" y="163491"/>
                  <a:pt x="25596" y="159972"/>
                </a:cubicBezTo>
                <a:lnTo>
                  <a:pt x="25596" y="25596"/>
                </a:lnTo>
                <a:close/>
                <a:moveTo>
                  <a:pt x="188207" y="60229"/>
                </a:moveTo>
                <a:cubicBezTo>
                  <a:pt x="193206" y="55230"/>
                  <a:pt x="193206" y="47112"/>
                  <a:pt x="188207" y="42113"/>
                </a:cubicBezTo>
                <a:cubicBezTo>
                  <a:pt x="183208" y="37114"/>
                  <a:pt x="175089" y="37114"/>
                  <a:pt x="170090" y="42113"/>
                </a:cubicBezTo>
                <a:lnTo>
                  <a:pt x="127978" y="84265"/>
                </a:lnTo>
                <a:lnTo>
                  <a:pt x="105022" y="61349"/>
                </a:lnTo>
                <a:cubicBezTo>
                  <a:pt x="100022" y="56350"/>
                  <a:pt x="91904" y="56350"/>
                  <a:pt x="86905" y="61349"/>
                </a:cubicBezTo>
                <a:lnTo>
                  <a:pt x="48512" y="99743"/>
                </a:lnTo>
                <a:cubicBezTo>
                  <a:pt x="43512" y="104742"/>
                  <a:pt x="43512" y="112860"/>
                  <a:pt x="48512" y="117859"/>
                </a:cubicBezTo>
                <a:cubicBezTo>
                  <a:pt x="53511" y="122859"/>
                  <a:pt x="61629" y="122859"/>
                  <a:pt x="66628" y="117859"/>
                </a:cubicBezTo>
                <a:lnTo>
                  <a:pt x="95983" y="88505"/>
                </a:lnTo>
                <a:lnTo>
                  <a:pt x="118939" y="111460"/>
                </a:lnTo>
                <a:cubicBezTo>
                  <a:pt x="123938" y="116460"/>
                  <a:pt x="132057" y="116460"/>
                  <a:pt x="137056" y="111460"/>
                </a:cubicBezTo>
                <a:lnTo>
                  <a:pt x="188247" y="6026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3" name="Shape 61"/>
          <p:cNvSpPr/>
          <p:nvPr/>
        </p:nvSpPr>
        <p:spPr>
          <a:xfrm>
            <a:off x="11130639" y="1911132"/>
            <a:ext cx="554570" cy="204764"/>
          </a:xfrm>
          <a:custGeom>
            <a:avLst/>
            <a:gdLst/>
            <a:ahLst/>
            <a:cxnLst/>
            <a:rect l="l" t="t" r="r" b="b"/>
            <a:pathLst>
              <a:path w="554570" h="204764">
                <a:moveTo>
                  <a:pt x="102382" y="0"/>
                </a:moveTo>
                <a:lnTo>
                  <a:pt x="452188" y="0"/>
                </a:lnTo>
                <a:cubicBezTo>
                  <a:pt x="508694" y="0"/>
                  <a:pt x="554570" y="45876"/>
                  <a:pt x="554570" y="102382"/>
                </a:cubicBezTo>
                <a:lnTo>
                  <a:pt x="554570" y="102382"/>
                </a:lnTo>
                <a:cubicBezTo>
                  <a:pt x="554570" y="158888"/>
                  <a:pt x="508694" y="204764"/>
                  <a:pt x="452188" y="204764"/>
                </a:cubicBezTo>
                <a:lnTo>
                  <a:pt x="102382" y="204764"/>
                </a:lnTo>
                <a:cubicBezTo>
                  <a:pt x="45876" y="204764"/>
                  <a:pt x="0" y="158888"/>
                  <a:pt x="0" y="102382"/>
                </a:cubicBezTo>
                <a:lnTo>
                  <a:pt x="0" y="102382"/>
                </a:lnTo>
                <a:cubicBezTo>
                  <a:pt x="0" y="45876"/>
                  <a:pt x="45876" y="0"/>
                  <a:pt x="10238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4" name="Text 62"/>
          <p:cNvSpPr/>
          <p:nvPr/>
        </p:nvSpPr>
        <p:spPr>
          <a:xfrm>
            <a:off x="11130639" y="1911132"/>
            <a:ext cx="605761" cy="204764"/>
          </a:xfrm>
          <a:prstGeom prst="rect">
            <a:avLst/>
          </a:prstGeom>
          <a:noFill/>
          <a:ln/>
        </p:spPr>
        <p:txBody>
          <a:bodyPr wrap="square" lIns="102382" tIns="34127" rIns="102382" bIns="34127" rtlCol="0" anchor="ctr"/>
          <a:lstStyle/>
          <a:p>
            <a:pPr>
              <a:lnSpc>
                <a:spcPct val="110000"/>
              </a:lnSpc>
            </a:pPr>
            <a:r>
              <a:rPr lang="en-US" sz="806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248515" y="2388915"/>
            <a:ext cx="2533957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PHASE 4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248515" y="2696062"/>
            <a:ext cx="249982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248515" y="3003208"/>
            <a:ext cx="2431575" cy="784929"/>
          </a:xfrm>
          <a:custGeom>
            <a:avLst/>
            <a:gdLst/>
            <a:ahLst/>
            <a:cxnLst/>
            <a:rect l="l" t="t" r="r" b="b"/>
            <a:pathLst>
              <a:path w="2431575" h="784929">
                <a:moveTo>
                  <a:pt x="68257" y="0"/>
                </a:moveTo>
                <a:lnTo>
                  <a:pt x="2363317" y="0"/>
                </a:lnTo>
                <a:cubicBezTo>
                  <a:pt x="2401015" y="0"/>
                  <a:pt x="2431575" y="30560"/>
                  <a:pt x="2431575" y="68257"/>
                </a:cubicBezTo>
                <a:lnTo>
                  <a:pt x="2431575" y="716672"/>
                </a:lnTo>
                <a:cubicBezTo>
                  <a:pt x="2431575" y="754369"/>
                  <a:pt x="2401015" y="784929"/>
                  <a:pt x="2363317" y="784929"/>
                </a:cubicBezTo>
                <a:lnTo>
                  <a:pt x="68257" y="784929"/>
                </a:lnTo>
                <a:cubicBezTo>
                  <a:pt x="30585" y="784929"/>
                  <a:pt x="0" y="754344"/>
                  <a:pt x="0" y="716672"/>
                </a:cubicBezTo>
                <a:lnTo>
                  <a:pt x="0" y="68257"/>
                </a:lnTo>
                <a:cubicBezTo>
                  <a:pt x="0" y="30585"/>
                  <a:pt x="30585" y="0"/>
                  <a:pt x="68257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8" name="Text 66"/>
          <p:cNvSpPr/>
          <p:nvPr/>
        </p:nvSpPr>
        <p:spPr>
          <a:xfrm>
            <a:off x="9350897" y="3105590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350897" y="3310354"/>
            <a:ext cx="2295065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13-36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350897" y="3515118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2027 - March 2029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248515" y="3890519"/>
            <a:ext cx="2431575" cy="750802"/>
          </a:xfrm>
          <a:custGeom>
            <a:avLst/>
            <a:gdLst/>
            <a:ahLst/>
            <a:cxnLst/>
            <a:rect l="l" t="t" r="r" b="b"/>
            <a:pathLst>
              <a:path w="2431575" h="750802">
                <a:moveTo>
                  <a:pt x="68255" y="0"/>
                </a:moveTo>
                <a:lnTo>
                  <a:pt x="2363319" y="0"/>
                </a:lnTo>
                <a:cubicBezTo>
                  <a:pt x="2401016" y="0"/>
                  <a:pt x="2431575" y="30559"/>
                  <a:pt x="2431575" y="68255"/>
                </a:cubicBezTo>
                <a:lnTo>
                  <a:pt x="2431575" y="682547"/>
                </a:lnTo>
                <a:cubicBezTo>
                  <a:pt x="2431575" y="720243"/>
                  <a:pt x="2401016" y="750802"/>
                  <a:pt x="2363319" y="750802"/>
                </a:cubicBezTo>
                <a:lnTo>
                  <a:pt x="68255" y="750802"/>
                </a:lnTo>
                <a:cubicBezTo>
                  <a:pt x="30559" y="750802"/>
                  <a:pt x="0" y="720243"/>
                  <a:pt x="0" y="682547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2" name="Text 70"/>
          <p:cNvSpPr/>
          <p:nvPr/>
        </p:nvSpPr>
        <p:spPr>
          <a:xfrm>
            <a:off x="9350897" y="3992901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350897" y="4197666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53,472 users, $1.55M MRR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9350897" y="4368302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 → USA/UK/Canada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248515" y="4743703"/>
            <a:ext cx="2431575" cy="784929"/>
          </a:xfrm>
          <a:custGeom>
            <a:avLst/>
            <a:gdLst/>
            <a:ahLst/>
            <a:cxnLst/>
            <a:rect l="l" t="t" r="r" b="b"/>
            <a:pathLst>
              <a:path w="2431575" h="784929">
                <a:moveTo>
                  <a:pt x="68257" y="0"/>
                </a:moveTo>
                <a:lnTo>
                  <a:pt x="2363317" y="0"/>
                </a:lnTo>
                <a:cubicBezTo>
                  <a:pt x="2401015" y="0"/>
                  <a:pt x="2431575" y="30560"/>
                  <a:pt x="2431575" y="68257"/>
                </a:cubicBezTo>
                <a:lnTo>
                  <a:pt x="2431575" y="716672"/>
                </a:lnTo>
                <a:cubicBezTo>
                  <a:pt x="2431575" y="754369"/>
                  <a:pt x="2401015" y="784929"/>
                  <a:pt x="2363317" y="784929"/>
                </a:cubicBezTo>
                <a:lnTo>
                  <a:pt x="68257" y="784929"/>
                </a:lnTo>
                <a:cubicBezTo>
                  <a:pt x="30585" y="784929"/>
                  <a:pt x="0" y="754344"/>
                  <a:pt x="0" y="716672"/>
                </a:cubicBezTo>
                <a:lnTo>
                  <a:pt x="0" y="68257"/>
                </a:lnTo>
                <a:cubicBezTo>
                  <a:pt x="0" y="30585"/>
                  <a:pt x="30585" y="0"/>
                  <a:pt x="68257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6" name="Text 74"/>
          <p:cNvSpPr/>
          <p:nvPr/>
        </p:nvSpPr>
        <p:spPr>
          <a:xfrm>
            <a:off x="9350897" y="4846085"/>
            <a:ext cx="2286533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350897" y="5050850"/>
            <a:ext cx="231212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+67.9%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9350897" y="5289741"/>
            <a:ext cx="2278001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Optimistic scenario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341274" y="5835779"/>
            <a:ext cx="11509453" cy="1023821"/>
          </a:xfrm>
          <a:custGeom>
            <a:avLst/>
            <a:gdLst/>
            <a:ahLst/>
            <a:cxnLst/>
            <a:rect l="l" t="t" r="r" b="b"/>
            <a:pathLst>
              <a:path w="11509453" h="1023821">
                <a:moveTo>
                  <a:pt x="102382" y="0"/>
                </a:moveTo>
                <a:lnTo>
                  <a:pt x="11407071" y="0"/>
                </a:lnTo>
                <a:cubicBezTo>
                  <a:pt x="11463615" y="0"/>
                  <a:pt x="11509453" y="45838"/>
                  <a:pt x="11509453" y="102382"/>
                </a:cubicBezTo>
                <a:lnTo>
                  <a:pt x="11509453" y="921439"/>
                </a:lnTo>
                <a:cubicBezTo>
                  <a:pt x="11509453" y="977983"/>
                  <a:pt x="11463615" y="1023821"/>
                  <a:pt x="11407071" y="1023821"/>
                </a:cubicBezTo>
                <a:lnTo>
                  <a:pt x="102382" y="1023821"/>
                </a:lnTo>
                <a:cubicBezTo>
                  <a:pt x="45876" y="1023821"/>
                  <a:pt x="0" y="977945"/>
                  <a:pt x="0" y="921439"/>
                </a:cubicBezTo>
                <a:lnTo>
                  <a:pt x="0" y="102382"/>
                </a:lnTo>
                <a:cubicBezTo>
                  <a:pt x="0" y="45876"/>
                  <a:pt x="45876" y="0"/>
                  <a:pt x="102382" y="0"/>
                </a:cubicBezTo>
                <a:close/>
              </a:path>
            </a:pathLst>
          </a:custGeom>
          <a:solidFill>
            <a:srgbClr val="0F17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0" name="Shape 78"/>
          <p:cNvSpPr/>
          <p:nvPr/>
        </p:nvSpPr>
        <p:spPr>
          <a:xfrm>
            <a:off x="528974" y="6040543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119446" y="68255"/>
                </a:moveTo>
                <a:cubicBezTo>
                  <a:pt x="119446" y="40002"/>
                  <a:pt x="96508" y="17064"/>
                  <a:pt x="68255" y="17064"/>
                </a:cubicBezTo>
                <a:cubicBezTo>
                  <a:pt x="40002" y="17064"/>
                  <a:pt x="17064" y="40002"/>
                  <a:pt x="17064" y="68255"/>
                </a:cubicBezTo>
                <a:cubicBezTo>
                  <a:pt x="17064" y="96508"/>
                  <a:pt x="40002" y="119446"/>
                  <a:pt x="68255" y="119446"/>
                </a:cubicBezTo>
                <a:cubicBezTo>
                  <a:pt x="96508" y="119446"/>
                  <a:pt x="119446" y="96508"/>
                  <a:pt x="119446" y="68255"/>
                </a:cubicBezTo>
                <a:close/>
                <a:moveTo>
                  <a:pt x="0" y="68255"/>
                </a:moveTo>
                <a:cubicBezTo>
                  <a:pt x="0" y="30584"/>
                  <a:pt x="30584" y="0"/>
                  <a:pt x="68255" y="0"/>
                </a:cubicBezTo>
                <a:cubicBezTo>
                  <a:pt x="105926" y="0"/>
                  <a:pt x="136509" y="30584"/>
                  <a:pt x="136509" y="68255"/>
                </a:cubicBezTo>
                <a:cubicBezTo>
                  <a:pt x="136509" y="105926"/>
                  <a:pt x="105926" y="136509"/>
                  <a:pt x="68255" y="136509"/>
                </a:cubicBezTo>
                <a:cubicBezTo>
                  <a:pt x="30584" y="136509"/>
                  <a:pt x="0" y="105926"/>
                  <a:pt x="0" y="68255"/>
                </a:cubicBezTo>
                <a:close/>
                <a:moveTo>
                  <a:pt x="68255" y="89584"/>
                </a:moveTo>
                <a:cubicBezTo>
                  <a:pt x="80027" y="89584"/>
                  <a:pt x="89584" y="80027"/>
                  <a:pt x="89584" y="68255"/>
                </a:cubicBezTo>
                <a:cubicBezTo>
                  <a:pt x="89584" y="56483"/>
                  <a:pt x="80027" y="46925"/>
                  <a:pt x="68255" y="46925"/>
                </a:cubicBezTo>
                <a:cubicBezTo>
                  <a:pt x="56483" y="46925"/>
                  <a:pt x="46925" y="56483"/>
                  <a:pt x="46925" y="68255"/>
                </a:cubicBezTo>
                <a:cubicBezTo>
                  <a:pt x="46925" y="80027"/>
                  <a:pt x="56483" y="89584"/>
                  <a:pt x="68255" y="89584"/>
                </a:cubicBezTo>
                <a:close/>
                <a:moveTo>
                  <a:pt x="68255" y="29861"/>
                </a:moveTo>
                <a:cubicBezTo>
                  <a:pt x="89445" y="29861"/>
                  <a:pt x="106648" y="47065"/>
                  <a:pt x="106648" y="68255"/>
                </a:cubicBezTo>
                <a:cubicBezTo>
                  <a:pt x="106648" y="89445"/>
                  <a:pt x="89445" y="106648"/>
                  <a:pt x="68255" y="106648"/>
                </a:cubicBezTo>
                <a:cubicBezTo>
                  <a:pt x="47065" y="106648"/>
                  <a:pt x="29861" y="89445"/>
                  <a:pt x="29861" y="68255"/>
                </a:cubicBezTo>
                <a:cubicBezTo>
                  <a:pt x="29861" y="47065"/>
                  <a:pt x="47065" y="29861"/>
                  <a:pt x="68255" y="29861"/>
                </a:cubicBezTo>
                <a:close/>
                <a:moveTo>
                  <a:pt x="59723" y="68255"/>
                </a:moveTo>
                <a:cubicBezTo>
                  <a:pt x="59723" y="63546"/>
                  <a:pt x="63546" y="59723"/>
                  <a:pt x="68255" y="59723"/>
                </a:cubicBezTo>
                <a:cubicBezTo>
                  <a:pt x="72964" y="59723"/>
                  <a:pt x="76787" y="63546"/>
                  <a:pt x="76787" y="68255"/>
                </a:cubicBezTo>
                <a:cubicBezTo>
                  <a:pt x="76787" y="72964"/>
                  <a:pt x="72964" y="76787"/>
                  <a:pt x="68255" y="76787"/>
                </a:cubicBezTo>
                <a:cubicBezTo>
                  <a:pt x="63546" y="76787"/>
                  <a:pt x="59723" y="72964"/>
                  <a:pt x="59723" y="68255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1" name="Text 79"/>
          <p:cNvSpPr/>
          <p:nvPr/>
        </p:nvSpPr>
        <p:spPr>
          <a:xfrm>
            <a:off x="682547" y="6006416"/>
            <a:ext cx="1106579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Go-to-Market Strategy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2" name="Shape 80"/>
          <p:cNvSpPr/>
          <p:nvPr/>
        </p:nvSpPr>
        <p:spPr>
          <a:xfrm>
            <a:off x="511910" y="6347689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68255" y="0"/>
                </a:moveTo>
                <a:lnTo>
                  <a:pt x="273019" y="0"/>
                </a:lnTo>
                <a:cubicBezTo>
                  <a:pt x="310715" y="0"/>
                  <a:pt x="341274" y="30559"/>
                  <a:pt x="341274" y="68255"/>
                </a:cubicBezTo>
                <a:lnTo>
                  <a:pt x="341274" y="273019"/>
                </a:lnTo>
                <a:cubicBezTo>
                  <a:pt x="341274" y="310715"/>
                  <a:pt x="310715" y="341274"/>
                  <a:pt x="273019" y="341274"/>
                </a:cubicBezTo>
                <a:lnTo>
                  <a:pt x="68255" y="341274"/>
                </a:lnTo>
                <a:cubicBezTo>
                  <a:pt x="30559" y="341274"/>
                  <a:pt x="0" y="310715"/>
                  <a:pt x="0" y="273019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3" name="Shape 81"/>
          <p:cNvSpPr/>
          <p:nvPr/>
        </p:nvSpPr>
        <p:spPr>
          <a:xfrm>
            <a:off x="614293" y="6450071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85718" y="18343"/>
                </a:moveTo>
                <a:cubicBezTo>
                  <a:pt x="87745" y="14904"/>
                  <a:pt x="91424" y="12798"/>
                  <a:pt x="95397" y="12798"/>
                </a:cubicBezTo>
                <a:lnTo>
                  <a:pt x="95983" y="12798"/>
                </a:lnTo>
                <a:cubicBezTo>
                  <a:pt x="101876" y="12798"/>
                  <a:pt x="106648" y="17570"/>
                  <a:pt x="106648" y="23463"/>
                </a:cubicBezTo>
                <a:cubicBezTo>
                  <a:pt x="106648" y="29355"/>
                  <a:pt x="101876" y="34127"/>
                  <a:pt x="95983" y="34127"/>
                </a:cubicBezTo>
                <a:lnTo>
                  <a:pt x="76440" y="34127"/>
                </a:lnTo>
                <a:lnTo>
                  <a:pt x="85718" y="18343"/>
                </a:lnTo>
                <a:close/>
                <a:moveTo>
                  <a:pt x="50791" y="18343"/>
                </a:moveTo>
                <a:lnTo>
                  <a:pt x="60069" y="34127"/>
                </a:lnTo>
                <a:lnTo>
                  <a:pt x="40526" y="34127"/>
                </a:lnTo>
                <a:cubicBezTo>
                  <a:pt x="34634" y="34127"/>
                  <a:pt x="29861" y="29355"/>
                  <a:pt x="29861" y="23463"/>
                </a:cubicBezTo>
                <a:cubicBezTo>
                  <a:pt x="29861" y="17570"/>
                  <a:pt x="34634" y="12798"/>
                  <a:pt x="40526" y="12798"/>
                </a:cubicBezTo>
                <a:lnTo>
                  <a:pt x="41113" y="12798"/>
                </a:lnTo>
                <a:cubicBezTo>
                  <a:pt x="45085" y="12798"/>
                  <a:pt x="48791" y="14904"/>
                  <a:pt x="50791" y="18343"/>
                </a:cubicBezTo>
                <a:close/>
                <a:moveTo>
                  <a:pt x="74680" y="11865"/>
                </a:moveTo>
                <a:lnTo>
                  <a:pt x="68255" y="22796"/>
                </a:lnTo>
                <a:lnTo>
                  <a:pt x="61829" y="11865"/>
                </a:lnTo>
                <a:cubicBezTo>
                  <a:pt x="57510" y="4506"/>
                  <a:pt x="49618" y="0"/>
                  <a:pt x="41113" y="0"/>
                </a:cubicBezTo>
                <a:lnTo>
                  <a:pt x="40526" y="0"/>
                </a:lnTo>
                <a:cubicBezTo>
                  <a:pt x="27569" y="0"/>
                  <a:pt x="17064" y="10505"/>
                  <a:pt x="17064" y="23463"/>
                </a:cubicBezTo>
                <a:cubicBezTo>
                  <a:pt x="17064" y="27302"/>
                  <a:pt x="17997" y="30928"/>
                  <a:pt x="19623" y="34127"/>
                </a:cubicBezTo>
                <a:lnTo>
                  <a:pt x="8532" y="34127"/>
                </a:lnTo>
                <a:cubicBezTo>
                  <a:pt x="3813" y="34127"/>
                  <a:pt x="0" y="37940"/>
                  <a:pt x="0" y="42659"/>
                </a:cubicBezTo>
                <a:lnTo>
                  <a:pt x="0" y="51191"/>
                </a:lnTo>
                <a:cubicBezTo>
                  <a:pt x="0" y="55910"/>
                  <a:pt x="3813" y="59723"/>
                  <a:pt x="8532" y="59723"/>
                </a:cubicBezTo>
                <a:lnTo>
                  <a:pt x="127978" y="59723"/>
                </a:lnTo>
                <a:cubicBezTo>
                  <a:pt x="132697" y="59723"/>
                  <a:pt x="136509" y="55910"/>
                  <a:pt x="136509" y="51191"/>
                </a:cubicBezTo>
                <a:lnTo>
                  <a:pt x="136509" y="42659"/>
                </a:lnTo>
                <a:cubicBezTo>
                  <a:pt x="136509" y="37940"/>
                  <a:pt x="132697" y="34127"/>
                  <a:pt x="127978" y="34127"/>
                </a:cubicBezTo>
                <a:lnTo>
                  <a:pt x="116886" y="34127"/>
                </a:lnTo>
                <a:cubicBezTo>
                  <a:pt x="118513" y="30928"/>
                  <a:pt x="119446" y="27302"/>
                  <a:pt x="119446" y="23463"/>
                </a:cubicBezTo>
                <a:cubicBezTo>
                  <a:pt x="119446" y="10505"/>
                  <a:pt x="108941" y="0"/>
                  <a:pt x="95983" y="0"/>
                </a:cubicBezTo>
                <a:lnTo>
                  <a:pt x="95397" y="0"/>
                </a:lnTo>
                <a:cubicBezTo>
                  <a:pt x="86891" y="0"/>
                  <a:pt x="79000" y="4506"/>
                  <a:pt x="74680" y="11838"/>
                </a:cubicBezTo>
                <a:close/>
                <a:moveTo>
                  <a:pt x="127978" y="72521"/>
                </a:moveTo>
                <a:lnTo>
                  <a:pt x="74654" y="72521"/>
                </a:lnTo>
                <a:lnTo>
                  <a:pt x="74654" y="127978"/>
                </a:lnTo>
                <a:lnTo>
                  <a:pt x="110914" y="127978"/>
                </a:lnTo>
                <a:cubicBezTo>
                  <a:pt x="120326" y="127978"/>
                  <a:pt x="127978" y="120326"/>
                  <a:pt x="127978" y="110914"/>
                </a:cubicBezTo>
                <a:lnTo>
                  <a:pt x="127978" y="72521"/>
                </a:lnTo>
                <a:close/>
                <a:moveTo>
                  <a:pt x="61856" y="72521"/>
                </a:moveTo>
                <a:lnTo>
                  <a:pt x="8532" y="72521"/>
                </a:lnTo>
                <a:lnTo>
                  <a:pt x="8532" y="110914"/>
                </a:lnTo>
                <a:cubicBezTo>
                  <a:pt x="8532" y="120326"/>
                  <a:pt x="16184" y="127978"/>
                  <a:pt x="25596" y="127978"/>
                </a:cubicBezTo>
                <a:lnTo>
                  <a:pt x="61856" y="127978"/>
                </a:lnTo>
                <a:lnTo>
                  <a:pt x="61856" y="72521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4" name="Text 82"/>
          <p:cNvSpPr/>
          <p:nvPr/>
        </p:nvSpPr>
        <p:spPr>
          <a:xfrm>
            <a:off x="955566" y="6364753"/>
            <a:ext cx="1151798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Tier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5" name="Text 83"/>
          <p:cNvSpPr/>
          <p:nvPr/>
        </p:nvSpPr>
        <p:spPr>
          <a:xfrm>
            <a:off x="955566" y="6535390"/>
            <a:ext cx="1143267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min videos, watermark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6" name="Shape 84"/>
          <p:cNvSpPr/>
          <p:nvPr/>
        </p:nvSpPr>
        <p:spPr>
          <a:xfrm>
            <a:off x="3338793" y="6347689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68255" y="0"/>
                </a:moveTo>
                <a:lnTo>
                  <a:pt x="273019" y="0"/>
                </a:lnTo>
                <a:cubicBezTo>
                  <a:pt x="310715" y="0"/>
                  <a:pt x="341274" y="30559"/>
                  <a:pt x="341274" y="68255"/>
                </a:cubicBezTo>
                <a:lnTo>
                  <a:pt x="341274" y="273019"/>
                </a:lnTo>
                <a:cubicBezTo>
                  <a:pt x="341274" y="310715"/>
                  <a:pt x="310715" y="341274"/>
                  <a:pt x="273019" y="341274"/>
                </a:cubicBezTo>
                <a:lnTo>
                  <a:pt x="68255" y="341274"/>
                </a:lnTo>
                <a:cubicBezTo>
                  <a:pt x="30559" y="341274"/>
                  <a:pt x="0" y="310715"/>
                  <a:pt x="0" y="273019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7" name="Shape 85"/>
          <p:cNvSpPr/>
          <p:nvPr/>
        </p:nvSpPr>
        <p:spPr>
          <a:xfrm>
            <a:off x="3432644" y="6450071"/>
            <a:ext cx="153573" cy="136509"/>
          </a:xfrm>
          <a:custGeom>
            <a:avLst/>
            <a:gdLst/>
            <a:ahLst/>
            <a:cxnLst/>
            <a:rect l="l" t="t" r="r" b="b"/>
            <a:pathLst>
              <a:path w="153573" h="136509">
                <a:moveTo>
                  <a:pt x="82519" y="-5039"/>
                </a:moveTo>
                <a:cubicBezTo>
                  <a:pt x="81426" y="-7172"/>
                  <a:pt x="79213" y="-8532"/>
                  <a:pt x="76813" y="-8532"/>
                </a:cubicBezTo>
                <a:cubicBezTo>
                  <a:pt x="74414" y="-8532"/>
                  <a:pt x="72201" y="-7172"/>
                  <a:pt x="71108" y="-5039"/>
                </a:cubicBezTo>
                <a:lnTo>
                  <a:pt x="51484" y="33407"/>
                </a:lnTo>
                <a:lnTo>
                  <a:pt x="8852" y="40180"/>
                </a:lnTo>
                <a:cubicBezTo>
                  <a:pt x="6479" y="40553"/>
                  <a:pt x="4506" y="42233"/>
                  <a:pt x="3759" y="44526"/>
                </a:cubicBezTo>
                <a:cubicBezTo>
                  <a:pt x="3013" y="46818"/>
                  <a:pt x="3626" y="49325"/>
                  <a:pt x="5306" y="51031"/>
                </a:cubicBezTo>
                <a:lnTo>
                  <a:pt x="35807" y="81559"/>
                </a:lnTo>
                <a:lnTo>
                  <a:pt x="29088" y="124192"/>
                </a:lnTo>
                <a:cubicBezTo>
                  <a:pt x="28715" y="126565"/>
                  <a:pt x="29701" y="128964"/>
                  <a:pt x="31648" y="130377"/>
                </a:cubicBezTo>
                <a:cubicBezTo>
                  <a:pt x="33594" y="131790"/>
                  <a:pt x="36154" y="132004"/>
                  <a:pt x="38313" y="130910"/>
                </a:cubicBezTo>
                <a:lnTo>
                  <a:pt x="76813" y="111341"/>
                </a:lnTo>
                <a:lnTo>
                  <a:pt x="115286" y="130910"/>
                </a:lnTo>
                <a:cubicBezTo>
                  <a:pt x="117419" y="132004"/>
                  <a:pt x="120006" y="131790"/>
                  <a:pt x="121952" y="130377"/>
                </a:cubicBezTo>
                <a:cubicBezTo>
                  <a:pt x="123898" y="128964"/>
                  <a:pt x="124885" y="126591"/>
                  <a:pt x="124512" y="124192"/>
                </a:cubicBezTo>
                <a:lnTo>
                  <a:pt x="117766" y="81559"/>
                </a:lnTo>
                <a:lnTo>
                  <a:pt x="148267" y="51031"/>
                </a:lnTo>
                <a:cubicBezTo>
                  <a:pt x="149974" y="49325"/>
                  <a:pt x="150560" y="46818"/>
                  <a:pt x="149814" y="44526"/>
                </a:cubicBezTo>
                <a:cubicBezTo>
                  <a:pt x="149067" y="42233"/>
                  <a:pt x="147121" y="40553"/>
                  <a:pt x="144721" y="40180"/>
                </a:cubicBezTo>
                <a:lnTo>
                  <a:pt x="102115" y="33407"/>
                </a:lnTo>
                <a:lnTo>
                  <a:pt x="82519" y="-5039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8" name="Text 86"/>
          <p:cNvSpPr/>
          <p:nvPr/>
        </p:nvSpPr>
        <p:spPr>
          <a:xfrm>
            <a:off x="3782449" y="6364753"/>
            <a:ext cx="870248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Starter $15/mo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9" name="Text 87"/>
          <p:cNvSpPr/>
          <p:nvPr/>
        </p:nvSpPr>
        <p:spPr>
          <a:xfrm>
            <a:off x="3782449" y="6535390"/>
            <a:ext cx="861716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videos/day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0" name="Shape 88"/>
          <p:cNvSpPr/>
          <p:nvPr/>
        </p:nvSpPr>
        <p:spPr>
          <a:xfrm>
            <a:off x="6165677" y="6347689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68255" y="0"/>
                </a:moveTo>
                <a:lnTo>
                  <a:pt x="273019" y="0"/>
                </a:lnTo>
                <a:cubicBezTo>
                  <a:pt x="310715" y="0"/>
                  <a:pt x="341274" y="30559"/>
                  <a:pt x="341274" y="68255"/>
                </a:cubicBezTo>
                <a:lnTo>
                  <a:pt x="341274" y="273019"/>
                </a:lnTo>
                <a:cubicBezTo>
                  <a:pt x="341274" y="310715"/>
                  <a:pt x="310715" y="341274"/>
                  <a:pt x="273019" y="341274"/>
                </a:cubicBezTo>
                <a:lnTo>
                  <a:pt x="68255" y="341274"/>
                </a:lnTo>
                <a:cubicBezTo>
                  <a:pt x="30559" y="341274"/>
                  <a:pt x="0" y="310715"/>
                  <a:pt x="0" y="273019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1" name="Shape 89"/>
          <p:cNvSpPr/>
          <p:nvPr/>
        </p:nvSpPr>
        <p:spPr>
          <a:xfrm>
            <a:off x="6259527" y="6450071"/>
            <a:ext cx="153573" cy="136509"/>
          </a:xfrm>
          <a:custGeom>
            <a:avLst/>
            <a:gdLst/>
            <a:ahLst/>
            <a:cxnLst/>
            <a:rect l="l" t="t" r="r" b="b"/>
            <a:pathLst>
              <a:path w="153573" h="136509">
                <a:moveTo>
                  <a:pt x="83452" y="23249"/>
                </a:moveTo>
                <a:cubicBezTo>
                  <a:pt x="85905" y="21303"/>
                  <a:pt x="87451" y="18290"/>
                  <a:pt x="87451" y="14931"/>
                </a:cubicBezTo>
                <a:cubicBezTo>
                  <a:pt x="87451" y="9038"/>
                  <a:pt x="82679" y="4266"/>
                  <a:pt x="76787" y="4266"/>
                </a:cubicBezTo>
                <a:cubicBezTo>
                  <a:pt x="70894" y="4266"/>
                  <a:pt x="66122" y="9038"/>
                  <a:pt x="66122" y="14931"/>
                </a:cubicBezTo>
                <a:cubicBezTo>
                  <a:pt x="66122" y="18290"/>
                  <a:pt x="67695" y="21303"/>
                  <a:pt x="70121" y="23249"/>
                </a:cubicBezTo>
                <a:lnTo>
                  <a:pt x="51884" y="51938"/>
                </a:lnTo>
                <a:cubicBezTo>
                  <a:pt x="49218" y="56124"/>
                  <a:pt x="43539" y="57163"/>
                  <a:pt x="39566" y="54177"/>
                </a:cubicBezTo>
                <a:lnTo>
                  <a:pt x="23703" y="42313"/>
                </a:lnTo>
                <a:cubicBezTo>
                  <a:pt x="24902" y="40606"/>
                  <a:pt x="25596" y="38500"/>
                  <a:pt x="25596" y="36260"/>
                </a:cubicBezTo>
                <a:cubicBezTo>
                  <a:pt x="25596" y="30368"/>
                  <a:pt x="20823" y="25596"/>
                  <a:pt x="14931" y="25596"/>
                </a:cubicBezTo>
                <a:cubicBezTo>
                  <a:pt x="9038" y="25596"/>
                  <a:pt x="4266" y="30368"/>
                  <a:pt x="4266" y="36260"/>
                </a:cubicBezTo>
                <a:cubicBezTo>
                  <a:pt x="4266" y="42073"/>
                  <a:pt x="8932" y="46818"/>
                  <a:pt x="14717" y="46925"/>
                </a:cubicBezTo>
                <a:lnTo>
                  <a:pt x="23409" y="104915"/>
                </a:lnTo>
                <a:cubicBezTo>
                  <a:pt x="24662" y="113260"/>
                  <a:pt x="31834" y="119446"/>
                  <a:pt x="40286" y="119446"/>
                </a:cubicBezTo>
                <a:lnTo>
                  <a:pt x="113287" y="119446"/>
                </a:lnTo>
                <a:cubicBezTo>
                  <a:pt x="121739" y="119446"/>
                  <a:pt x="128911" y="113260"/>
                  <a:pt x="130164" y="104915"/>
                </a:cubicBezTo>
                <a:lnTo>
                  <a:pt x="138856" y="46925"/>
                </a:lnTo>
                <a:cubicBezTo>
                  <a:pt x="144641" y="46818"/>
                  <a:pt x="149307" y="42073"/>
                  <a:pt x="149307" y="36260"/>
                </a:cubicBezTo>
                <a:cubicBezTo>
                  <a:pt x="149307" y="30368"/>
                  <a:pt x="144535" y="25596"/>
                  <a:pt x="138642" y="25596"/>
                </a:cubicBezTo>
                <a:cubicBezTo>
                  <a:pt x="132750" y="25596"/>
                  <a:pt x="127978" y="30368"/>
                  <a:pt x="127978" y="36260"/>
                </a:cubicBezTo>
                <a:cubicBezTo>
                  <a:pt x="127978" y="38500"/>
                  <a:pt x="128671" y="40606"/>
                  <a:pt x="129871" y="42313"/>
                </a:cubicBezTo>
                <a:lnTo>
                  <a:pt x="114033" y="54204"/>
                </a:lnTo>
                <a:cubicBezTo>
                  <a:pt x="110061" y="57190"/>
                  <a:pt x="104382" y="56150"/>
                  <a:pt x="101716" y="51964"/>
                </a:cubicBezTo>
                <a:lnTo>
                  <a:pt x="83452" y="23249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2" name="Text 90"/>
          <p:cNvSpPr/>
          <p:nvPr/>
        </p:nvSpPr>
        <p:spPr>
          <a:xfrm>
            <a:off x="6609333" y="6364753"/>
            <a:ext cx="1075012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$29/mo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3" name="Text 91"/>
          <p:cNvSpPr/>
          <p:nvPr/>
        </p:nvSpPr>
        <p:spPr>
          <a:xfrm>
            <a:off x="6609333" y="6535390"/>
            <a:ext cx="1066480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videos/day, priority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4" name="Shape 92"/>
          <p:cNvSpPr/>
          <p:nvPr/>
        </p:nvSpPr>
        <p:spPr>
          <a:xfrm>
            <a:off x="8992560" y="6347689"/>
            <a:ext cx="341274" cy="341274"/>
          </a:xfrm>
          <a:custGeom>
            <a:avLst/>
            <a:gdLst/>
            <a:ahLst/>
            <a:cxnLst/>
            <a:rect l="l" t="t" r="r" b="b"/>
            <a:pathLst>
              <a:path w="341274" h="341274">
                <a:moveTo>
                  <a:pt x="68255" y="0"/>
                </a:moveTo>
                <a:lnTo>
                  <a:pt x="273019" y="0"/>
                </a:lnTo>
                <a:cubicBezTo>
                  <a:pt x="310715" y="0"/>
                  <a:pt x="341274" y="30559"/>
                  <a:pt x="341274" y="68255"/>
                </a:cubicBezTo>
                <a:lnTo>
                  <a:pt x="341274" y="273019"/>
                </a:lnTo>
                <a:cubicBezTo>
                  <a:pt x="341274" y="310715"/>
                  <a:pt x="310715" y="341274"/>
                  <a:pt x="273019" y="341274"/>
                </a:cubicBezTo>
                <a:lnTo>
                  <a:pt x="68255" y="341274"/>
                </a:lnTo>
                <a:cubicBezTo>
                  <a:pt x="30559" y="341274"/>
                  <a:pt x="0" y="310715"/>
                  <a:pt x="0" y="273019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5" name="Shape 93"/>
          <p:cNvSpPr/>
          <p:nvPr/>
        </p:nvSpPr>
        <p:spPr>
          <a:xfrm>
            <a:off x="9094942" y="6450071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122965" y="5039"/>
                </a:moveTo>
                <a:cubicBezTo>
                  <a:pt x="126031" y="6399"/>
                  <a:pt x="127978" y="9438"/>
                  <a:pt x="127978" y="12798"/>
                </a:cubicBezTo>
                <a:lnTo>
                  <a:pt x="127978" y="123712"/>
                </a:lnTo>
                <a:cubicBezTo>
                  <a:pt x="127978" y="127071"/>
                  <a:pt x="126031" y="130111"/>
                  <a:pt x="122965" y="131470"/>
                </a:cubicBezTo>
                <a:cubicBezTo>
                  <a:pt x="119899" y="132830"/>
                  <a:pt x="116353" y="132324"/>
                  <a:pt x="113820" y="130111"/>
                </a:cubicBezTo>
                <a:lnTo>
                  <a:pt x="101396" y="119259"/>
                </a:lnTo>
                <a:cubicBezTo>
                  <a:pt x="89771" y="109101"/>
                  <a:pt x="75080" y="103182"/>
                  <a:pt x="59696" y="102462"/>
                </a:cubicBezTo>
                <a:lnTo>
                  <a:pt x="59696" y="127978"/>
                </a:lnTo>
                <a:cubicBezTo>
                  <a:pt x="59696" y="132697"/>
                  <a:pt x="55884" y="136509"/>
                  <a:pt x="51164" y="136509"/>
                </a:cubicBezTo>
                <a:lnTo>
                  <a:pt x="42633" y="136509"/>
                </a:lnTo>
                <a:cubicBezTo>
                  <a:pt x="37913" y="136509"/>
                  <a:pt x="34101" y="132697"/>
                  <a:pt x="34101" y="127978"/>
                </a:cubicBezTo>
                <a:lnTo>
                  <a:pt x="34101" y="102382"/>
                </a:lnTo>
                <a:cubicBezTo>
                  <a:pt x="15277" y="102382"/>
                  <a:pt x="0" y="87105"/>
                  <a:pt x="0" y="68255"/>
                </a:cubicBezTo>
                <a:cubicBezTo>
                  <a:pt x="0" y="49405"/>
                  <a:pt x="15277" y="34127"/>
                  <a:pt x="34127" y="34127"/>
                </a:cubicBezTo>
                <a:lnTo>
                  <a:pt x="56657" y="34127"/>
                </a:lnTo>
                <a:cubicBezTo>
                  <a:pt x="73134" y="34074"/>
                  <a:pt x="89024" y="28075"/>
                  <a:pt x="101422" y="17250"/>
                </a:cubicBezTo>
                <a:lnTo>
                  <a:pt x="113847" y="6399"/>
                </a:lnTo>
                <a:cubicBezTo>
                  <a:pt x="116353" y="4186"/>
                  <a:pt x="119952" y="3679"/>
                  <a:pt x="122992" y="5039"/>
                </a:cubicBezTo>
                <a:close/>
                <a:moveTo>
                  <a:pt x="59723" y="85318"/>
                </a:moveTo>
                <a:lnTo>
                  <a:pt x="59723" y="85372"/>
                </a:lnTo>
                <a:cubicBezTo>
                  <a:pt x="78466" y="86092"/>
                  <a:pt x="96463" y="92970"/>
                  <a:pt x="110914" y="104942"/>
                </a:cubicBezTo>
                <a:lnTo>
                  <a:pt x="110914" y="31541"/>
                </a:lnTo>
                <a:cubicBezTo>
                  <a:pt x="96463" y="43512"/>
                  <a:pt x="78466" y="50391"/>
                  <a:pt x="59723" y="51111"/>
                </a:cubicBezTo>
                <a:lnTo>
                  <a:pt x="59723" y="85318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6" name="Text 94"/>
          <p:cNvSpPr/>
          <p:nvPr/>
        </p:nvSpPr>
        <p:spPr>
          <a:xfrm>
            <a:off x="9436216" y="6364753"/>
            <a:ext cx="1100607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Distribution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7" name="Text 95"/>
          <p:cNvSpPr/>
          <p:nvPr/>
        </p:nvSpPr>
        <p:spPr>
          <a:xfrm>
            <a:off x="9436216" y="6535390"/>
            <a:ext cx="1092076" cy="136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6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Hunt, SEO, Ads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d37a18e886ecbf432d1180528820aebe0a6de2ed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593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935"/>
          </a:xfrm>
          <a:custGeom>
            <a:avLst/>
            <a:gdLst/>
            <a:ahLst/>
            <a:cxnLst/>
            <a:rect l="l" t="t" r="r" b="b"/>
            <a:pathLst>
              <a:path w="12192000" h="6855935">
                <a:moveTo>
                  <a:pt x="0" y="0"/>
                </a:moveTo>
                <a:lnTo>
                  <a:pt x="12192000" y="0"/>
                </a:lnTo>
                <a:lnTo>
                  <a:pt x="12192000" y="6855935"/>
                </a:lnTo>
                <a:lnTo>
                  <a:pt x="0" y="685593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1"/>
          <p:cNvSpPr/>
          <p:nvPr/>
        </p:nvSpPr>
        <p:spPr>
          <a:xfrm>
            <a:off x="330407" y="330407"/>
            <a:ext cx="330407" cy="330407"/>
          </a:xfrm>
          <a:custGeom>
            <a:avLst/>
            <a:gdLst/>
            <a:ahLst/>
            <a:cxnLst/>
            <a:rect l="l" t="t" r="r" b="b"/>
            <a:pathLst>
              <a:path w="330407" h="330407">
                <a:moveTo>
                  <a:pt x="66081" y="0"/>
                </a:moveTo>
                <a:lnTo>
                  <a:pt x="264325" y="0"/>
                </a:lnTo>
                <a:cubicBezTo>
                  <a:pt x="300796" y="0"/>
                  <a:pt x="330407" y="29610"/>
                  <a:pt x="330407" y="66081"/>
                </a:cubicBezTo>
                <a:lnTo>
                  <a:pt x="330407" y="264325"/>
                </a:lnTo>
                <a:cubicBezTo>
                  <a:pt x="330407" y="300796"/>
                  <a:pt x="300796" y="330407"/>
                  <a:pt x="264325" y="330407"/>
                </a:cubicBezTo>
                <a:lnTo>
                  <a:pt x="66081" y="330407"/>
                </a:lnTo>
                <a:cubicBezTo>
                  <a:pt x="29610" y="330407"/>
                  <a:pt x="0" y="300796"/>
                  <a:pt x="0" y="264325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432626" y="421268"/>
            <a:ext cx="130098" cy="148683"/>
          </a:xfrm>
          <a:custGeom>
            <a:avLst/>
            <a:gdLst/>
            <a:ahLst/>
            <a:cxnLst/>
            <a:rect l="l" t="t" r="r" b="b"/>
            <a:pathLst>
              <a:path w="130098" h="148683">
                <a:moveTo>
                  <a:pt x="9293" y="0"/>
                </a:moveTo>
                <a:cubicBezTo>
                  <a:pt x="14433" y="0"/>
                  <a:pt x="18585" y="4153"/>
                  <a:pt x="18585" y="9293"/>
                </a:cubicBezTo>
                <a:lnTo>
                  <a:pt x="18585" y="13939"/>
                </a:lnTo>
                <a:lnTo>
                  <a:pt x="38623" y="8944"/>
                </a:lnTo>
                <a:cubicBezTo>
                  <a:pt x="49687" y="6185"/>
                  <a:pt x="61361" y="7463"/>
                  <a:pt x="71583" y="12574"/>
                </a:cubicBezTo>
                <a:cubicBezTo>
                  <a:pt x="85028" y="19311"/>
                  <a:pt x="100855" y="19311"/>
                  <a:pt x="114300" y="12574"/>
                </a:cubicBezTo>
                <a:lnTo>
                  <a:pt x="117088" y="11180"/>
                </a:lnTo>
                <a:cubicBezTo>
                  <a:pt x="123070" y="8160"/>
                  <a:pt x="130098" y="12516"/>
                  <a:pt x="130098" y="19195"/>
                </a:cubicBezTo>
                <a:lnTo>
                  <a:pt x="130098" y="100419"/>
                </a:lnTo>
                <a:cubicBezTo>
                  <a:pt x="130098" y="104281"/>
                  <a:pt x="127687" y="107766"/>
                  <a:pt x="124057" y="109131"/>
                </a:cubicBezTo>
                <a:lnTo>
                  <a:pt x="113981" y="112906"/>
                </a:lnTo>
                <a:cubicBezTo>
                  <a:pt x="100564" y="117930"/>
                  <a:pt x="85638" y="117146"/>
                  <a:pt x="72831" y="110757"/>
                </a:cubicBezTo>
                <a:cubicBezTo>
                  <a:pt x="61825" y="105240"/>
                  <a:pt x="49193" y="103875"/>
                  <a:pt x="37258" y="106866"/>
                </a:cubicBezTo>
                <a:lnTo>
                  <a:pt x="18585" y="111512"/>
                </a:lnTo>
                <a:lnTo>
                  <a:pt x="18585" y="139390"/>
                </a:lnTo>
                <a:cubicBezTo>
                  <a:pt x="18585" y="144530"/>
                  <a:pt x="14433" y="148683"/>
                  <a:pt x="9293" y="148683"/>
                </a:cubicBezTo>
                <a:cubicBezTo>
                  <a:pt x="4153" y="148683"/>
                  <a:pt x="0" y="144530"/>
                  <a:pt x="0" y="139390"/>
                </a:cubicBezTo>
                <a:lnTo>
                  <a:pt x="0" y="9293"/>
                </a:lnTo>
                <a:cubicBezTo>
                  <a:pt x="0" y="4153"/>
                  <a:pt x="4153" y="0"/>
                  <a:pt x="9293" y="0"/>
                </a:cubicBezTo>
                <a:close/>
                <a:moveTo>
                  <a:pt x="18585" y="54333"/>
                </a:moveTo>
                <a:lnTo>
                  <a:pt x="37171" y="50297"/>
                </a:lnTo>
                <a:lnTo>
                  <a:pt x="37171" y="69318"/>
                </a:lnTo>
                <a:lnTo>
                  <a:pt x="18585" y="73354"/>
                </a:lnTo>
                <a:lnTo>
                  <a:pt x="18585" y="92375"/>
                </a:lnTo>
                <a:lnTo>
                  <a:pt x="32757" y="88832"/>
                </a:lnTo>
                <a:cubicBezTo>
                  <a:pt x="34238" y="88455"/>
                  <a:pt x="35690" y="88135"/>
                  <a:pt x="37171" y="87874"/>
                </a:cubicBezTo>
                <a:lnTo>
                  <a:pt x="37171" y="69318"/>
                </a:lnTo>
                <a:lnTo>
                  <a:pt x="48467" y="66878"/>
                </a:lnTo>
                <a:cubicBezTo>
                  <a:pt x="50877" y="66356"/>
                  <a:pt x="53317" y="66152"/>
                  <a:pt x="55756" y="66268"/>
                </a:cubicBezTo>
                <a:lnTo>
                  <a:pt x="55756" y="47683"/>
                </a:lnTo>
                <a:cubicBezTo>
                  <a:pt x="59705" y="47799"/>
                  <a:pt x="63655" y="48438"/>
                  <a:pt x="67488" y="49542"/>
                </a:cubicBezTo>
                <a:lnTo>
                  <a:pt x="74341" y="51545"/>
                </a:lnTo>
                <a:lnTo>
                  <a:pt x="74341" y="70915"/>
                </a:lnTo>
                <a:lnTo>
                  <a:pt x="62232" y="67343"/>
                </a:lnTo>
                <a:cubicBezTo>
                  <a:pt x="60112" y="66733"/>
                  <a:pt x="57934" y="66356"/>
                  <a:pt x="55756" y="66239"/>
                </a:cubicBezTo>
                <a:lnTo>
                  <a:pt x="55756" y="86974"/>
                </a:lnTo>
                <a:cubicBezTo>
                  <a:pt x="62087" y="87525"/>
                  <a:pt x="68330" y="88919"/>
                  <a:pt x="74341" y="91155"/>
                </a:cubicBezTo>
                <a:lnTo>
                  <a:pt x="74341" y="70886"/>
                </a:lnTo>
                <a:lnTo>
                  <a:pt x="80933" y="72831"/>
                </a:lnTo>
                <a:cubicBezTo>
                  <a:pt x="84854" y="73993"/>
                  <a:pt x="88861" y="74690"/>
                  <a:pt x="92927" y="74980"/>
                </a:cubicBezTo>
                <a:lnTo>
                  <a:pt x="92927" y="56337"/>
                </a:lnTo>
                <a:cubicBezTo>
                  <a:pt x="90662" y="56105"/>
                  <a:pt x="88397" y="55669"/>
                  <a:pt x="86190" y="55030"/>
                </a:cubicBezTo>
                <a:lnTo>
                  <a:pt x="74341" y="51545"/>
                </a:lnTo>
                <a:lnTo>
                  <a:pt x="74341" y="33541"/>
                </a:lnTo>
                <a:cubicBezTo>
                  <a:pt x="70566" y="32437"/>
                  <a:pt x="66849" y="30985"/>
                  <a:pt x="63248" y="29185"/>
                </a:cubicBezTo>
                <a:cubicBezTo>
                  <a:pt x="60867" y="27994"/>
                  <a:pt x="58341" y="27152"/>
                  <a:pt x="55756" y="26629"/>
                </a:cubicBezTo>
                <a:lnTo>
                  <a:pt x="55756" y="47654"/>
                </a:lnTo>
                <a:cubicBezTo>
                  <a:pt x="51981" y="47538"/>
                  <a:pt x="48206" y="47886"/>
                  <a:pt x="44518" y="48699"/>
                </a:cubicBezTo>
                <a:lnTo>
                  <a:pt x="37171" y="50297"/>
                </a:lnTo>
                <a:lnTo>
                  <a:pt x="37171" y="28459"/>
                </a:lnTo>
                <a:lnTo>
                  <a:pt x="18585" y="33105"/>
                </a:lnTo>
                <a:lnTo>
                  <a:pt x="18585" y="54333"/>
                </a:lnTo>
                <a:close/>
                <a:moveTo>
                  <a:pt x="92927" y="97486"/>
                </a:moveTo>
                <a:cubicBezTo>
                  <a:pt x="97805" y="97922"/>
                  <a:pt x="102771" y="97283"/>
                  <a:pt x="107447" y="95511"/>
                </a:cubicBezTo>
                <a:lnTo>
                  <a:pt x="111512" y="94001"/>
                </a:lnTo>
                <a:lnTo>
                  <a:pt x="111512" y="73180"/>
                </a:lnTo>
                <a:lnTo>
                  <a:pt x="109218" y="73703"/>
                </a:lnTo>
                <a:cubicBezTo>
                  <a:pt x="103875" y="74951"/>
                  <a:pt x="98386" y="75358"/>
                  <a:pt x="92927" y="75009"/>
                </a:cubicBezTo>
                <a:lnTo>
                  <a:pt x="92927" y="97486"/>
                </a:lnTo>
                <a:close/>
                <a:moveTo>
                  <a:pt x="111512" y="54101"/>
                </a:moveTo>
                <a:lnTo>
                  <a:pt x="111512" y="33541"/>
                </a:lnTo>
                <a:cubicBezTo>
                  <a:pt x="105443" y="35312"/>
                  <a:pt x="99199" y="36183"/>
                  <a:pt x="92927" y="36183"/>
                </a:cubicBezTo>
                <a:lnTo>
                  <a:pt x="92927" y="56337"/>
                </a:lnTo>
                <a:cubicBezTo>
                  <a:pt x="96963" y="56743"/>
                  <a:pt x="101058" y="56482"/>
                  <a:pt x="105036" y="55582"/>
                </a:cubicBezTo>
                <a:lnTo>
                  <a:pt x="111512" y="54072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759935" y="413008"/>
            <a:ext cx="925138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kern="0" spc="9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0407" y="759935"/>
            <a:ext cx="11679870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9501" y="947854"/>
            <a:ext cx="8374937" cy="80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solve the #1 validated AI video pain point (character consistency crisis affecting $3K+ wasted spend per user) with entity extraction technology — delivering </a:t>
            </a:r>
            <a:r>
              <a:rPr lang="en-US" sz="16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67.9% ROI at 36 months</a:t>
            </a: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maintaining EU AI Act LIMITED-RISK classification and GDPR compliance.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0407" y="2193073"/>
            <a:ext cx="6715512" cy="4130081"/>
          </a:xfrm>
          <a:custGeom>
            <a:avLst/>
            <a:gdLst/>
            <a:ahLst/>
            <a:cxnLst/>
            <a:rect l="l" t="t" r="r" b="b"/>
            <a:pathLst>
              <a:path w="6715512" h="4130081">
                <a:moveTo>
                  <a:pt x="132163" y="0"/>
                </a:moveTo>
                <a:lnTo>
                  <a:pt x="6583350" y="0"/>
                </a:lnTo>
                <a:cubicBezTo>
                  <a:pt x="6656341" y="0"/>
                  <a:pt x="6715512" y="59171"/>
                  <a:pt x="6715512" y="132163"/>
                </a:cubicBezTo>
                <a:lnTo>
                  <a:pt x="6715512" y="3997919"/>
                </a:lnTo>
                <a:cubicBezTo>
                  <a:pt x="6715512" y="4070861"/>
                  <a:pt x="6656292" y="4130081"/>
                  <a:pt x="6583350" y="4130081"/>
                </a:cubicBezTo>
                <a:lnTo>
                  <a:pt x="132163" y="4130081"/>
                </a:lnTo>
                <a:cubicBezTo>
                  <a:pt x="59171" y="4130081"/>
                  <a:pt x="0" y="4070910"/>
                  <a:pt x="0" y="3997919"/>
                </a:cubicBezTo>
                <a:lnTo>
                  <a:pt x="0" y="132163"/>
                </a:lnTo>
                <a:cubicBezTo>
                  <a:pt x="0" y="59220"/>
                  <a:pt x="59220" y="0"/>
                  <a:pt x="132163" y="0"/>
                </a:cubicBezTo>
                <a:close/>
              </a:path>
            </a:pathLst>
          </a:custGeom>
          <a:gradFill flip="none" rotWithShape="1">
            <a:gsLst>
              <a:gs pos="0">
                <a:srgbClr val="2563EB"/>
              </a:gs>
              <a:gs pos="100000">
                <a:srgbClr val="0EA5E9"/>
              </a:gs>
            </a:gsLst>
            <a:lin ang="2700000" scaled="1"/>
          </a:gra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Shape 7"/>
          <p:cNvSpPr/>
          <p:nvPr/>
        </p:nvSpPr>
        <p:spPr>
          <a:xfrm>
            <a:off x="528650" y="2721724"/>
            <a:ext cx="528650" cy="528650"/>
          </a:xfrm>
          <a:custGeom>
            <a:avLst/>
            <a:gdLst/>
            <a:ahLst/>
            <a:cxnLst/>
            <a:rect l="l" t="t" r="r" b="b"/>
            <a:pathLst>
              <a:path w="528650" h="528650">
                <a:moveTo>
                  <a:pt x="99122" y="0"/>
                </a:moveTo>
                <a:lnTo>
                  <a:pt x="429528" y="0"/>
                </a:lnTo>
                <a:cubicBezTo>
                  <a:pt x="484235" y="0"/>
                  <a:pt x="528650" y="44415"/>
                  <a:pt x="528650" y="99122"/>
                </a:cubicBezTo>
                <a:lnTo>
                  <a:pt x="528650" y="429528"/>
                </a:lnTo>
                <a:cubicBezTo>
                  <a:pt x="528650" y="484272"/>
                  <a:pt x="484272" y="528650"/>
                  <a:pt x="429528" y="528650"/>
                </a:cubicBezTo>
                <a:lnTo>
                  <a:pt x="99122" y="528650"/>
                </a:lnTo>
                <a:cubicBezTo>
                  <a:pt x="44415" y="528650"/>
                  <a:pt x="0" y="484235"/>
                  <a:pt x="0" y="429528"/>
                </a:cubicBezTo>
                <a:lnTo>
                  <a:pt x="0" y="99122"/>
                </a:lnTo>
                <a:cubicBezTo>
                  <a:pt x="0" y="44415"/>
                  <a:pt x="44415" y="0"/>
                  <a:pt x="9912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671138" y="2862146"/>
            <a:ext cx="247805" cy="247805"/>
          </a:xfrm>
          <a:custGeom>
            <a:avLst/>
            <a:gdLst/>
            <a:ahLst/>
            <a:cxnLst/>
            <a:rect l="l" t="t" r="r" b="b"/>
            <a:pathLst>
              <a:path w="247805" h="247805">
                <a:moveTo>
                  <a:pt x="61951" y="154878"/>
                </a:moveTo>
                <a:lnTo>
                  <a:pt x="11858" y="154878"/>
                </a:lnTo>
                <a:cubicBezTo>
                  <a:pt x="-194" y="154878"/>
                  <a:pt x="-7599" y="141762"/>
                  <a:pt x="-1404" y="131404"/>
                </a:cubicBezTo>
                <a:lnTo>
                  <a:pt x="24200" y="88716"/>
                </a:lnTo>
                <a:cubicBezTo>
                  <a:pt x="28410" y="81698"/>
                  <a:pt x="35961" y="77439"/>
                  <a:pt x="44140" y="77439"/>
                </a:cubicBezTo>
                <a:lnTo>
                  <a:pt x="90120" y="77439"/>
                </a:lnTo>
                <a:cubicBezTo>
                  <a:pt x="126952" y="15052"/>
                  <a:pt x="181885" y="11906"/>
                  <a:pt x="218620" y="17279"/>
                </a:cubicBezTo>
                <a:cubicBezTo>
                  <a:pt x="224815" y="18198"/>
                  <a:pt x="229655" y="23038"/>
                  <a:pt x="230526" y="29185"/>
                </a:cubicBezTo>
                <a:cubicBezTo>
                  <a:pt x="235899" y="65920"/>
                  <a:pt x="232753" y="120853"/>
                  <a:pt x="170366" y="157685"/>
                </a:cubicBezTo>
                <a:lnTo>
                  <a:pt x="170366" y="203665"/>
                </a:lnTo>
                <a:cubicBezTo>
                  <a:pt x="170366" y="211844"/>
                  <a:pt x="166107" y="219394"/>
                  <a:pt x="159089" y="223605"/>
                </a:cubicBezTo>
                <a:lnTo>
                  <a:pt x="116401" y="249208"/>
                </a:lnTo>
                <a:cubicBezTo>
                  <a:pt x="106091" y="255404"/>
                  <a:pt x="92927" y="247950"/>
                  <a:pt x="92927" y="235947"/>
                </a:cubicBezTo>
                <a:lnTo>
                  <a:pt x="92927" y="185854"/>
                </a:lnTo>
                <a:cubicBezTo>
                  <a:pt x="92927" y="168769"/>
                  <a:pt x="79036" y="154878"/>
                  <a:pt x="61951" y="154878"/>
                </a:cubicBezTo>
                <a:lnTo>
                  <a:pt x="61903" y="154878"/>
                </a:lnTo>
                <a:close/>
                <a:moveTo>
                  <a:pt x="193598" y="77439"/>
                </a:moveTo>
                <a:cubicBezTo>
                  <a:pt x="193598" y="64617"/>
                  <a:pt x="183188" y="54207"/>
                  <a:pt x="170366" y="54207"/>
                </a:cubicBezTo>
                <a:cubicBezTo>
                  <a:pt x="157544" y="54207"/>
                  <a:pt x="147134" y="64617"/>
                  <a:pt x="147134" y="77439"/>
                </a:cubicBezTo>
                <a:cubicBezTo>
                  <a:pt x="147134" y="90261"/>
                  <a:pt x="157544" y="100671"/>
                  <a:pt x="170366" y="100671"/>
                </a:cubicBezTo>
                <a:cubicBezTo>
                  <a:pt x="183188" y="100671"/>
                  <a:pt x="193598" y="90261"/>
                  <a:pt x="193598" y="7743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1189463" y="2721724"/>
            <a:ext cx="1618992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1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8-Week Pilot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9463" y="3019089"/>
            <a:ext cx="1569431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1 - June 23, 2026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8650" y="3448618"/>
            <a:ext cx="6319024" cy="693854"/>
          </a:xfrm>
          <a:custGeom>
            <a:avLst/>
            <a:gdLst/>
            <a:ahLst/>
            <a:cxnLst/>
            <a:rect l="l" t="t" r="r" b="b"/>
            <a:pathLst>
              <a:path w="6319024" h="693854">
                <a:moveTo>
                  <a:pt x="99124" y="0"/>
                </a:moveTo>
                <a:lnTo>
                  <a:pt x="6219900" y="0"/>
                </a:lnTo>
                <a:cubicBezTo>
                  <a:pt x="6274645" y="0"/>
                  <a:pt x="6319024" y="44379"/>
                  <a:pt x="6319024" y="99124"/>
                </a:cubicBezTo>
                <a:lnTo>
                  <a:pt x="6319024" y="594730"/>
                </a:lnTo>
                <a:cubicBezTo>
                  <a:pt x="6319024" y="649474"/>
                  <a:pt x="6274645" y="693854"/>
                  <a:pt x="6219900" y="693854"/>
                </a:cubicBezTo>
                <a:lnTo>
                  <a:pt x="99124" y="693854"/>
                </a:lnTo>
                <a:cubicBezTo>
                  <a:pt x="44416" y="693854"/>
                  <a:pt x="0" y="649438"/>
                  <a:pt x="0" y="594730"/>
                </a:cubicBezTo>
                <a:lnTo>
                  <a:pt x="0" y="99124"/>
                </a:lnTo>
                <a:cubicBezTo>
                  <a:pt x="0" y="44379"/>
                  <a:pt x="44379" y="0"/>
                  <a:pt x="9912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677333" y="3613821"/>
            <a:ext cx="132163" cy="132163"/>
          </a:xfrm>
          <a:custGeom>
            <a:avLst/>
            <a:gdLst/>
            <a:ahLst/>
            <a:cxnLst/>
            <a:rect l="l" t="t" r="r" b="b"/>
            <a:pathLst>
              <a:path w="132163" h="132163">
                <a:moveTo>
                  <a:pt x="66081" y="132163"/>
                </a:moveTo>
                <a:cubicBezTo>
                  <a:pt x="102553" y="132163"/>
                  <a:pt x="132163" y="102553"/>
                  <a:pt x="132163" y="66081"/>
                </a:cubicBezTo>
                <a:cubicBezTo>
                  <a:pt x="132163" y="29610"/>
                  <a:pt x="102553" y="0"/>
                  <a:pt x="66081" y="0"/>
                </a:cubicBezTo>
                <a:cubicBezTo>
                  <a:pt x="29610" y="0"/>
                  <a:pt x="0" y="29610"/>
                  <a:pt x="0" y="66081"/>
                </a:cubicBezTo>
                <a:cubicBezTo>
                  <a:pt x="0" y="102553"/>
                  <a:pt x="29610" y="132163"/>
                  <a:pt x="66081" y="132163"/>
                </a:cubicBezTo>
                <a:close/>
                <a:moveTo>
                  <a:pt x="87867" y="54904"/>
                </a:moveTo>
                <a:lnTo>
                  <a:pt x="67217" y="87945"/>
                </a:lnTo>
                <a:cubicBezTo>
                  <a:pt x="66133" y="89674"/>
                  <a:pt x="64274" y="90759"/>
                  <a:pt x="62235" y="90862"/>
                </a:cubicBezTo>
                <a:cubicBezTo>
                  <a:pt x="60196" y="90965"/>
                  <a:pt x="58234" y="90036"/>
                  <a:pt x="57021" y="88384"/>
                </a:cubicBezTo>
                <a:lnTo>
                  <a:pt x="44631" y="71863"/>
                </a:lnTo>
                <a:cubicBezTo>
                  <a:pt x="42566" y="69127"/>
                  <a:pt x="43134" y="65255"/>
                  <a:pt x="45870" y="63190"/>
                </a:cubicBezTo>
                <a:cubicBezTo>
                  <a:pt x="48606" y="61125"/>
                  <a:pt x="52478" y="61693"/>
                  <a:pt x="54543" y="64429"/>
                </a:cubicBezTo>
                <a:lnTo>
                  <a:pt x="61512" y="73722"/>
                </a:lnTo>
                <a:lnTo>
                  <a:pt x="77362" y="48348"/>
                </a:lnTo>
                <a:cubicBezTo>
                  <a:pt x="79168" y="45457"/>
                  <a:pt x="82989" y="44553"/>
                  <a:pt x="85906" y="46386"/>
                </a:cubicBezTo>
                <a:cubicBezTo>
                  <a:pt x="88823" y="48219"/>
                  <a:pt x="89700" y="52013"/>
                  <a:pt x="87867" y="5493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925138" y="3580780"/>
            <a:ext cx="173463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Product-Market Fit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92098" y="3845106"/>
            <a:ext cx="588123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NPS &gt;40, Retention &gt;60%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28650" y="4274634"/>
            <a:ext cx="6319024" cy="693854"/>
          </a:xfrm>
          <a:custGeom>
            <a:avLst/>
            <a:gdLst/>
            <a:ahLst/>
            <a:cxnLst/>
            <a:rect l="l" t="t" r="r" b="b"/>
            <a:pathLst>
              <a:path w="6319024" h="693854">
                <a:moveTo>
                  <a:pt x="99124" y="0"/>
                </a:moveTo>
                <a:lnTo>
                  <a:pt x="6219900" y="0"/>
                </a:lnTo>
                <a:cubicBezTo>
                  <a:pt x="6274645" y="0"/>
                  <a:pt x="6319024" y="44379"/>
                  <a:pt x="6319024" y="99124"/>
                </a:cubicBezTo>
                <a:lnTo>
                  <a:pt x="6319024" y="594730"/>
                </a:lnTo>
                <a:cubicBezTo>
                  <a:pt x="6319024" y="649474"/>
                  <a:pt x="6274645" y="693854"/>
                  <a:pt x="6219900" y="693854"/>
                </a:cubicBezTo>
                <a:lnTo>
                  <a:pt x="99124" y="693854"/>
                </a:lnTo>
                <a:cubicBezTo>
                  <a:pt x="44416" y="693854"/>
                  <a:pt x="0" y="649438"/>
                  <a:pt x="0" y="594730"/>
                </a:cubicBezTo>
                <a:lnTo>
                  <a:pt x="0" y="99124"/>
                </a:lnTo>
                <a:cubicBezTo>
                  <a:pt x="0" y="44379"/>
                  <a:pt x="44379" y="0"/>
                  <a:pt x="9912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6"/>
          <p:cNvSpPr/>
          <p:nvPr/>
        </p:nvSpPr>
        <p:spPr>
          <a:xfrm>
            <a:off x="677333" y="4439837"/>
            <a:ext cx="132163" cy="132163"/>
          </a:xfrm>
          <a:custGeom>
            <a:avLst/>
            <a:gdLst/>
            <a:ahLst/>
            <a:cxnLst/>
            <a:rect l="l" t="t" r="r" b="b"/>
            <a:pathLst>
              <a:path w="132163" h="132163">
                <a:moveTo>
                  <a:pt x="66081" y="132163"/>
                </a:moveTo>
                <a:cubicBezTo>
                  <a:pt x="102553" y="132163"/>
                  <a:pt x="132163" y="102553"/>
                  <a:pt x="132163" y="66081"/>
                </a:cubicBezTo>
                <a:cubicBezTo>
                  <a:pt x="132163" y="29610"/>
                  <a:pt x="102553" y="0"/>
                  <a:pt x="66081" y="0"/>
                </a:cubicBezTo>
                <a:cubicBezTo>
                  <a:pt x="29610" y="0"/>
                  <a:pt x="0" y="29610"/>
                  <a:pt x="0" y="66081"/>
                </a:cubicBezTo>
                <a:cubicBezTo>
                  <a:pt x="0" y="102553"/>
                  <a:pt x="29610" y="132163"/>
                  <a:pt x="66081" y="132163"/>
                </a:cubicBezTo>
                <a:close/>
                <a:moveTo>
                  <a:pt x="87867" y="54904"/>
                </a:moveTo>
                <a:lnTo>
                  <a:pt x="67217" y="87945"/>
                </a:lnTo>
                <a:cubicBezTo>
                  <a:pt x="66133" y="89674"/>
                  <a:pt x="64274" y="90759"/>
                  <a:pt x="62235" y="90862"/>
                </a:cubicBezTo>
                <a:cubicBezTo>
                  <a:pt x="60196" y="90965"/>
                  <a:pt x="58234" y="90036"/>
                  <a:pt x="57021" y="88384"/>
                </a:cubicBezTo>
                <a:lnTo>
                  <a:pt x="44631" y="71863"/>
                </a:lnTo>
                <a:cubicBezTo>
                  <a:pt x="42566" y="69127"/>
                  <a:pt x="43134" y="65255"/>
                  <a:pt x="45870" y="63190"/>
                </a:cubicBezTo>
                <a:cubicBezTo>
                  <a:pt x="48606" y="61125"/>
                  <a:pt x="52478" y="61693"/>
                  <a:pt x="54543" y="64429"/>
                </a:cubicBezTo>
                <a:lnTo>
                  <a:pt x="61512" y="73722"/>
                </a:lnTo>
                <a:lnTo>
                  <a:pt x="77362" y="48348"/>
                </a:lnTo>
                <a:cubicBezTo>
                  <a:pt x="79168" y="45457"/>
                  <a:pt x="82989" y="44553"/>
                  <a:pt x="85906" y="46386"/>
                </a:cubicBezTo>
                <a:cubicBezTo>
                  <a:pt x="88823" y="48219"/>
                  <a:pt x="89700" y="52013"/>
                  <a:pt x="87867" y="5493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/>
          <p:nvPr/>
        </p:nvSpPr>
        <p:spPr>
          <a:xfrm>
            <a:off x="925138" y="4406797"/>
            <a:ext cx="197417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Character Consistency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92098" y="4671122"/>
            <a:ext cx="588123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85-90% → 90%+ accuracy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28650" y="5100650"/>
            <a:ext cx="6319024" cy="693854"/>
          </a:xfrm>
          <a:custGeom>
            <a:avLst/>
            <a:gdLst/>
            <a:ahLst/>
            <a:cxnLst/>
            <a:rect l="l" t="t" r="r" b="b"/>
            <a:pathLst>
              <a:path w="6319024" h="693854">
                <a:moveTo>
                  <a:pt x="99124" y="0"/>
                </a:moveTo>
                <a:lnTo>
                  <a:pt x="6219900" y="0"/>
                </a:lnTo>
                <a:cubicBezTo>
                  <a:pt x="6274645" y="0"/>
                  <a:pt x="6319024" y="44379"/>
                  <a:pt x="6319024" y="99124"/>
                </a:cubicBezTo>
                <a:lnTo>
                  <a:pt x="6319024" y="594730"/>
                </a:lnTo>
                <a:cubicBezTo>
                  <a:pt x="6319024" y="649474"/>
                  <a:pt x="6274645" y="693854"/>
                  <a:pt x="6219900" y="693854"/>
                </a:cubicBezTo>
                <a:lnTo>
                  <a:pt x="99124" y="693854"/>
                </a:lnTo>
                <a:cubicBezTo>
                  <a:pt x="44416" y="693854"/>
                  <a:pt x="0" y="649438"/>
                  <a:pt x="0" y="594730"/>
                </a:cubicBezTo>
                <a:lnTo>
                  <a:pt x="0" y="99124"/>
                </a:lnTo>
                <a:cubicBezTo>
                  <a:pt x="0" y="44379"/>
                  <a:pt x="44379" y="0"/>
                  <a:pt x="99124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0"/>
          <p:cNvSpPr/>
          <p:nvPr/>
        </p:nvSpPr>
        <p:spPr>
          <a:xfrm>
            <a:off x="677333" y="5265854"/>
            <a:ext cx="132163" cy="132163"/>
          </a:xfrm>
          <a:custGeom>
            <a:avLst/>
            <a:gdLst/>
            <a:ahLst/>
            <a:cxnLst/>
            <a:rect l="l" t="t" r="r" b="b"/>
            <a:pathLst>
              <a:path w="132163" h="132163">
                <a:moveTo>
                  <a:pt x="66081" y="132163"/>
                </a:moveTo>
                <a:cubicBezTo>
                  <a:pt x="102553" y="132163"/>
                  <a:pt x="132163" y="102553"/>
                  <a:pt x="132163" y="66081"/>
                </a:cubicBezTo>
                <a:cubicBezTo>
                  <a:pt x="132163" y="29610"/>
                  <a:pt x="102553" y="0"/>
                  <a:pt x="66081" y="0"/>
                </a:cubicBezTo>
                <a:cubicBezTo>
                  <a:pt x="29610" y="0"/>
                  <a:pt x="0" y="29610"/>
                  <a:pt x="0" y="66081"/>
                </a:cubicBezTo>
                <a:cubicBezTo>
                  <a:pt x="0" y="102553"/>
                  <a:pt x="29610" y="132163"/>
                  <a:pt x="66081" y="132163"/>
                </a:cubicBezTo>
                <a:close/>
                <a:moveTo>
                  <a:pt x="87867" y="54904"/>
                </a:moveTo>
                <a:lnTo>
                  <a:pt x="67217" y="87945"/>
                </a:lnTo>
                <a:cubicBezTo>
                  <a:pt x="66133" y="89674"/>
                  <a:pt x="64274" y="90759"/>
                  <a:pt x="62235" y="90862"/>
                </a:cubicBezTo>
                <a:cubicBezTo>
                  <a:pt x="60196" y="90965"/>
                  <a:pt x="58234" y="90036"/>
                  <a:pt x="57021" y="88384"/>
                </a:cubicBezTo>
                <a:lnTo>
                  <a:pt x="44631" y="71863"/>
                </a:lnTo>
                <a:cubicBezTo>
                  <a:pt x="42566" y="69127"/>
                  <a:pt x="43134" y="65255"/>
                  <a:pt x="45870" y="63190"/>
                </a:cubicBezTo>
                <a:cubicBezTo>
                  <a:pt x="48606" y="61125"/>
                  <a:pt x="52478" y="61693"/>
                  <a:pt x="54543" y="64429"/>
                </a:cubicBezTo>
                <a:lnTo>
                  <a:pt x="61512" y="73722"/>
                </a:lnTo>
                <a:lnTo>
                  <a:pt x="77362" y="48348"/>
                </a:lnTo>
                <a:cubicBezTo>
                  <a:pt x="79168" y="45457"/>
                  <a:pt x="82989" y="44553"/>
                  <a:pt x="85906" y="46386"/>
                </a:cubicBezTo>
                <a:cubicBezTo>
                  <a:pt x="88823" y="48219"/>
                  <a:pt x="89700" y="52013"/>
                  <a:pt x="87867" y="5493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/>
          <p:nvPr/>
        </p:nvSpPr>
        <p:spPr>
          <a:xfrm>
            <a:off x="925138" y="5232813"/>
            <a:ext cx="1536390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Pricing &amp; Workflow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92098" y="5497138"/>
            <a:ext cx="5881236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$15 Starter vs $29 Pro validation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253524" y="2199681"/>
            <a:ext cx="4597607" cy="2193899"/>
          </a:xfrm>
          <a:custGeom>
            <a:avLst/>
            <a:gdLst/>
            <a:ahLst/>
            <a:cxnLst/>
            <a:rect l="l" t="t" r="r" b="b"/>
            <a:pathLst>
              <a:path w="4597607" h="2193899">
                <a:moveTo>
                  <a:pt x="132160" y="0"/>
                </a:moveTo>
                <a:lnTo>
                  <a:pt x="4465446" y="0"/>
                </a:lnTo>
                <a:cubicBezTo>
                  <a:pt x="4538436" y="0"/>
                  <a:pt x="4597607" y="59170"/>
                  <a:pt x="4597607" y="132160"/>
                </a:cubicBezTo>
                <a:lnTo>
                  <a:pt x="4597607" y="2061739"/>
                </a:lnTo>
                <a:cubicBezTo>
                  <a:pt x="4597607" y="2134729"/>
                  <a:pt x="4538436" y="2193899"/>
                  <a:pt x="4465446" y="2193899"/>
                </a:cubicBezTo>
                <a:lnTo>
                  <a:pt x="132160" y="2193899"/>
                </a:lnTo>
                <a:cubicBezTo>
                  <a:pt x="59170" y="2193899"/>
                  <a:pt x="0" y="2134729"/>
                  <a:pt x="0" y="2061739"/>
                </a:cubicBezTo>
                <a:lnTo>
                  <a:pt x="0" y="132160"/>
                </a:lnTo>
                <a:cubicBezTo>
                  <a:pt x="0" y="59219"/>
                  <a:pt x="59219" y="0"/>
                  <a:pt x="132160" y="0"/>
                </a:cubicBezTo>
                <a:close/>
              </a:path>
            </a:pathLst>
          </a:custGeom>
          <a:solidFill>
            <a:srgbClr val="FFFFFF"/>
          </a:solidFill>
          <a:ln w="20320">
            <a:solidFill>
              <a:srgbClr val="2563E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4"/>
          <p:cNvSpPr/>
          <p:nvPr/>
        </p:nvSpPr>
        <p:spPr>
          <a:xfrm>
            <a:off x="7458376" y="2437575"/>
            <a:ext cx="247805" cy="198244"/>
          </a:xfrm>
          <a:custGeom>
            <a:avLst/>
            <a:gdLst/>
            <a:ahLst/>
            <a:cxnLst/>
            <a:rect l="l" t="t" r="r" b="b"/>
            <a:pathLst>
              <a:path w="247805" h="198244">
                <a:moveTo>
                  <a:pt x="148683" y="12390"/>
                </a:moveTo>
                <a:lnTo>
                  <a:pt x="198244" y="12390"/>
                </a:lnTo>
                <a:cubicBezTo>
                  <a:pt x="205097" y="12390"/>
                  <a:pt x="210634" y="17927"/>
                  <a:pt x="210634" y="24780"/>
                </a:cubicBezTo>
                <a:cubicBezTo>
                  <a:pt x="210634" y="31634"/>
                  <a:pt x="205097" y="37171"/>
                  <a:pt x="198244" y="37171"/>
                </a:cubicBezTo>
                <a:lnTo>
                  <a:pt x="154259" y="37171"/>
                </a:lnTo>
                <a:cubicBezTo>
                  <a:pt x="152245" y="47160"/>
                  <a:pt x="145392" y="55408"/>
                  <a:pt x="136293" y="59357"/>
                </a:cubicBezTo>
                <a:lnTo>
                  <a:pt x="136293" y="173463"/>
                </a:lnTo>
                <a:lnTo>
                  <a:pt x="198244" y="173463"/>
                </a:lnTo>
                <a:cubicBezTo>
                  <a:pt x="205097" y="173463"/>
                  <a:pt x="210634" y="179000"/>
                  <a:pt x="210634" y="185854"/>
                </a:cubicBezTo>
                <a:cubicBezTo>
                  <a:pt x="210634" y="192707"/>
                  <a:pt x="205097" y="198244"/>
                  <a:pt x="198244" y="198244"/>
                </a:cubicBezTo>
                <a:lnTo>
                  <a:pt x="49561" y="198244"/>
                </a:lnTo>
                <a:cubicBezTo>
                  <a:pt x="42708" y="198244"/>
                  <a:pt x="37171" y="192707"/>
                  <a:pt x="37171" y="185854"/>
                </a:cubicBezTo>
                <a:cubicBezTo>
                  <a:pt x="37171" y="179000"/>
                  <a:pt x="42708" y="173463"/>
                  <a:pt x="49561" y="173463"/>
                </a:cubicBezTo>
                <a:lnTo>
                  <a:pt x="111512" y="173463"/>
                </a:lnTo>
                <a:lnTo>
                  <a:pt x="111512" y="59357"/>
                </a:lnTo>
                <a:cubicBezTo>
                  <a:pt x="102413" y="55369"/>
                  <a:pt x="95560" y="47122"/>
                  <a:pt x="93546" y="37171"/>
                </a:cubicBezTo>
                <a:lnTo>
                  <a:pt x="49561" y="37171"/>
                </a:lnTo>
                <a:cubicBezTo>
                  <a:pt x="42708" y="37171"/>
                  <a:pt x="37171" y="31634"/>
                  <a:pt x="37171" y="24780"/>
                </a:cubicBezTo>
                <a:cubicBezTo>
                  <a:pt x="37171" y="17927"/>
                  <a:pt x="42708" y="12390"/>
                  <a:pt x="49561" y="12390"/>
                </a:cubicBezTo>
                <a:lnTo>
                  <a:pt x="99122" y="12390"/>
                </a:lnTo>
                <a:cubicBezTo>
                  <a:pt x="104775" y="4879"/>
                  <a:pt x="113758" y="0"/>
                  <a:pt x="123902" y="0"/>
                </a:cubicBezTo>
                <a:cubicBezTo>
                  <a:pt x="134047" y="0"/>
                  <a:pt x="143030" y="4879"/>
                  <a:pt x="148683" y="12390"/>
                </a:cubicBezTo>
                <a:close/>
                <a:moveTo>
                  <a:pt x="170211" y="123902"/>
                </a:moveTo>
                <a:lnTo>
                  <a:pt x="226277" y="123902"/>
                </a:lnTo>
                <a:lnTo>
                  <a:pt x="198244" y="75813"/>
                </a:lnTo>
                <a:lnTo>
                  <a:pt x="170211" y="123902"/>
                </a:lnTo>
                <a:close/>
                <a:moveTo>
                  <a:pt x="198244" y="161073"/>
                </a:moveTo>
                <a:cubicBezTo>
                  <a:pt x="173889" y="161073"/>
                  <a:pt x="153639" y="147909"/>
                  <a:pt x="149457" y="130523"/>
                </a:cubicBezTo>
                <a:cubicBezTo>
                  <a:pt x="148451" y="126264"/>
                  <a:pt x="149845" y="121889"/>
                  <a:pt x="152052" y="118095"/>
                </a:cubicBezTo>
                <a:lnTo>
                  <a:pt x="188913" y="54904"/>
                </a:lnTo>
                <a:cubicBezTo>
                  <a:pt x="190848" y="51574"/>
                  <a:pt x="194411" y="49561"/>
                  <a:pt x="198244" y="49561"/>
                </a:cubicBezTo>
                <a:cubicBezTo>
                  <a:pt x="202077" y="49561"/>
                  <a:pt x="205639" y="51613"/>
                  <a:pt x="207575" y="54904"/>
                </a:cubicBezTo>
                <a:lnTo>
                  <a:pt x="244436" y="118095"/>
                </a:lnTo>
                <a:cubicBezTo>
                  <a:pt x="246643" y="121889"/>
                  <a:pt x="248037" y="126264"/>
                  <a:pt x="247030" y="130523"/>
                </a:cubicBezTo>
                <a:cubicBezTo>
                  <a:pt x="242849" y="147870"/>
                  <a:pt x="222598" y="161073"/>
                  <a:pt x="198244" y="161073"/>
                </a:cubicBezTo>
                <a:close/>
                <a:moveTo>
                  <a:pt x="49096" y="75813"/>
                </a:moveTo>
                <a:lnTo>
                  <a:pt x="21063" y="123902"/>
                </a:lnTo>
                <a:lnTo>
                  <a:pt x="77168" y="123902"/>
                </a:lnTo>
                <a:lnTo>
                  <a:pt x="49096" y="75813"/>
                </a:lnTo>
                <a:close/>
                <a:moveTo>
                  <a:pt x="348" y="130523"/>
                </a:moveTo>
                <a:cubicBezTo>
                  <a:pt x="-658" y="126264"/>
                  <a:pt x="736" y="121889"/>
                  <a:pt x="2943" y="118095"/>
                </a:cubicBezTo>
                <a:lnTo>
                  <a:pt x="39804" y="54904"/>
                </a:lnTo>
                <a:cubicBezTo>
                  <a:pt x="41740" y="51574"/>
                  <a:pt x="45302" y="49561"/>
                  <a:pt x="49135" y="49561"/>
                </a:cubicBezTo>
                <a:cubicBezTo>
                  <a:pt x="52968" y="49561"/>
                  <a:pt x="56530" y="51613"/>
                  <a:pt x="58466" y="54904"/>
                </a:cubicBezTo>
                <a:lnTo>
                  <a:pt x="95327" y="118095"/>
                </a:lnTo>
                <a:cubicBezTo>
                  <a:pt x="97534" y="121889"/>
                  <a:pt x="98928" y="126264"/>
                  <a:pt x="97922" y="130523"/>
                </a:cubicBezTo>
                <a:cubicBezTo>
                  <a:pt x="93740" y="147870"/>
                  <a:pt x="73490" y="161073"/>
                  <a:pt x="49135" y="161073"/>
                </a:cubicBezTo>
                <a:cubicBezTo>
                  <a:pt x="24780" y="161073"/>
                  <a:pt x="4530" y="147909"/>
                  <a:pt x="348" y="130523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/>
          <p:nvPr/>
        </p:nvSpPr>
        <p:spPr>
          <a:xfrm>
            <a:off x="7706181" y="2404534"/>
            <a:ext cx="4039220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Go/No-Go Decision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458376" y="2801022"/>
            <a:ext cx="4187902" cy="627772"/>
          </a:xfrm>
          <a:custGeom>
            <a:avLst/>
            <a:gdLst/>
            <a:ahLst/>
            <a:cxnLst/>
            <a:rect l="l" t="t" r="r" b="b"/>
            <a:pathLst>
              <a:path w="4187902" h="627772">
                <a:moveTo>
                  <a:pt x="99119" y="0"/>
                </a:moveTo>
                <a:lnTo>
                  <a:pt x="4088783" y="0"/>
                </a:lnTo>
                <a:cubicBezTo>
                  <a:pt x="4143525" y="0"/>
                  <a:pt x="4187902" y="44377"/>
                  <a:pt x="4187902" y="99119"/>
                </a:cubicBezTo>
                <a:lnTo>
                  <a:pt x="4187902" y="528653"/>
                </a:lnTo>
                <a:cubicBezTo>
                  <a:pt x="4187902" y="583395"/>
                  <a:pt x="4143525" y="627772"/>
                  <a:pt x="4088783" y="627772"/>
                </a:cubicBezTo>
                <a:lnTo>
                  <a:pt x="99119" y="627772"/>
                </a:lnTo>
                <a:cubicBezTo>
                  <a:pt x="44377" y="627772"/>
                  <a:pt x="0" y="583395"/>
                  <a:pt x="0" y="528653"/>
                </a:cubicBezTo>
                <a:lnTo>
                  <a:pt x="0" y="99119"/>
                </a:lnTo>
                <a:cubicBezTo>
                  <a:pt x="0" y="44414"/>
                  <a:pt x="44414" y="0"/>
                  <a:pt x="9911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7"/>
          <p:cNvSpPr/>
          <p:nvPr/>
        </p:nvSpPr>
        <p:spPr>
          <a:xfrm>
            <a:off x="7611189" y="2966225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82602" y="165203"/>
                </a:moveTo>
                <a:cubicBezTo>
                  <a:pt x="128191" y="165203"/>
                  <a:pt x="165203" y="128191"/>
                  <a:pt x="165203" y="82602"/>
                </a:cubicBezTo>
                <a:cubicBezTo>
                  <a:pt x="165203" y="37013"/>
                  <a:pt x="128191" y="0"/>
                  <a:pt x="82602" y="0"/>
                </a:cubicBezTo>
                <a:cubicBezTo>
                  <a:pt x="37013" y="0"/>
                  <a:pt x="0" y="37013"/>
                  <a:pt x="0" y="82602"/>
                </a:cubicBezTo>
                <a:cubicBezTo>
                  <a:pt x="0" y="128191"/>
                  <a:pt x="37013" y="165203"/>
                  <a:pt x="82602" y="165203"/>
                </a:cubicBezTo>
                <a:close/>
                <a:moveTo>
                  <a:pt x="109834" y="68630"/>
                </a:moveTo>
                <a:lnTo>
                  <a:pt x="84021" y="109931"/>
                </a:lnTo>
                <a:cubicBezTo>
                  <a:pt x="82666" y="112093"/>
                  <a:pt x="80343" y="113448"/>
                  <a:pt x="77794" y="113577"/>
                </a:cubicBezTo>
                <a:cubicBezTo>
                  <a:pt x="75245" y="113706"/>
                  <a:pt x="72793" y="112545"/>
                  <a:pt x="71276" y="110480"/>
                </a:cubicBezTo>
                <a:lnTo>
                  <a:pt x="55788" y="89829"/>
                </a:lnTo>
                <a:cubicBezTo>
                  <a:pt x="53207" y="86409"/>
                  <a:pt x="53917" y="81569"/>
                  <a:pt x="57337" y="78988"/>
                </a:cubicBezTo>
                <a:cubicBezTo>
                  <a:pt x="60757" y="76407"/>
                  <a:pt x="65597" y="77116"/>
                  <a:pt x="68179" y="80537"/>
                </a:cubicBezTo>
                <a:lnTo>
                  <a:pt x="76890" y="92152"/>
                </a:lnTo>
                <a:lnTo>
                  <a:pt x="96702" y="60435"/>
                </a:lnTo>
                <a:cubicBezTo>
                  <a:pt x="98961" y="56821"/>
                  <a:pt x="103736" y="55692"/>
                  <a:pt x="107382" y="57982"/>
                </a:cubicBezTo>
                <a:cubicBezTo>
                  <a:pt x="111028" y="60273"/>
                  <a:pt x="112125" y="65017"/>
                  <a:pt x="109834" y="6866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/>
          <p:nvPr/>
        </p:nvSpPr>
        <p:spPr>
          <a:xfrm>
            <a:off x="7896165" y="2933185"/>
            <a:ext cx="224676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✅ PROCEED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896165" y="3131428"/>
            <a:ext cx="2238504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NPS &gt;40, retention &gt;60%, activation &gt;80%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458376" y="3560957"/>
            <a:ext cx="4187902" cy="627772"/>
          </a:xfrm>
          <a:custGeom>
            <a:avLst/>
            <a:gdLst/>
            <a:ahLst/>
            <a:cxnLst/>
            <a:rect l="l" t="t" r="r" b="b"/>
            <a:pathLst>
              <a:path w="4187902" h="627772">
                <a:moveTo>
                  <a:pt x="99119" y="0"/>
                </a:moveTo>
                <a:lnTo>
                  <a:pt x="4088783" y="0"/>
                </a:lnTo>
                <a:cubicBezTo>
                  <a:pt x="4143525" y="0"/>
                  <a:pt x="4187902" y="44377"/>
                  <a:pt x="4187902" y="99119"/>
                </a:cubicBezTo>
                <a:lnTo>
                  <a:pt x="4187902" y="528653"/>
                </a:lnTo>
                <a:cubicBezTo>
                  <a:pt x="4187902" y="583395"/>
                  <a:pt x="4143525" y="627772"/>
                  <a:pt x="4088783" y="627772"/>
                </a:cubicBezTo>
                <a:lnTo>
                  <a:pt x="99119" y="627772"/>
                </a:lnTo>
                <a:cubicBezTo>
                  <a:pt x="44377" y="627772"/>
                  <a:pt x="0" y="583395"/>
                  <a:pt x="0" y="528653"/>
                </a:cubicBezTo>
                <a:lnTo>
                  <a:pt x="0" y="99119"/>
                </a:lnTo>
                <a:cubicBezTo>
                  <a:pt x="0" y="44414"/>
                  <a:pt x="44414" y="0"/>
                  <a:pt x="99119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Shape 31"/>
          <p:cNvSpPr/>
          <p:nvPr/>
        </p:nvSpPr>
        <p:spPr>
          <a:xfrm>
            <a:off x="7611189" y="3726160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82602" y="165203"/>
                </a:moveTo>
                <a:cubicBezTo>
                  <a:pt x="128191" y="165203"/>
                  <a:pt x="165203" y="128191"/>
                  <a:pt x="165203" y="82602"/>
                </a:cubicBezTo>
                <a:cubicBezTo>
                  <a:pt x="165203" y="37013"/>
                  <a:pt x="128191" y="0"/>
                  <a:pt x="82602" y="0"/>
                </a:cubicBezTo>
                <a:cubicBezTo>
                  <a:pt x="37013" y="0"/>
                  <a:pt x="0" y="37013"/>
                  <a:pt x="0" y="82602"/>
                </a:cubicBezTo>
                <a:cubicBezTo>
                  <a:pt x="0" y="128191"/>
                  <a:pt x="37013" y="165203"/>
                  <a:pt x="82602" y="165203"/>
                </a:cubicBezTo>
                <a:close/>
                <a:moveTo>
                  <a:pt x="53885" y="53885"/>
                </a:moveTo>
                <a:cubicBezTo>
                  <a:pt x="56918" y="50852"/>
                  <a:pt x="61822" y="50852"/>
                  <a:pt x="64823" y="53885"/>
                </a:cubicBezTo>
                <a:lnTo>
                  <a:pt x="82569" y="71631"/>
                </a:lnTo>
                <a:lnTo>
                  <a:pt x="100316" y="53885"/>
                </a:lnTo>
                <a:cubicBezTo>
                  <a:pt x="103349" y="50852"/>
                  <a:pt x="108253" y="50852"/>
                  <a:pt x="111254" y="53885"/>
                </a:cubicBezTo>
                <a:cubicBezTo>
                  <a:pt x="114255" y="56918"/>
                  <a:pt x="114287" y="61822"/>
                  <a:pt x="111254" y="64823"/>
                </a:cubicBezTo>
                <a:lnTo>
                  <a:pt x="93508" y="82569"/>
                </a:lnTo>
                <a:lnTo>
                  <a:pt x="111254" y="100316"/>
                </a:lnTo>
                <a:cubicBezTo>
                  <a:pt x="114287" y="103349"/>
                  <a:pt x="114287" y="108253"/>
                  <a:pt x="111254" y="111254"/>
                </a:cubicBezTo>
                <a:cubicBezTo>
                  <a:pt x="108221" y="114255"/>
                  <a:pt x="103317" y="114287"/>
                  <a:pt x="100316" y="111254"/>
                </a:cubicBezTo>
                <a:lnTo>
                  <a:pt x="82569" y="93508"/>
                </a:lnTo>
                <a:lnTo>
                  <a:pt x="64823" y="111254"/>
                </a:lnTo>
                <a:cubicBezTo>
                  <a:pt x="61790" y="114287"/>
                  <a:pt x="56885" y="114287"/>
                  <a:pt x="53885" y="111254"/>
                </a:cubicBezTo>
                <a:cubicBezTo>
                  <a:pt x="50884" y="108221"/>
                  <a:pt x="50852" y="103317"/>
                  <a:pt x="53885" y="100316"/>
                </a:cubicBezTo>
                <a:lnTo>
                  <a:pt x="71631" y="82569"/>
                </a:lnTo>
                <a:lnTo>
                  <a:pt x="53885" y="64823"/>
                </a:lnTo>
                <a:cubicBezTo>
                  <a:pt x="50852" y="61790"/>
                  <a:pt x="50852" y="56885"/>
                  <a:pt x="53885" y="53885"/>
                </a:cubicBez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2"/>
          <p:cNvSpPr/>
          <p:nvPr/>
        </p:nvSpPr>
        <p:spPr>
          <a:xfrm>
            <a:off x="7896165" y="3693120"/>
            <a:ext cx="1585951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❌ PIVOT / SHUTDOWN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896165" y="3891363"/>
            <a:ext cx="1577691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NPS &lt;20, retention &lt;40%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287528" y="4458011"/>
            <a:ext cx="4609171" cy="1792455"/>
          </a:xfrm>
          <a:custGeom>
            <a:avLst/>
            <a:gdLst/>
            <a:ahLst/>
            <a:cxnLst/>
            <a:rect l="l" t="t" r="r" b="b"/>
            <a:pathLst>
              <a:path w="4609171" h="1792455">
                <a:moveTo>
                  <a:pt x="132158" y="0"/>
                </a:moveTo>
                <a:lnTo>
                  <a:pt x="4477013" y="0"/>
                </a:lnTo>
                <a:cubicBezTo>
                  <a:pt x="4550002" y="0"/>
                  <a:pt x="4609171" y="59169"/>
                  <a:pt x="4609171" y="132158"/>
                </a:cubicBezTo>
                <a:lnTo>
                  <a:pt x="4609171" y="1660298"/>
                </a:lnTo>
                <a:cubicBezTo>
                  <a:pt x="4609171" y="1733286"/>
                  <a:pt x="4550002" y="1792455"/>
                  <a:pt x="4477013" y="1792455"/>
                </a:cubicBezTo>
                <a:lnTo>
                  <a:pt x="132158" y="1792455"/>
                </a:lnTo>
                <a:cubicBezTo>
                  <a:pt x="59169" y="1792455"/>
                  <a:pt x="0" y="1733286"/>
                  <a:pt x="0" y="1660298"/>
                </a:cubicBezTo>
                <a:lnTo>
                  <a:pt x="0" y="132158"/>
                </a:lnTo>
                <a:cubicBezTo>
                  <a:pt x="0" y="59169"/>
                  <a:pt x="59169" y="0"/>
                  <a:pt x="132158" y="0"/>
                </a:cubicBezTo>
                <a:close/>
              </a:path>
            </a:pathLst>
          </a:custGeom>
          <a:solidFill>
            <a:srgbClr val="0F172A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8" name="Shape 35"/>
          <p:cNvSpPr/>
          <p:nvPr/>
        </p:nvSpPr>
        <p:spPr>
          <a:xfrm>
            <a:off x="7465810" y="4763637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41301" y="30976"/>
                </a:moveTo>
                <a:lnTo>
                  <a:pt x="41301" y="25813"/>
                </a:lnTo>
                <a:cubicBezTo>
                  <a:pt x="41301" y="11551"/>
                  <a:pt x="69050" y="0"/>
                  <a:pt x="103252" y="0"/>
                </a:cubicBezTo>
                <a:cubicBezTo>
                  <a:pt x="137454" y="0"/>
                  <a:pt x="165203" y="11551"/>
                  <a:pt x="165203" y="25813"/>
                </a:cubicBezTo>
                <a:lnTo>
                  <a:pt x="165203" y="30976"/>
                </a:lnTo>
                <a:cubicBezTo>
                  <a:pt x="165203" y="40849"/>
                  <a:pt x="151877" y="49432"/>
                  <a:pt x="132292" y="53788"/>
                </a:cubicBezTo>
                <a:cubicBezTo>
                  <a:pt x="131517" y="52884"/>
                  <a:pt x="130711" y="52013"/>
                  <a:pt x="129904" y="51207"/>
                </a:cubicBezTo>
                <a:cubicBezTo>
                  <a:pt x="124903" y="46270"/>
                  <a:pt x="118449" y="42527"/>
                  <a:pt x="111706" y="39752"/>
                </a:cubicBezTo>
                <a:cubicBezTo>
                  <a:pt x="98186" y="34105"/>
                  <a:pt x="80569" y="31008"/>
                  <a:pt x="61951" y="31008"/>
                </a:cubicBezTo>
                <a:cubicBezTo>
                  <a:pt x="54885" y="31008"/>
                  <a:pt x="47980" y="31460"/>
                  <a:pt x="41365" y="32331"/>
                </a:cubicBezTo>
                <a:cubicBezTo>
                  <a:pt x="41301" y="31911"/>
                  <a:pt x="41301" y="31460"/>
                  <a:pt x="41301" y="31008"/>
                </a:cubicBezTo>
                <a:close/>
                <a:moveTo>
                  <a:pt x="139390" y="113900"/>
                </a:moveTo>
                <a:lnTo>
                  <a:pt x="139390" y="98993"/>
                </a:lnTo>
                <a:cubicBezTo>
                  <a:pt x="144262" y="97735"/>
                  <a:pt x="148844" y="96250"/>
                  <a:pt x="153007" y="94508"/>
                </a:cubicBezTo>
                <a:cubicBezTo>
                  <a:pt x="157266" y="92733"/>
                  <a:pt x="161428" y="90571"/>
                  <a:pt x="165203" y="87958"/>
                </a:cubicBezTo>
                <a:lnTo>
                  <a:pt x="165203" y="92927"/>
                </a:lnTo>
                <a:cubicBezTo>
                  <a:pt x="165203" y="101574"/>
                  <a:pt x="155039" y="109221"/>
                  <a:pt x="139390" y="113900"/>
                </a:cubicBezTo>
                <a:close/>
                <a:moveTo>
                  <a:pt x="139390" y="82924"/>
                </a:moveTo>
                <a:lnTo>
                  <a:pt x="139390" y="72276"/>
                </a:lnTo>
                <a:cubicBezTo>
                  <a:pt x="139390" y="70824"/>
                  <a:pt x="139261" y="69437"/>
                  <a:pt x="139068" y="68082"/>
                </a:cubicBezTo>
                <a:cubicBezTo>
                  <a:pt x="144069" y="66823"/>
                  <a:pt x="148747" y="65307"/>
                  <a:pt x="153007" y="63500"/>
                </a:cubicBezTo>
                <a:cubicBezTo>
                  <a:pt x="157266" y="61693"/>
                  <a:pt x="161428" y="59564"/>
                  <a:pt x="165203" y="56950"/>
                </a:cubicBezTo>
                <a:lnTo>
                  <a:pt x="165203" y="61919"/>
                </a:lnTo>
                <a:cubicBezTo>
                  <a:pt x="165203" y="70566"/>
                  <a:pt x="155039" y="78213"/>
                  <a:pt x="139390" y="82892"/>
                </a:cubicBezTo>
                <a:close/>
                <a:moveTo>
                  <a:pt x="0" y="77439"/>
                </a:moveTo>
                <a:lnTo>
                  <a:pt x="0" y="72276"/>
                </a:lnTo>
                <a:cubicBezTo>
                  <a:pt x="0" y="58015"/>
                  <a:pt x="27749" y="46463"/>
                  <a:pt x="61951" y="46463"/>
                </a:cubicBezTo>
                <a:cubicBezTo>
                  <a:pt x="96153" y="46463"/>
                  <a:pt x="123902" y="58015"/>
                  <a:pt x="123902" y="72276"/>
                </a:cubicBezTo>
                <a:lnTo>
                  <a:pt x="123902" y="77439"/>
                </a:lnTo>
                <a:cubicBezTo>
                  <a:pt x="123902" y="91701"/>
                  <a:pt x="96153" y="103252"/>
                  <a:pt x="61951" y="103252"/>
                </a:cubicBezTo>
                <a:cubicBezTo>
                  <a:pt x="27749" y="103252"/>
                  <a:pt x="0" y="91701"/>
                  <a:pt x="0" y="77439"/>
                </a:cubicBezTo>
                <a:close/>
                <a:moveTo>
                  <a:pt x="123902" y="108415"/>
                </a:moveTo>
                <a:cubicBezTo>
                  <a:pt x="123902" y="122676"/>
                  <a:pt x="96153" y="134228"/>
                  <a:pt x="61951" y="134228"/>
                </a:cubicBezTo>
                <a:cubicBezTo>
                  <a:pt x="27749" y="134228"/>
                  <a:pt x="0" y="122676"/>
                  <a:pt x="0" y="108415"/>
                </a:cubicBezTo>
                <a:lnTo>
                  <a:pt x="0" y="103446"/>
                </a:lnTo>
                <a:cubicBezTo>
                  <a:pt x="3743" y="106059"/>
                  <a:pt x="7905" y="108189"/>
                  <a:pt x="12197" y="109996"/>
                </a:cubicBezTo>
                <a:cubicBezTo>
                  <a:pt x="25716" y="115642"/>
                  <a:pt x="43334" y="118740"/>
                  <a:pt x="61951" y="118740"/>
                </a:cubicBezTo>
                <a:cubicBezTo>
                  <a:pt x="80569" y="118740"/>
                  <a:pt x="98186" y="115610"/>
                  <a:pt x="111706" y="109996"/>
                </a:cubicBezTo>
                <a:cubicBezTo>
                  <a:pt x="115965" y="108221"/>
                  <a:pt x="120127" y="106059"/>
                  <a:pt x="123902" y="103446"/>
                </a:cubicBezTo>
                <a:lnTo>
                  <a:pt x="123902" y="108415"/>
                </a:lnTo>
                <a:close/>
                <a:moveTo>
                  <a:pt x="123902" y="134421"/>
                </a:moveTo>
                <a:lnTo>
                  <a:pt x="123902" y="139390"/>
                </a:lnTo>
                <a:cubicBezTo>
                  <a:pt x="123902" y="153652"/>
                  <a:pt x="96153" y="165203"/>
                  <a:pt x="61951" y="165203"/>
                </a:cubicBezTo>
                <a:cubicBezTo>
                  <a:pt x="27749" y="165203"/>
                  <a:pt x="0" y="153652"/>
                  <a:pt x="0" y="139390"/>
                </a:cubicBezTo>
                <a:lnTo>
                  <a:pt x="0" y="134421"/>
                </a:lnTo>
                <a:cubicBezTo>
                  <a:pt x="3743" y="137035"/>
                  <a:pt x="7905" y="139164"/>
                  <a:pt x="12197" y="140971"/>
                </a:cubicBezTo>
                <a:cubicBezTo>
                  <a:pt x="25716" y="146618"/>
                  <a:pt x="43334" y="149715"/>
                  <a:pt x="61951" y="149715"/>
                </a:cubicBezTo>
                <a:cubicBezTo>
                  <a:pt x="80569" y="149715"/>
                  <a:pt x="98186" y="146586"/>
                  <a:pt x="111706" y="140971"/>
                </a:cubicBezTo>
                <a:cubicBezTo>
                  <a:pt x="115965" y="139197"/>
                  <a:pt x="120127" y="137035"/>
                  <a:pt x="123902" y="134421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6"/>
          <p:cNvSpPr/>
          <p:nvPr/>
        </p:nvSpPr>
        <p:spPr>
          <a:xfrm>
            <a:off x="7651664" y="4730597"/>
            <a:ext cx="4088780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Investment Required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0" name="Text 37"/>
          <p:cNvSpPr/>
          <p:nvPr/>
        </p:nvSpPr>
        <p:spPr>
          <a:xfrm>
            <a:off x="7445160" y="5110564"/>
            <a:ext cx="90035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Pilot (8 weeks)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1" name="Text 38"/>
          <p:cNvSpPr/>
          <p:nvPr/>
        </p:nvSpPr>
        <p:spPr>
          <a:xfrm>
            <a:off x="11251718" y="5094044"/>
            <a:ext cx="487350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$500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2" name="Text 39"/>
          <p:cNvSpPr/>
          <p:nvPr/>
        </p:nvSpPr>
        <p:spPr>
          <a:xfrm>
            <a:off x="7445160" y="5440971"/>
            <a:ext cx="768195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3-12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3" name="Text 40"/>
          <p:cNvSpPr/>
          <p:nvPr/>
        </p:nvSpPr>
        <p:spPr>
          <a:xfrm>
            <a:off x="11283382" y="5424450"/>
            <a:ext cx="462569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1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$45K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4" name="Shape 41"/>
          <p:cNvSpPr/>
          <p:nvPr/>
        </p:nvSpPr>
        <p:spPr>
          <a:xfrm>
            <a:off x="7445160" y="5758161"/>
            <a:ext cx="4212683" cy="6608"/>
          </a:xfrm>
          <a:custGeom>
            <a:avLst/>
            <a:gdLst/>
            <a:ahLst/>
            <a:cxnLst/>
            <a:rect l="l" t="t" r="r" b="b"/>
            <a:pathLst>
              <a:path w="4212683" h="6608">
                <a:moveTo>
                  <a:pt x="0" y="0"/>
                </a:moveTo>
                <a:lnTo>
                  <a:pt x="4212683" y="0"/>
                </a:lnTo>
                <a:lnTo>
                  <a:pt x="4212683" y="6608"/>
                </a:lnTo>
                <a:lnTo>
                  <a:pt x="0" y="6608"/>
                </a:lnTo>
                <a:lnTo>
                  <a:pt x="0" y="0"/>
                </a:lnTo>
                <a:close/>
              </a:path>
            </a:pathLst>
          </a:custGeom>
          <a:solidFill>
            <a:srgbClr val="64748B">
              <a:alpha val="3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Text 42"/>
          <p:cNvSpPr/>
          <p:nvPr/>
        </p:nvSpPr>
        <p:spPr>
          <a:xfrm>
            <a:off x="7445160" y="5893626"/>
            <a:ext cx="759935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Break-Even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6" name="Text 43"/>
          <p:cNvSpPr/>
          <p:nvPr/>
        </p:nvSpPr>
        <p:spPr>
          <a:xfrm>
            <a:off x="10847245" y="5860585"/>
            <a:ext cx="908618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13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7" name="Shape 44"/>
          <p:cNvSpPr/>
          <p:nvPr/>
        </p:nvSpPr>
        <p:spPr>
          <a:xfrm>
            <a:off x="3886131" y="6455317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99122" y="0"/>
                </a:moveTo>
                <a:lnTo>
                  <a:pt x="297366" y="0"/>
                </a:lnTo>
                <a:cubicBezTo>
                  <a:pt x="352073" y="0"/>
                  <a:pt x="396488" y="44415"/>
                  <a:pt x="396488" y="99122"/>
                </a:cubicBezTo>
                <a:lnTo>
                  <a:pt x="396488" y="297366"/>
                </a:lnTo>
                <a:cubicBezTo>
                  <a:pt x="396488" y="352109"/>
                  <a:pt x="352109" y="396488"/>
                  <a:pt x="297366" y="396488"/>
                </a:cubicBezTo>
                <a:lnTo>
                  <a:pt x="99122" y="396488"/>
                </a:lnTo>
                <a:cubicBezTo>
                  <a:pt x="44415" y="396488"/>
                  <a:pt x="0" y="352073"/>
                  <a:pt x="0" y="297366"/>
                </a:cubicBezTo>
                <a:lnTo>
                  <a:pt x="0" y="99122"/>
                </a:lnTo>
                <a:cubicBezTo>
                  <a:pt x="0" y="44415"/>
                  <a:pt x="44415" y="0"/>
                  <a:pt x="99122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8" name="Shape 45"/>
          <p:cNvSpPr/>
          <p:nvPr/>
        </p:nvSpPr>
        <p:spPr>
          <a:xfrm>
            <a:off x="4001774" y="6570959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82602" y="0"/>
                </a:moveTo>
                <a:cubicBezTo>
                  <a:pt x="84086" y="0"/>
                  <a:pt x="85570" y="323"/>
                  <a:pt x="86925" y="936"/>
                </a:cubicBezTo>
                <a:lnTo>
                  <a:pt x="147715" y="26716"/>
                </a:lnTo>
                <a:cubicBezTo>
                  <a:pt x="154814" y="29717"/>
                  <a:pt x="160105" y="36719"/>
                  <a:pt x="160073" y="45173"/>
                </a:cubicBezTo>
                <a:cubicBezTo>
                  <a:pt x="159912" y="77181"/>
                  <a:pt x="146747" y="135744"/>
                  <a:pt x="91152" y="162364"/>
                </a:cubicBezTo>
                <a:cubicBezTo>
                  <a:pt x="85764" y="164945"/>
                  <a:pt x="79504" y="164945"/>
                  <a:pt x="74116" y="162364"/>
                </a:cubicBezTo>
                <a:cubicBezTo>
                  <a:pt x="18489" y="135744"/>
                  <a:pt x="5356" y="77181"/>
                  <a:pt x="5195" y="45173"/>
                </a:cubicBezTo>
                <a:cubicBezTo>
                  <a:pt x="5163" y="36719"/>
                  <a:pt x="10454" y="29717"/>
                  <a:pt x="17553" y="26716"/>
                </a:cubicBezTo>
                <a:lnTo>
                  <a:pt x="78310" y="936"/>
                </a:lnTo>
                <a:cubicBezTo>
                  <a:pt x="79665" y="323"/>
                  <a:pt x="81117" y="0"/>
                  <a:pt x="82602" y="0"/>
                </a:cubicBezTo>
                <a:close/>
                <a:moveTo>
                  <a:pt x="82602" y="21554"/>
                </a:moveTo>
                <a:lnTo>
                  <a:pt x="82602" y="143553"/>
                </a:lnTo>
                <a:cubicBezTo>
                  <a:pt x="127129" y="121999"/>
                  <a:pt x="139100" y="74245"/>
                  <a:pt x="139390" y="45657"/>
                </a:cubicBezTo>
                <a:lnTo>
                  <a:pt x="82602" y="21586"/>
                </a:lnTo>
                <a:lnTo>
                  <a:pt x="82602" y="21586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9" name="Text 46"/>
          <p:cNvSpPr/>
          <p:nvPr/>
        </p:nvSpPr>
        <p:spPr>
          <a:xfrm>
            <a:off x="4381741" y="6471837"/>
            <a:ext cx="776455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EU AI Act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4381741" y="6670081"/>
            <a:ext cx="768195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LIMITED-RISK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5355476" y="6455317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99122" y="0"/>
                </a:moveTo>
                <a:lnTo>
                  <a:pt x="297366" y="0"/>
                </a:lnTo>
                <a:cubicBezTo>
                  <a:pt x="352073" y="0"/>
                  <a:pt x="396488" y="44415"/>
                  <a:pt x="396488" y="99122"/>
                </a:cubicBezTo>
                <a:lnTo>
                  <a:pt x="396488" y="297366"/>
                </a:lnTo>
                <a:cubicBezTo>
                  <a:pt x="396488" y="352109"/>
                  <a:pt x="352109" y="396488"/>
                  <a:pt x="297366" y="396488"/>
                </a:cubicBezTo>
                <a:lnTo>
                  <a:pt x="99122" y="396488"/>
                </a:lnTo>
                <a:cubicBezTo>
                  <a:pt x="44415" y="396488"/>
                  <a:pt x="0" y="352073"/>
                  <a:pt x="0" y="297366"/>
                </a:cubicBezTo>
                <a:lnTo>
                  <a:pt x="0" y="99122"/>
                </a:lnTo>
                <a:cubicBezTo>
                  <a:pt x="0" y="44415"/>
                  <a:pt x="44415" y="0"/>
                  <a:pt x="99122" y="0"/>
                </a:cubicBezTo>
                <a:close/>
              </a:path>
            </a:pathLst>
          </a:custGeom>
          <a:solidFill>
            <a:srgbClr val="2563EB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2" name="Shape 49"/>
          <p:cNvSpPr/>
          <p:nvPr/>
        </p:nvSpPr>
        <p:spPr>
          <a:xfrm>
            <a:off x="5491769" y="6570959"/>
            <a:ext cx="123902" cy="165203"/>
          </a:xfrm>
          <a:custGeom>
            <a:avLst/>
            <a:gdLst/>
            <a:ahLst/>
            <a:cxnLst/>
            <a:rect l="l" t="t" r="r" b="b"/>
            <a:pathLst>
              <a:path w="123902" h="165203">
                <a:moveTo>
                  <a:pt x="41301" y="30976"/>
                </a:moveTo>
                <a:lnTo>
                  <a:pt x="41301" y="51626"/>
                </a:lnTo>
                <a:lnTo>
                  <a:pt x="82602" y="51626"/>
                </a:lnTo>
                <a:lnTo>
                  <a:pt x="82602" y="30976"/>
                </a:lnTo>
                <a:cubicBezTo>
                  <a:pt x="82602" y="19586"/>
                  <a:pt x="73341" y="10325"/>
                  <a:pt x="61951" y="10325"/>
                </a:cubicBezTo>
                <a:cubicBezTo>
                  <a:pt x="50561" y="10325"/>
                  <a:pt x="41301" y="19586"/>
                  <a:pt x="41301" y="30976"/>
                </a:cubicBezTo>
                <a:close/>
                <a:moveTo>
                  <a:pt x="20650" y="51626"/>
                </a:moveTo>
                <a:lnTo>
                  <a:pt x="20650" y="30976"/>
                </a:lnTo>
                <a:cubicBezTo>
                  <a:pt x="20650" y="8163"/>
                  <a:pt x="39139" y="-10325"/>
                  <a:pt x="61951" y="-10325"/>
                </a:cubicBezTo>
                <a:cubicBezTo>
                  <a:pt x="84763" y="-10325"/>
                  <a:pt x="103252" y="8163"/>
                  <a:pt x="103252" y="30976"/>
                </a:cubicBezTo>
                <a:lnTo>
                  <a:pt x="103252" y="51626"/>
                </a:lnTo>
                <a:cubicBezTo>
                  <a:pt x="114642" y="51626"/>
                  <a:pt x="123902" y="60886"/>
                  <a:pt x="123902" y="72276"/>
                </a:cubicBezTo>
                <a:lnTo>
                  <a:pt x="123902" y="144553"/>
                </a:lnTo>
                <a:cubicBezTo>
                  <a:pt x="123902" y="155943"/>
                  <a:pt x="114642" y="165203"/>
                  <a:pt x="103252" y="165203"/>
                </a:cubicBezTo>
                <a:lnTo>
                  <a:pt x="20650" y="165203"/>
                </a:lnTo>
                <a:cubicBezTo>
                  <a:pt x="9260" y="165203"/>
                  <a:pt x="0" y="155943"/>
                  <a:pt x="0" y="144553"/>
                </a:cubicBezTo>
                <a:lnTo>
                  <a:pt x="0" y="72276"/>
                </a:lnTo>
                <a:cubicBezTo>
                  <a:pt x="0" y="60886"/>
                  <a:pt x="9260" y="51626"/>
                  <a:pt x="20650" y="51626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3" name="Text 50"/>
          <p:cNvSpPr/>
          <p:nvPr/>
        </p:nvSpPr>
        <p:spPr>
          <a:xfrm>
            <a:off x="5851086" y="6471837"/>
            <a:ext cx="95817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GDPR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5851086" y="6670081"/>
            <a:ext cx="949919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Pre-launch Ready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7006683" y="6455317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99122" y="0"/>
                </a:moveTo>
                <a:lnTo>
                  <a:pt x="297366" y="0"/>
                </a:lnTo>
                <a:cubicBezTo>
                  <a:pt x="352073" y="0"/>
                  <a:pt x="396488" y="44415"/>
                  <a:pt x="396488" y="99122"/>
                </a:cubicBezTo>
                <a:lnTo>
                  <a:pt x="396488" y="297366"/>
                </a:lnTo>
                <a:cubicBezTo>
                  <a:pt x="396488" y="352109"/>
                  <a:pt x="352109" y="396488"/>
                  <a:pt x="297366" y="396488"/>
                </a:cubicBezTo>
                <a:lnTo>
                  <a:pt x="99122" y="396488"/>
                </a:lnTo>
                <a:cubicBezTo>
                  <a:pt x="44415" y="396488"/>
                  <a:pt x="0" y="352073"/>
                  <a:pt x="0" y="297366"/>
                </a:cubicBezTo>
                <a:lnTo>
                  <a:pt x="0" y="99122"/>
                </a:lnTo>
                <a:cubicBezTo>
                  <a:pt x="0" y="44415"/>
                  <a:pt x="44415" y="0"/>
                  <a:pt x="99122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6" name="Shape 53"/>
          <p:cNvSpPr/>
          <p:nvPr/>
        </p:nvSpPr>
        <p:spPr>
          <a:xfrm>
            <a:off x="7122325" y="6570959"/>
            <a:ext cx="165203" cy="165203"/>
          </a:xfrm>
          <a:custGeom>
            <a:avLst/>
            <a:gdLst/>
            <a:ahLst/>
            <a:cxnLst/>
            <a:rect l="l" t="t" r="r" b="b"/>
            <a:pathLst>
              <a:path w="165203" h="165203">
                <a:moveTo>
                  <a:pt x="20650" y="20650"/>
                </a:moveTo>
                <a:cubicBezTo>
                  <a:pt x="20650" y="14939"/>
                  <a:pt x="16036" y="10325"/>
                  <a:pt x="10325" y="10325"/>
                </a:cubicBezTo>
                <a:cubicBezTo>
                  <a:pt x="4614" y="10325"/>
                  <a:pt x="0" y="14939"/>
                  <a:pt x="0" y="20650"/>
                </a:cubicBezTo>
                <a:lnTo>
                  <a:pt x="0" y="129065"/>
                </a:lnTo>
                <a:cubicBezTo>
                  <a:pt x="0" y="143327"/>
                  <a:pt x="11551" y="154878"/>
                  <a:pt x="25813" y="154878"/>
                </a:cubicBezTo>
                <a:lnTo>
                  <a:pt x="154878" y="154878"/>
                </a:lnTo>
                <a:cubicBezTo>
                  <a:pt x="160589" y="154878"/>
                  <a:pt x="165203" y="150264"/>
                  <a:pt x="165203" y="144553"/>
                </a:cubicBezTo>
                <a:cubicBezTo>
                  <a:pt x="165203" y="138842"/>
                  <a:pt x="160589" y="134228"/>
                  <a:pt x="154878" y="134228"/>
                </a:cubicBezTo>
                <a:lnTo>
                  <a:pt x="25813" y="134228"/>
                </a:lnTo>
                <a:cubicBezTo>
                  <a:pt x="22974" y="134228"/>
                  <a:pt x="20650" y="131904"/>
                  <a:pt x="20650" y="129065"/>
                </a:cubicBezTo>
                <a:lnTo>
                  <a:pt x="20650" y="20650"/>
                </a:lnTo>
                <a:close/>
                <a:moveTo>
                  <a:pt x="151845" y="48593"/>
                </a:moveTo>
                <a:cubicBezTo>
                  <a:pt x="155878" y="44560"/>
                  <a:pt x="155878" y="38010"/>
                  <a:pt x="151845" y="33976"/>
                </a:cubicBezTo>
                <a:cubicBezTo>
                  <a:pt x="147812" y="29943"/>
                  <a:pt x="141262" y="29943"/>
                  <a:pt x="137228" y="33976"/>
                </a:cubicBezTo>
                <a:lnTo>
                  <a:pt x="103252" y="67985"/>
                </a:lnTo>
                <a:lnTo>
                  <a:pt x="84731" y="49496"/>
                </a:lnTo>
                <a:cubicBezTo>
                  <a:pt x="80698" y="45463"/>
                  <a:pt x="74148" y="45463"/>
                  <a:pt x="70115" y="49496"/>
                </a:cubicBezTo>
                <a:lnTo>
                  <a:pt x="39139" y="80472"/>
                </a:lnTo>
                <a:cubicBezTo>
                  <a:pt x="35106" y="84505"/>
                  <a:pt x="35106" y="91055"/>
                  <a:pt x="39139" y="95089"/>
                </a:cubicBezTo>
                <a:cubicBezTo>
                  <a:pt x="43172" y="99122"/>
                  <a:pt x="49722" y="99122"/>
                  <a:pt x="53756" y="95089"/>
                </a:cubicBezTo>
                <a:lnTo>
                  <a:pt x="77439" y="71405"/>
                </a:lnTo>
                <a:lnTo>
                  <a:pt x="95960" y="89926"/>
                </a:lnTo>
                <a:cubicBezTo>
                  <a:pt x="99993" y="93959"/>
                  <a:pt x="106543" y="93959"/>
                  <a:pt x="110576" y="89926"/>
                </a:cubicBezTo>
                <a:lnTo>
                  <a:pt x="151877" y="48625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7" name="Text 54"/>
          <p:cNvSpPr/>
          <p:nvPr/>
        </p:nvSpPr>
        <p:spPr>
          <a:xfrm>
            <a:off x="7502293" y="6471837"/>
            <a:ext cx="867317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7502293" y="6670081"/>
            <a:ext cx="859057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+67.9% at 36mo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1016</Words>
  <Application>Microsoft Office PowerPoint</Application>
  <PresentationFormat>Широкоэкранный</PresentationFormat>
  <Paragraphs>284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Liter</vt:lpstr>
      <vt:lpstr>微软雅黑</vt:lpstr>
      <vt:lpstr>Quattrocento Sans</vt:lpstr>
      <vt:lpstr>Arial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Storytelling Platform</dc:title>
  <dc:subject>AI Storytelling Platform</dc:subject>
  <dc:creator>Kimi</dc:creator>
  <cp:lastModifiedBy>Ff961</cp:lastModifiedBy>
  <cp:revision>4</cp:revision>
  <dcterms:created xsi:type="dcterms:W3CDTF">2026-04-03T09:52:07Z</dcterms:created>
  <dcterms:modified xsi:type="dcterms:W3CDTF">2026-04-03T12:52:30Z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Storytelling Platform","ContentProducer":"001191110108MACG2KBH8F10000","ProduceID":"19d52c13-4242-80f9-8000-0000c92d678c","ReservedCode1":"","ContentPropagator":"001191110108MACG2KBH8F20000","PropagateID":"19d52c13-4242-80f9-8000-0000c92d678c","ReservedCode2":""}</vt:lpwstr>
  </property>
</Properties>
</file>